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51" d="100"/>
          <a:sy n="51" d="100"/>
        </p:scale>
        <p:origin x="254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7103109" cy="3256915"/>
          </a:xfrm>
          <a:custGeom>
            <a:avLst/>
            <a:gdLst/>
            <a:ahLst/>
            <a:cxnLst/>
            <a:rect l="l" t="t" r="r" b="b"/>
            <a:pathLst>
              <a:path w="7103109" h="3256915">
                <a:moveTo>
                  <a:pt x="0" y="3256851"/>
                </a:moveTo>
                <a:lnTo>
                  <a:pt x="7102792" y="3256851"/>
                </a:lnTo>
                <a:lnTo>
                  <a:pt x="7102792" y="0"/>
                </a:lnTo>
                <a:lnTo>
                  <a:pt x="0" y="0"/>
                </a:lnTo>
                <a:lnTo>
                  <a:pt x="0" y="3256851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10459022"/>
            <a:ext cx="7560309" cy="233045"/>
          </a:xfrm>
          <a:custGeom>
            <a:avLst/>
            <a:gdLst/>
            <a:ahLst/>
            <a:cxnLst/>
            <a:rect l="l" t="t" r="r" b="b"/>
            <a:pathLst>
              <a:path w="7560309" h="233045">
                <a:moveTo>
                  <a:pt x="7559992" y="0"/>
                </a:moveTo>
                <a:lnTo>
                  <a:pt x="0" y="0"/>
                </a:lnTo>
                <a:lnTo>
                  <a:pt x="0" y="232981"/>
                </a:lnTo>
                <a:lnTo>
                  <a:pt x="7559992" y="232981"/>
                </a:lnTo>
                <a:lnTo>
                  <a:pt x="7559992" y="0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602479" y="3256851"/>
            <a:ext cx="2500630" cy="3338829"/>
          </a:xfrm>
          <a:custGeom>
            <a:avLst/>
            <a:gdLst/>
            <a:ahLst/>
            <a:cxnLst/>
            <a:rect l="l" t="t" r="r" b="b"/>
            <a:pathLst>
              <a:path w="2500629" h="3338829">
                <a:moveTo>
                  <a:pt x="2500325" y="0"/>
                </a:moveTo>
                <a:lnTo>
                  <a:pt x="0" y="0"/>
                </a:lnTo>
                <a:lnTo>
                  <a:pt x="0" y="3338829"/>
                </a:lnTo>
                <a:lnTo>
                  <a:pt x="2500325" y="3338829"/>
                </a:lnTo>
                <a:lnTo>
                  <a:pt x="2500325" y="0"/>
                </a:lnTo>
                <a:close/>
              </a:path>
            </a:pathLst>
          </a:custGeom>
          <a:solidFill>
            <a:srgbClr val="FDED1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57200" y="1779841"/>
            <a:ext cx="4145279" cy="1477010"/>
          </a:xfrm>
          <a:custGeom>
            <a:avLst/>
            <a:gdLst/>
            <a:ahLst/>
            <a:cxnLst/>
            <a:rect l="l" t="t" r="r" b="b"/>
            <a:pathLst>
              <a:path w="4145279" h="1477010">
                <a:moveTo>
                  <a:pt x="4145279" y="0"/>
                </a:moveTo>
                <a:lnTo>
                  <a:pt x="0" y="0"/>
                </a:lnTo>
                <a:lnTo>
                  <a:pt x="0" y="1477009"/>
                </a:lnTo>
                <a:lnTo>
                  <a:pt x="4145279" y="1477009"/>
                </a:lnTo>
                <a:lnTo>
                  <a:pt x="4145279" y="0"/>
                </a:lnTo>
                <a:close/>
              </a:path>
            </a:pathLst>
          </a:custGeom>
          <a:solidFill>
            <a:srgbClr val="EB48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davidmoreau@gmail.com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8355872"/>
            <a:ext cx="1875789" cy="740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i="1" spc="65" dirty="0">
                <a:solidFill>
                  <a:srgbClr val="231F20"/>
                </a:solidFill>
                <a:latin typeface="Oswald"/>
                <a:cs typeface="Oswald"/>
              </a:rPr>
              <a:t>LANGUAGES</a:t>
            </a:r>
            <a:endParaRPr sz="1400">
              <a:latin typeface="Oswald"/>
              <a:cs typeface="Oswald"/>
            </a:endParaRPr>
          </a:p>
          <a:p>
            <a:pPr marL="12700" marR="5080">
              <a:lnSpc>
                <a:spcPct val="150000"/>
              </a:lnSpc>
              <a:spcBef>
                <a:spcPts val="345"/>
              </a:spcBef>
            </a:pP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English: fluent (TOEIC: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900/990) </a:t>
            </a:r>
            <a:r>
              <a:rPr sz="1000" spc="-2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Spanish:</a:t>
            </a:r>
            <a:r>
              <a:rPr sz="1000" spc="-1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professional</a:t>
            </a:r>
            <a:r>
              <a:rPr sz="1000" spc="-5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proficiency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0120" y="6972809"/>
            <a:ext cx="2207895" cy="2880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i="1" spc="60" dirty="0">
                <a:solidFill>
                  <a:srgbClr val="231F20"/>
                </a:solidFill>
                <a:latin typeface="Oswald"/>
                <a:cs typeface="Oswald"/>
              </a:rPr>
              <a:t>EDUCATION</a:t>
            </a:r>
            <a:endParaRPr sz="1400">
              <a:latin typeface="Oswald"/>
              <a:cs typeface="Oswald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000" b="1" dirty="0">
                <a:solidFill>
                  <a:srgbClr val="EB484B"/>
                </a:solidFill>
                <a:latin typeface="Raleway-SemiBold"/>
                <a:cs typeface="Raleway-SemiBold"/>
              </a:rPr>
              <a:t>XXXX</a:t>
            </a:r>
            <a:r>
              <a:rPr sz="1000" b="1" spc="-30" dirty="0">
                <a:solidFill>
                  <a:srgbClr val="EB484B"/>
                </a:solidFill>
                <a:latin typeface="Raleway-SemiBold"/>
                <a:cs typeface="Raleway-SemiBold"/>
              </a:rPr>
              <a:t> </a:t>
            </a:r>
            <a:r>
              <a:rPr sz="1000" b="1" spc="-5" dirty="0">
                <a:solidFill>
                  <a:srgbClr val="EB484B"/>
                </a:solidFill>
                <a:latin typeface="Raleway-SemiBold"/>
                <a:cs typeface="Raleway-SemiBold"/>
              </a:rPr>
              <a:t>BUSINESS</a:t>
            </a:r>
            <a:r>
              <a:rPr sz="1000" b="1" spc="-15" dirty="0">
                <a:solidFill>
                  <a:srgbClr val="EB484B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EB484B"/>
                </a:solidFill>
                <a:latin typeface="Raleway-SemiBold"/>
                <a:cs typeface="Raleway-SemiBold"/>
              </a:rPr>
              <a:t>SCHOOL</a:t>
            </a:r>
            <a:endParaRPr sz="1000">
              <a:latin typeface="Raleway-SemiBold"/>
              <a:cs typeface="Raleway-SemiBold"/>
            </a:endParaRPr>
          </a:p>
          <a:p>
            <a:pPr marL="12700">
              <a:lnSpc>
                <a:spcPct val="100000"/>
              </a:lnSpc>
            </a:pPr>
            <a:r>
              <a:rPr sz="1000" b="1" spc="-5" dirty="0">
                <a:solidFill>
                  <a:srgbClr val="231F20"/>
                </a:solidFill>
                <a:latin typeface="Raleway-SemiBold"/>
                <a:cs typeface="Raleway-SemiBold"/>
              </a:rPr>
              <a:t>Paris</a:t>
            </a:r>
            <a:r>
              <a:rPr sz="1000" b="1" spc="-20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231F20"/>
                </a:solidFill>
                <a:latin typeface="Raleway-SemiBold"/>
                <a:cs typeface="Raleway-SemiBold"/>
              </a:rPr>
              <a:t>Campus</a:t>
            </a:r>
            <a:endParaRPr sz="1000">
              <a:latin typeface="Raleway-SemiBold"/>
              <a:cs typeface="Raleway-SemiBold"/>
            </a:endParaRPr>
          </a:p>
          <a:p>
            <a:pPr marL="12700" marR="113030">
              <a:lnSpc>
                <a:spcPct val="100000"/>
              </a:lnSpc>
            </a:pP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MsC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Strategic </a:t>
            </a:r>
            <a:r>
              <a:rPr sz="1000" spc="-15" dirty="0">
                <a:solidFill>
                  <a:srgbClr val="231F20"/>
                </a:solidFill>
                <a:latin typeface="Raleway-ExtraLight"/>
                <a:cs typeface="Raleway-ExtraLight"/>
              </a:rPr>
              <a:t>Event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management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&amp; </a:t>
            </a:r>
            <a:r>
              <a:rPr sz="1000" spc="-2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20" dirty="0">
                <a:solidFill>
                  <a:srgbClr val="231F20"/>
                </a:solidFill>
                <a:latin typeface="Raleway-ExtraLight"/>
                <a:cs typeface="Raleway-ExtraLight"/>
              </a:rPr>
              <a:t>Tourism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Management</a:t>
            </a:r>
            <a:endParaRPr sz="1000">
              <a:latin typeface="Raleway-ExtraLight"/>
              <a:cs typeface="Raleway-ExtraLight"/>
            </a:endParaRPr>
          </a:p>
          <a:p>
            <a:pPr marL="12700">
              <a:lnSpc>
                <a:spcPts val="919"/>
              </a:lnSpc>
            </a:pPr>
            <a:r>
              <a:rPr sz="800" b="1" spc="-5" dirty="0">
                <a:solidFill>
                  <a:srgbClr val="EB484B"/>
                </a:solidFill>
                <a:latin typeface="Raleway-SemiBold"/>
                <a:cs typeface="Raleway-SemiBold"/>
              </a:rPr>
              <a:t>2016-2019</a:t>
            </a:r>
            <a:endParaRPr sz="800">
              <a:latin typeface="Raleway-SemiBold"/>
              <a:cs typeface="Raleway-SemiBold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1000" b="1" dirty="0">
                <a:solidFill>
                  <a:srgbClr val="EB484B"/>
                </a:solidFill>
                <a:latin typeface="Raleway-SemiBold"/>
                <a:cs typeface="Raleway-SemiBold"/>
              </a:rPr>
              <a:t>XXXX</a:t>
            </a:r>
            <a:r>
              <a:rPr sz="1000" b="1" spc="-30" dirty="0">
                <a:solidFill>
                  <a:srgbClr val="EB484B"/>
                </a:solidFill>
                <a:latin typeface="Raleway-SemiBold"/>
                <a:cs typeface="Raleway-SemiBold"/>
              </a:rPr>
              <a:t> </a:t>
            </a:r>
            <a:r>
              <a:rPr sz="1000" b="1" spc="-5" dirty="0">
                <a:solidFill>
                  <a:srgbClr val="EB484B"/>
                </a:solidFill>
                <a:latin typeface="Raleway-SemiBold"/>
                <a:cs typeface="Raleway-SemiBold"/>
              </a:rPr>
              <a:t>BUSINESS</a:t>
            </a:r>
            <a:r>
              <a:rPr sz="1000" b="1" spc="-15" dirty="0">
                <a:solidFill>
                  <a:srgbClr val="EB484B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EB484B"/>
                </a:solidFill>
                <a:latin typeface="Raleway-SemiBold"/>
                <a:cs typeface="Raleway-SemiBold"/>
              </a:rPr>
              <a:t>SCHOOL</a:t>
            </a:r>
            <a:endParaRPr sz="1000">
              <a:latin typeface="Raleway-SemiBold"/>
              <a:cs typeface="Raleway-SemiBold"/>
            </a:endParaRPr>
          </a:p>
          <a:p>
            <a:pPr marL="12700">
              <a:lnSpc>
                <a:spcPct val="100000"/>
              </a:lnSpc>
            </a:pPr>
            <a:r>
              <a:rPr sz="1000" b="1" spc="-5" dirty="0">
                <a:solidFill>
                  <a:srgbClr val="231F20"/>
                </a:solidFill>
                <a:latin typeface="Raleway-SemiBold"/>
                <a:cs typeface="Raleway-SemiBold"/>
              </a:rPr>
              <a:t>Paris</a:t>
            </a:r>
            <a:r>
              <a:rPr sz="1000" b="1" spc="-20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231F20"/>
                </a:solidFill>
                <a:latin typeface="Raleway-SemiBold"/>
                <a:cs typeface="Raleway-SemiBold"/>
              </a:rPr>
              <a:t>Campus</a:t>
            </a:r>
            <a:endParaRPr sz="1000">
              <a:latin typeface="Raleway-SemiBold"/>
              <a:cs typeface="Raleway-SemiBold"/>
            </a:endParaRPr>
          </a:p>
          <a:p>
            <a:pPr marL="12700" marR="387985">
              <a:lnSpc>
                <a:spcPct val="100000"/>
              </a:lnSpc>
            </a:pP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1st</a:t>
            </a:r>
            <a:r>
              <a:rPr sz="1000" spc="-5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25" dirty="0">
                <a:solidFill>
                  <a:srgbClr val="231F20"/>
                </a:solidFill>
                <a:latin typeface="Raleway-ExtraLight"/>
                <a:cs typeface="Raleway-ExtraLight"/>
              </a:rPr>
              <a:t>Year</a:t>
            </a:r>
            <a:r>
              <a:rPr sz="1000" spc="-3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Master’s</a:t>
            </a:r>
            <a:r>
              <a:rPr sz="1000" spc="-1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in</a:t>
            </a:r>
            <a:r>
              <a:rPr sz="1000" spc="-1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International </a:t>
            </a:r>
            <a:r>
              <a:rPr sz="1000" spc="-2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Management</a:t>
            </a:r>
            <a:endParaRPr sz="1000">
              <a:latin typeface="Raleway-ExtraLight"/>
              <a:cs typeface="Raleway-ExtraLight"/>
            </a:endParaRPr>
          </a:p>
          <a:p>
            <a:pPr marL="12700">
              <a:lnSpc>
                <a:spcPts val="919"/>
              </a:lnSpc>
            </a:pPr>
            <a:r>
              <a:rPr sz="800" b="1" spc="-5" dirty="0">
                <a:solidFill>
                  <a:srgbClr val="EB484B"/>
                </a:solidFill>
                <a:latin typeface="Raleway-SemiBold"/>
                <a:cs typeface="Raleway-SemiBold"/>
              </a:rPr>
              <a:t>2016-2019</a:t>
            </a:r>
            <a:endParaRPr sz="800">
              <a:latin typeface="Raleway-SemiBold"/>
              <a:cs typeface="Raleway-SemiBold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000" b="1" dirty="0">
                <a:solidFill>
                  <a:srgbClr val="EB484B"/>
                </a:solidFill>
                <a:latin typeface="Raleway-SemiBold"/>
                <a:cs typeface="Raleway-SemiBold"/>
              </a:rPr>
              <a:t>PRE</a:t>
            </a:r>
            <a:r>
              <a:rPr sz="1000" b="1" spc="-45" dirty="0">
                <a:solidFill>
                  <a:srgbClr val="EB484B"/>
                </a:solidFill>
                <a:latin typeface="Raleway-SemiBold"/>
                <a:cs typeface="Raleway-SemiBold"/>
              </a:rPr>
              <a:t>P</a:t>
            </a:r>
            <a:r>
              <a:rPr sz="1000" b="1" dirty="0">
                <a:solidFill>
                  <a:srgbClr val="EB484B"/>
                </a:solidFill>
                <a:latin typeface="Raleway-SemiBold"/>
                <a:cs typeface="Raleway-SemiBold"/>
              </a:rPr>
              <a:t>A</a:t>
            </a:r>
            <a:r>
              <a:rPr sz="1000" b="1" spc="-15" dirty="0">
                <a:solidFill>
                  <a:srgbClr val="EB484B"/>
                </a:solidFill>
                <a:latin typeface="Raleway-SemiBold"/>
                <a:cs typeface="Raleway-SemiBold"/>
              </a:rPr>
              <a:t>R</a:t>
            </a:r>
            <a:r>
              <a:rPr sz="1000" b="1" spc="-70" dirty="0">
                <a:solidFill>
                  <a:srgbClr val="EB484B"/>
                </a:solidFill>
                <a:latin typeface="Raleway-SemiBold"/>
                <a:cs typeface="Raleway-SemiBold"/>
              </a:rPr>
              <a:t>A</a:t>
            </a:r>
            <a:r>
              <a:rPr sz="1000" b="1" spc="-35" dirty="0">
                <a:solidFill>
                  <a:srgbClr val="EB484B"/>
                </a:solidFill>
                <a:latin typeface="Raleway-SemiBold"/>
                <a:cs typeface="Raleway-SemiBold"/>
              </a:rPr>
              <a:t>T</a:t>
            </a:r>
            <a:r>
              <a:rPr sz="1000" b="1" dirty="0">
                <a:solidFill>
                  <a:srgbClr val="EB484B"/>
                </a:solidFill>
                <a:latin typeface="Raleway-SemiBold"/>
                <a:cs typeface="Raleway-SemiBold"/>
              </a:rPr>
              <a:t>O</a:t>
            </a:r>
            <a:r>
              <a:rPr sz="1000" b="1" spc="-25" dirty="0">
                <a:solidFill>
                  <a:srgbClr val="EB484B"/>
                </a:solidFill>
                <a:latin typeface="Raleway-SemiBold"/>
                <a:cs typeface="Raleway-SemiBold"/>
              </a:rPr>
              <a:t>R</a:t>
            </a:r>
            <a:r>
              <a:rPr sz="1000" b="1" dirty="0">
                <a:solidFill>
                  <a:srgbClr val="EB484B"/>
                </a:solidFill>
                <a:latin typeface="Raleway-SemiBold"/>
                <a:cs typeface="Raleway-SemiBold"/>
              </a:rPr>
              <a:t>Y</a:t>
            </a:r>
            <a:r>
              <a:rPr sz="1000" b="1" spc="-35" dirty="0">
                <a:solidFill>
                  <a:srgbClr val="EB484B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EB484B"/>
                </a:solidFill>
                <a:latin typeface="Raleway-SemiBold"/>
                <a:cs typeface="Raleway-SemiBold"/>
              </a:rPr>
              <a:t>CL</a:t>
            </a:r>
            <a:r>
              <a:rPr sz="1000" b="1" spc="-15" dirty="0">
                <a:solidFill>
                  <a:srgbClr val="EB484B"/>
                </a:solidFill>
                <a:latin typeface="Raleway-SemiBold"/>
                <a:cs typeface="Raleway-SemiBold"/>
              </a:rPr>
              <a:t>A</a:t>
            </a:r>
            <a:r>
              <a:rPr sz="1000" b="1" dirty="0">
                <a:solidFill>
                  <a:srgbClr val="EB484B"/>
                </a:solidFill>
                <a:latin typeface="Raleway-SemiBold"/>
                <a:cs typeface="Raleway-SemiBold"/>
              </a:rPr>
              <a:t>SS</a:t>
            </a:r>
            <a:r>
              <a:rPr sz="1000" b="1" spc="-20" dirty="0">
                <a:solidFill>
                  <a:srgbClr val="EB484B"/>
                </a:solidFill>
                <a:latin typeface="Raleway-SemiBold"/>
                <a:cs typeface="Raleway-SemiBold"/>
              </a:rPr>
              <a:t>E</a:t>
            </a:r>
            <a:r>
              <a:rPr sz="1000" b="1" dirty="0">
                <a:solidFill>
                  <a:srgbClr val="EB484B"/>
                </a:solidFill>
                <a:latin typeface="Raleway-SemiBold"/>
                <a:cs typeface="Raleway-SemiBold"/>
              </a:rPr>
              <a:t>S</a:t>
            </a:r>
            <a:endParaRPr sz="1000">
              <a:latin typeface="Raleway-SemiBold"/>
              <a:cs typeface="Raleway-SemiBold"/>
            </a:endParaRPr>
          </a:p>
          <a:p>
            <a:pPr marL="12700" marR="5080">
              <a:lnSpc>
                <a:spcPct val="100000"/>
              </a:lnSpc>
            </a:pPr>
            <a:r>
              <a:rPr sz="1000" spc="-20" dirty="0">
                <a:solidFill>
                  <a:srgbClr val="231F20"/>
                </a:solidFill>
                <a:latin typeface="Raleway-ExtraLight"/>
                <a:cs typeface="Raleway-ExtraLight"/>
              </a:rPr>
              <a:t>Two-year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intensive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program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preparing </a:t>
            </a:r>
            <a:r>
              <a:rPr sz="1000" spc="-2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for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the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national competitive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exam for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entry</a:t>
            </a:r>
            <a:r>
              <a:rPr sz="1000" spc="-3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to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prostigious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schools</a:t>
            </a:r>
            <a:endParaRPr sz="1000">
              <a:latin typeface="Raleway-ExtraLight"/>
              <a:cs typeface="Raleway-ExtraLight"/>
            </a:endParaRPr>
          </a:p>
          <a:p>
            <a:pPr marL="12700">
              <a:lnSpc>
                <a:spcPts val="1180"/>
              </a:lnSpc>
            </a:pP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Dijon,</a:t>
            </a:r>
            <a:r>
              <a:rPr sz="1000" spc="-2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ECS</a:t>
            </a:r>
            <a:endParaRPr sz="1000">
              <a:latin typeface="Raleway-ExtraLight"/>
              <a:cs typeface="Raleway-ExtraLight"/>
            </a:endParaRPr>
          </a:p>
          <a:p>
            <a:pPr marL="12700">
              <a:lnSpc>
                <a:spcPts val="940"/>
              </a:lnSpc>
            </a:pPr>
            <a:r>
              <a:rPr sz="800" b="1" spc="-5" dirty="0">
                <a:solidFill>
                  <a:srgbClr val="EB484B"/>
                </a:solidFill>
                <a:latin typeface="Raleway-SemiBold"/>
                <a:cs typeface="Raleway-SemiBold"/>
              </a:rPr>
              <a:t>2014-2016</a:t>
            </a:r>
            <a:endParaRPr sz="800">
              <a:latin typeface="Raleway-SemiBold"/>
              <a:cs typeface="Raleway-SemiBold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72025" y="5151257"/>
            <a:ext cx="788670" cy="1019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i="1" spc="65" dirty="0">
                <a:solidFill>
                  <a:srgbClr val="231F20"/>
                </a:solidFill>
                <a:latin typeface="Oswald"/>
                <a:cs typeface="Oswald"/>
              </a:rPr>
              <a:t>INTERESTS</a:t>
            </a:r>
            <a:endParaRPr sz="1400">
              <a:latin typeface="Oswald"/>
              <a:cs typeface="Oswald"/>
            </a:endParaRPr>
          </a:p>
          <a:p>
            <a:pPr marL="12700" marR="48260">
              <a:lnSpc>
                <a:spcPct val="150000"/>
              </a:lnSpc>
              <a:spcBef>
                <a:spcPts val="740"/>
              </a:spcBef>
            </a:pP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Reading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Running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65" dirty="0">
                <a:solidFill>
                  <a:srgbClr val="231F20"/>
                </a:solidFill>
                <a:latin typeface="Raleway-ExtraLight"/>
                <a:cs typeface="Raleway-ExtraLight"/>
              </a:rPr>
              <a:t>W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eig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h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tlifting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72025" y="3521977"/>
            <a:ext cx="933450" cy="1156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i="1" spc="55" dirty="0">
                <a:solidFill>
                  <a:srgbClr val="231F20"/>
                </a:solidFill>
                <a:latin typeface="Oswald"/>
                <a:cs typeface="Oswald"/>
              </a:rPr>
              <a:t>SKILLS</a:t>
            </a:r>
            <a:endParaRPr sz="1400">
              <a:latin typeface="Oswald"/>
              <a:cs typeface="Oswald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Microsoft</a:t>
            </a:r>
            <a:r>
              <a:rPr sz="1000" spc="-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25" dirty="0">
                <a:solidFill>
                  <a:srgbClr val="231F20"/>
                </a:solidFill>
                <a:latin typeface="Raleway-ExtraLight"/>
                <a:cs typeface="Raleway-ExtraLight"/>
              </a:rPr>
              <a:t>Office</a:t>
            </a:r>
            <a:endParaRPr sz="1000">
              <a:latin typeface="Raleway-ExtraLight"/>
              <a:cs typeface="Raleway-ExtraLight"/>
            </a:endParaRPr>
          </a:p>
          <a:p>
            <a:pPr marL="12700" marR="5080">
              <a:lnSpc>
                <a:spcPts val="1000"/>
              </a:lnSpc>
              <a:spcBef>
                <a:spcPts val="800"/>
              </a:spcBef>
            </a:pP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GDS (Amadeus, 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Sabre,</a:t>
            </a:r>
            <a:r>
              <a:rPr sz="1000" spc="-2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Galileo)</a:t>
            </a:r>
            <a:endParaRPr sz="1000">
              <a:latin typeface="Raleway-ExtraLight"/>
              <a:cs typeface="Raleway-ExtraLigh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-20" dirty="0">
                <a:solidFill>
                  <a:srgbClr val="231F20"/>
                </a:solidFill>
                <a:latin typeface="Raleway-ExtraLight"/>
                <a:cs typeface="Raleway-ExtraLight"/>
              </a:rPr>
              <a:t>Taranis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4500" y="6703113"/>
            <a:ext cx="33191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solidFill>
                  <a:srgbClr val="231F20"/>
                </a:solidFill>
                <a:latin typeface="Raleway-SemiBold"/>
                <a:cs typeface="Raleway-SemiBold"/>
              </a:rPr>
              <a:t>Achievements:</a:t>
            </a:r>
            <a:endParaRPr sz="1000">
              <a:latin typeface="Raleway-SemiBold"/>
              <a:cs typeface="Raleway-SemiBold"/>
            </a:endParaRPr>
          </a:p>
          <a:p>
            <a:pPr marL="99060" indent="-86360">
              <a:lnSpc>
                <a:spcPct val="100000"/>
              </a:lnSpc>
              <a:buChar char="-"/>
              <a:tabLst>
                <a:tab pos="99060" algn="l"/>
              </a:tabLst>
            </a:pPr>
            <a:r>
              <a:rPr sz="1000" spc="-15" dirty="0">
                <a:solidFill>
                  <a:srgbClr val="231F20"/>
                </a:solidFill>
                <a:latin typeface="Raleway-ExtraLight"/>
                <a:cs typeface="Raleway-ExtraLight"/>
              </a:rPr>
              <a:t>Referent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and</a:t>
            </a:r>
            <a:r>
              <a:rPr sz="1000" spc="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trainer</a:t>
            </a:r>
            <a:r>
              <a:rPr sz="1000" spc="-2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for</a:t>
            </a:r>
            <a:r>
              <a:rPr sz="1000" spc="-5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Asian</a:t>
            </a:r>
            <a:r>
              <a:rPr sz="1000" spc="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destinations</a:t>
            </a:r>
            <a:endParaRPr sz="1000">
              <a:latin typeface="Raleway-ExtraLight"/>
              <a:cs typeface="Raleway-ExtraLight"/>
            </a:endParaRPr>
          </a:p>
          <a:p>
            <a:pPr marL="12700" marR="5080">
              <a:lnSpc>
                <a:spcPct val="100000"/>
              </a:lnSpc>
              <a:buChar char="-"/>
              <a:tabLst>
                <a:tab pos="99060" algn="l"/>
              </a:tabLst>
            </a:pP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Participated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in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supervising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and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putting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together</a:t>
            </a:r>
            <a:r>
              <a:rPr sz="1000" spc="-2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the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Pôle </a:t>
            </a:r>
            <a:r>
              <a:rPr sz="1000" spc="-2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Réservations team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8539" y="2010462"/>
            <a:ext cx="342265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With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2</a:t>
            </a:r>
            <a:r>
              <a:rPr sz="1000" spc="-35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years of</a:t>
            </a:r>
            <a:r>
              <a:rPr sz="1000" spc="-30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experience </a:t>
            </a: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in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the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 tourism</a:t>
            </a: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Raleway-ExtraLight"/>
                <a:cs typeface="Raleway-ExtraLight"/>
              </a:rPr>
              <a:t>sector,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 developed </a:t>
            </a:r>
            <a:r>
              <a:rPr sz="1000" spc="-245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strong organizational </a:t>
            </a: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and 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operational </a:t>
            </a: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skills. </a:t>
            </a:r>
            <a:r>
              <a:rPr sz="1000" spc="-10" dirty="0">
                <a:solidFill>
                  <a:srgbClr val="FFFFFF"/>
                </a:solidFill>
                <a:latin typeface="Raleway-ExtraLight"/>
                <a:cs typeface="Raleway-ExtraLight"/>
              </a:rPr>
              <a:t>Currently 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seeking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 new</a:t>
            </a:r>
            <a:r>
              <a:rPr sz="1000" spc="-30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Raleway-ExtraLight"/>
                <a:cs typeface="Raleway-ExtraLight"/>
              </a:rPr>
              <a:t>professional</a:t>
            </a:r>
            <a:r>
              <a:rPr sz="1000" spc="-35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challenges and </a:t>
            </a:r>
            <a:r>
              <a:rPr sz="1000" spc="-10" dirty="0">
                <a:solidFill>
                  <a:srgbClr val="FFFFFF"/>
                </a:solidFill>
                <a:latin typeface="Raleway-ExtraLight"/>
                <a:cs typeface="Raleway-ExtraLight"/>
              </a:rPr>
              <a:t>to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Raleway-ExtraLight"/>
                <a:cs typeface="Raleway-ExtraLight"/>
              </a:rPr>
              <a:t>integrate</a:t>
            </a: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into</a:t>
            </a:r>
            <a:endParaRPr sz="1000">
              <a:latin typeface="Raleway-ExtraLight"/>
              <a:cs typeface="Raleway-ExtraLight"/>
            </a:endParaRPr>
          </a:p>
          <a:p>
            <a:pPr marL="38100" marR="30480" algn="ctr">
              <a:lnSpc>
                <a:spcPct val="100000"/>
              </a:lnSpc>
            </a:pP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a 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strategically valuable </a:t>
            </a: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position. </a:t>
            </a:r>
            <a:r>
              <a:rPr sz="1000" spc="-10" dirty="0">
                <a:solidFill>
                  <a:srgbClr val="FFFFFF"/>
                </a:solidFill>
                <a:latin typeface="Raleway-ExtraLight"/>
                <a:cs typeface="Raleway-ExtraLight"/>
              </a:rPr>
              <a:t>Strong 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relationship </a:t>
            </a: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skills, </a:t>
            </a:r>
            <a:r>
              <a:rPr sz="1000" spc="5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discipline and </a:t>
            </a:r>
            <a:r>
              <a:rPr sz="1000" spc="-10" dirty="0">
                <a:solidFill>
                  <a:srgbClr val="FFFFFF"/>
                </a:solidFill>
                <a:latin typeface="Raleway-ExtraLight"/>
                <a:cs typeface="Raleway-ExtraLight"/>
              </a:rPr>
              <a:t>extensive 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knowledge of tourism markets </a:t>
            </a:r>
            <a:r>
              <a:rPr sz="1000" spc="-10" dirty="0">
                <a:solidFill>
                  <a:srgbClr val="FFFFFF"/>
                </a:solidFill>
                <a:latin typeface="Raleway-ExtraLight"/>
                <a:cs typeface="Raleway-ExtraLight"/>
              </a:rPr>
              <a:t>are </a:t>
            </a:r>
            <a:r>
              <a:rPr sz="1000" spc="-245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main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 assets.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4500" y="3572777"/>
            <a:ext cx="3728085" cy="3155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i="1" spc="55" dirty="0">
                <a:solidFill>
                  <a:srgbClr val="231F20"/>
                </a:solidFill>
                <a:latin typeface="Oswald"/>
                <a:cs typeface="Oswald"/>
              </a:rPr>
              <a:t>PROFESSIONAL</a:t>
            </a:r>
            <a:r>
              <a:rPr sz="1400" i="1" spc="120" dirty="0">
                <a:solidFill>
                  <a:srgbClr val="231F20"/>
                </a:solidFill>
                <a:latin typeface="Oswald"/>
                <a:cs typeface="Oswald"/>
              </a:rPr>
              <a:t> </a:t>
            </a:r>
            <a:r>
              <a:rPr sz="1400" i="1" spc="65" dirty="0">
                <a:solidFill>
                  <a:srgbClr val="231F20"/>
                </a:solidFill>
                <a:latin typeface="Oswald"/>
                <a:cs typeface="Oswald"/>
              </a:rPr>
              <a:t>EXPERIENCE</a:t>
            </a:r>
            <a:endParaRPr sz="1400">
              <a:latin typeface="Oswald"/>
              <a:cs typeface="Oswald"/>
            </a:endParaRPr>
          </a:p>
          <a:p>
            <a:pPr marL="12700" marR="685800">
              <a:lnSpc>
                <a:spcPct val="100000"/>
              </a:lnSpc>
              <a:spcBef>
                <a:spcPts val="1185"/>
              </a:spcBef>
            </a:pPr>
            <a:r>
              <a:rPr sz="1000" b="1" spc="-15" dirty="0">
                <a:solidFill>
                  <a:srgbClr val="EB484B"/>
                </a:solidFill>
                <a:latin typeface="Raleway-SemiBold"/>
                <a:cs typeface="Raleway-SemiBold"/>
              </a:rPr>
              <a:t>RESERVATIONS </a:t>
            </a:r>
            <a:r>
              <a:rPr sz="1000" b="1" spc="-10" dirty="0">
                <a:solidFill>
                  <a:srgbClr val="EB484B"/>
                </a:solidFill>
                <a:latin typeface="Raleway-SemiBold"/>
                <a:cs typeface="Raleway-SemiBold"/>
              </a:rPr>
              <a:t>AGENT </a:t>
            </a:r>
            <a:r>
              <a:rPr sz="1000" b="1" dirty="0">
                <a:solidFill>
                  <a:srgbClr val="EB484B"/>
                </a:solidFill>
                <a:latin typeface="Raleway-SemiBold"/>
                <a:cs typeface="Raleway-SemiBold"/>
              </a:rPr>
              <a:t>/ </a:t>
            </a:r>
            <a:r>
              <a:rPr sz="1000" b="1" spc="-15" dirty="0">
                <a:solidFill>
                  <a:srgbClr val="EB484B"/>
                </a:solidFill>
                <a:latin typeface="Raleway-SemiBold"/>
                <a:cs typeface="Raleway-SemiBold"/>
              </a:rPr>
              <a:t>BACK </a:t>
            </a:r>
            <a:r>
              <a:rPr sz="1000" b="1" dirty="0">
                <a:solidFill>
                  <a:srgbClr val="EB484B"/>
                </a:solidFill>
                <a:latin typeface="Raleway-SemiBold"/>
                <a:cs typeface="Raleway-SemiBold"/>
              </a:rPr>
              <a:t>OFFICE (2 YEARS: </a:t>
            </a:r>
            <a:r>
              <a:rPr sz="1000" b="1" spc="5" dirty="0">
                <a:solidFill>
                  <a:srgbClr val="EB484B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EB484B"/>
                </a:solidFill>
                <a:latin typeface="Raleway-SemiBold"/>
                <a:cs typeface="Raleway-SemiBold"/>
              </a:rPr>
              <a:t>PL</a:t>
            </a:r>
            <a:r>
              <a:rPr sz="1000" b="1" spc="-30" dirty="0">
                <a:solidFill>
                  <a:srgbClr val="EB484B"/>
                </a:solidFill>
                <a:latin typeface="Raleway-SemiBold"/>
                <a:cs typeface="Raleway-SemiBold"/>
              </a:rPr>
              <a:t>A</a:t>
            </a:r>
            <a:r>
              <a:rPr sz="1000" b="1" dirty="0">
                <a:solidFill>
                  <a:srgbClr val="EB484B"/>
                </a:solidFill>
                <a:latin typeface="Raleway-SemiBold"/>
                <a:cs typeface="Raleway-SemiBold"/>
              </a:rPr>
              <a:t>CEMENT</a:t>
            </a:r>
            <a:r>
              <a:rPr sz="1000" b="1" spc="-65" dirty="0">
                <a:solidFill>
                  <a:srgbClr val="EB484B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EB484B"/>
                </a:solidFill>
                <a:latin typeface="Raleway-SemiBold"/>
                <a:cs typeface="Raleway-SemiBold"/>
              </a:rPr>
              <a:t>YEAR</a:t>
            </a:r>
            <a:r>
              <a:rPr sz="1000" b="1" spc="-35" dirty="0">
                <a:solidFill>
                  <a:srgbClr val="EB484B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EB484B"/>
                </a:solidFill>
                <a:latin typeface="Raleway-SemiBold"/>
                <a:cs typeface="Raleway-SemiBold"/>
              </a:rPr>
              <a:t>AND</a:t>
            </a:r>
            <a:r>
              <a:rPr sz="1000" b="1" spc="-35" dirty="0">
                <a:solidFill>
                  <a:srgbClr val="EB484B"/>
                </a:solidFill>
                <a:latin typeface="Raleway-SemiBold"/>
                <a:cs typeface="Raleway-SemiBold"/>
              </a:rPr>
              <a:t> </a:t>
            </a:r>
            <a:r>
              <a:rPr sz="1000" b="1" spc="-30" dirty="0">
                <a:solidFill>
                  <a:srgbClr val="EB484B"/>
                </a:solidFill>
                <a:latin typeface="Raleway-SemiBold"/>
                <a:cs typeface="Raleway-SemiBold"/>
              </a:rPr>
              <a:t>W</a:t>
            </a:r>
            <a:r>
              <a:rPr sz="1000" b="1" dirty="0">
                <a:solidFill>
                  <a:srgbClr val="EB484B"/>
                </a:solidFill>
                <a:latin typeface="Raleway-SemiBold"/>
                <a:cs typeface="Raleway-SemiBold"/>
              </a:rPr>
              <a:t>ORK</a:t>
            </a:r>
            <a:r>
              <a:rPr sz="1000" b="1" spc="-5" dirty="0">
                <a:solidFill>
                  <a:srgbClr val="EB484B"/>
                </a:solidFill>
                <a:latin typeface="Raleway-SemiBold"/>
                <a:cs typeface="Raleway-SemiBold"/>
              </a:rPr>
              <a:t>S</a:t>
            </a:r>
            <a:r>
              <a:rPr sz="1000" b="1" dirty="0">
                <a:solidFill>
                  <a:srgbClr val="EB484B"/>
                </a:solidFill>
                <a:latin typeface="Raleway-SemiBold"/>
                <a:cs typeface="Raleway-SemiBold"/>
              </a:rPr>
              <a:t>TU</a:t>
            </a:r>
            <a:r>
              <a:rPr sz="1000" b="1" spc="-45" dirty="0">
                <a:solidFill>
                  <a:srgbClr val="EB484B"/>
                </a:solidFill>
                <a:latin typeface="Raleway-SemiBold"/>
                <a:cs typeface="Raleway-SemiBold"/>
              </a:rPr>
              <a:t>D</a:t>
            </a:r>
            <a:r>
              <a:rPr sz="1000" b="1" dirty="0">
                <a:solidFill>
                  <a:srgbClr val="EB484B"/>
                </a:solidFill>
                <a:latin typeface="Raleway-SemiBold"/>
                <a:cs typeface="Raleway-SemiBold"/>
              </a:rPr>
              <a:t>Y)   </a:t>
            </a:r>
            <a:r>
              <a:rPr sz="1000" b="1" spc="-85" dirty="0">
                <a:solidFill>
                  <a:srgbClr val="EB484B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231F20"/>
                </a:solidFill>
                <a:latin typeface="Raleway-SemiBold"/>
                <a:cs typeface="Raleway-SemiBold"/>
              </a:rPr>
              <a:t>201</a:t>
            </a:r>
            <a:r>
              <a:rPr sz="1000" b="1" spc="-15" dirty="0">
                <a:solidFill>
                  <a:srgbClr val="231F20"/>
                </a:solidFill>
                <a:latin typeface="Raleway-SemiBold"/>
                <a:cs typeface="Raleway-SemiBold"/>
              </a:rPr>
              <a:t>5-</a:t>
            </a:r>
            <a:r>
              <a:rPr sz="1000" b="1" dirty="0">
                <a:solidFill>
                  <a:srgbClr val="231F20"/>
                </a:solidFill>
                <a:latin typeface="Raleway-SemiBold"/>
                <a:cs typeface="Raleway-SemiBold"/>
              </a:rPr>
              <a:t>2016</a:t>
            </a:r>
            <a:endParaRPr sz="1000">
              <a:latin typeface="Raleway-SemiBold"/>
              <a:cs typeface="Raleway-SemiBold"/>
            </a:endParaRPr>
          </a:p>
          <a:p>
            <a:pPr marL="121920" indent="-109855">
              <a:lnSpc>
                <a:spcPct val="100000"/>
              </a:lnSpc>
              <a:spcBef>
                <a:spcPts val="180"/>
              </a:spcBef>
              <a:buChar char="•"/>
              <a:tabLst>
                <a:tab pos="122555" algn="l"/>
              </a:tabLst>
            </a:pP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In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charge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of</a:t>
            </a:r>
            <a:r>
              <a:rPr sz="1000" spc="-5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American,</a:t>
            </a:r>
            <a:r>
              <a:rPr sz="1000" spc="-3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African,</a:t>
            </a:r>
            <a:r>
              <a:rPr sz="1000" spc="-3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Asian</a:t>
            </a:r>
            <a:r>
              <a:rPr sz="1000" spc="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and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Oceanic</a:t>
            </a:r>
            <a:r>
              <a:rPr sz="1000" spc="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destinations</a:t>
            </a:r>
            <a:endParaRPr sz="1000">
              <a:latin typeface="Raleway-ExtraLight"/>
              <a:cs typeface="Raleway-ExtraLight"/>
            </a:endParaRPr>
          </a:p>
          <a:p>
            <a:pPr marL="12700" marR="211454">
              <a:lnSpc>
                <a:spcPct val="100000"/>
              </a:lnSpc>
              <a:buChar char="•"/>
              <a:tabLst>
                <a:tab pos="118110" algn="l"/>
              </a:tabLst>
            </a:pP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Welcoming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clients,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understanding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their</a:t>
            </a:r>
            <a:r>
              <a:rPr sz="1000" spc="-3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needs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and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propose </a:t>
            </a:r>
            <a:r>
              <a:rPr sz="1000" spc="-2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customizable</a:t>
            </a:r>
            <a:r>
              <a:rPr sz="1000" spc="-3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vacation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solutions</a:t>
            </a:r>
            <a:endParaRPr sz="1000">
              <a:latin typeface="Raleway-ExtraLight"/>
              <a:cs typeface="Raleway-ExtraLight"/>
            </a:endParaRPr>
          </a:p>
          <a:p>
            <a:pPr marL="121920" indent="-109855">
              <a:lnSpc>
                <a:spcPct val="100000"/>
              </a:lnSpc>
              <a:buChar char="•"/>
              <a:tabLst>
                <a:tab pos="122555" algn="l"/>
              </a:tabLst>
            </a:pP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Making reservations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for</a:t>
            </a:r>
            <a:r>
              <a:rPr sz="1000" spc="-3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client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accounts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and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managing</a:t>
            </a:r>
            <a:endParaRPr sz="1000">
              <a:latin typeface="Raleway-ExtraLight"/>
              <a:cs typeface="Raleway-ExtraLight"/>
            </a:endParaRPr>
          </a:p>
          <a:p>
            <a:pPr marL="12700" marR="351155">
              <a:lnSpc>
                <a:spcPct val="100000"/>
              </a:lnSpc>
            </a:pP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all</a:t>
            </a:r>
            <a:r>
              <a:rPr sz="1000" spc="-4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logistics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of</a:t>
            </a:r>
            <a:r>
              <a:rPr sz="1000" spc="-2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the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services: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lodging,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transport,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activities and </a:t>
            </a:r>
            <a:r>
              <a:rPr sz="1000" spc="-2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excursions,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administrative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formalities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(visas),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etc</a:t>
            </a:r>
            <a:endParaRPr sz="1000">
              <a:latin typeface="Raleway-ExtraLight"/>
              <a:cs typeface="Raleway-ExtraLight"/>
            </a:endParaRPr>
          </a:p>
          <a:p>
            <a:pPr marL="12700" marR="5080">
              <a:lnSpc>
                <a:spcPct val="100000"/>
              </a:lnSpc>
              <a:buChar char="•"/>
              <a:tabLst>
                <a:tab pos="122555" algn="l"/>
              </a:tabLst>
            </a:pP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Monitoring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client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files,</a:t>
            </a:r>
            <a:r>
              <a:rPr sz="1000" spc="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making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sure</a:t>
            </a:r>
            <a:r>
              <a:rPr sz="1000" spc="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that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services</a:t>
            </a:r>
            <a:r>
              <a:rPr sz="1000" spc="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are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carried</a:t>
            </a:r>
            <a:r>
              <a:rPr sz="1000" spc="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out </a:t>
            </a:r>
            <a:r>
              <a:rPr sz="1000" spc="-2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properly</a:t>
            </a:r>
            <a:endParaRPr sz="1000">
              <a:latin typeface="Raleway-ExtraLight"/>
              <a:cs typeface="Raleway-ExtraLight"/>
            </a:endParaRPr>
          </a:p>
          <a:p>
            <a:pPr marL="12700" marR="176530">
              <a:lnSpc>
                <a:spcPct val="100000"/>
              </a:lnSpc>
              <a:buChar char="•"/>
              <a:tabLst>
                <a:tab pos="122555" algn="l"/>
              </a:tabLst>
            </a:pP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Managing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service</a:t>
            </a:r>
            <a:r>
              <a:rPr sz="1000" spc="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providers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and</a:t>
            </a:r>
            <a:r>
              <a:rPr sz="1000" spc="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supplier</a:t>
            </a:r>
            <a:r>
              <a:rPr sz="1000" spc="-2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relations,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checking </a:t>
            </a:r>
            <a:r>
              <a:rPr sz="1000" spc="-24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conformity</a:t>
            </a:r>
            <a:r>
              <a:rPr sz="1000" spc="-3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between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products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and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rates</a:t>
            </a:r>
            <a:endParaRPr sz="1000">
              <a:latin typeface="Raleway-ExtraLight"/>
              <a:cs typeface="Raleway-ExtraLight"/>
            </a:endParaRPr>
          </a:p>
          <a:p>
            <a:pPr marL="12700" marR="315595">
              <a:lnSpc>
                <a:spcPct val="100000"/>
              </a:lnSpc>
              <a:buChar char="•"/>
              <a:tabLst>
                <a:tab pos="122555" algn="l"/>
              </a:tabLst>
            </a:pP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Dealing</a:t>
            </a:r>
            <a:r>
              <a:rPr sz="1000" spc="-3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with</a:t>
            </a:r>
            <a:r>
              <a:rPr sz="1000" spc="-3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After-Sales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Service requests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and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developing </a:t>
            </a:r>
            <a:r>
              <a:rPr sz="1000" spc="-2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relevant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solutions in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the case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of</a:t>
            </a:r>
            <a:r>
              <a:rPr sz="1000" spc="-3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litigation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and claims</a:t>
            </a:r>
            <a:endParaRPr sz="1000">
              <a:latin typeface="Raleway-ExtraLight"/>
              <a:cs typeface="Raleway-ExtraLight"/>
            </a:endParaRPr>
          </a:p>
          <a:p>
            <a:pPr marL="12700" marR="545465">
              <a:lnSpc>
                <a:spcPct val="100000"/>
              </a:lnSpc>
              <a:buChar char="•"/>
              <a:tabLst>
                <a:tab pos="122555" algn="l"/>
              </a:tabLst>
            </a:pP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Participating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in</a:t>
            </a:r>
            <a:r>
              <a:rPr sz="1000" spc="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recruiting,</a:t>
            </a:r>
            <a:r>
              <a:rPr sz="1000" spc="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integrating</a:t>
            </a:r>
            <a:r>
              <a:rPr sz="1000" spc="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and</a:t>
            </a:r>
            <a:r>
              <a:rPr sz="1000" spc="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training</a:t>
            </a:r>
            <a:r>
              <a:rPr sz="1000" spc="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new </a:t>
            </a:r>
            <a:r>
              <a:rPr sz="1000" spc="-24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employees</a:t>
            </a:r>
            <a:endParaRPr sz="1000">
              <a:latin typeface="Raleway-ExtraLight"/>
              <a:cs typeface="Raleway-ExtraLight"/>
            </a:endParaRPr>
          </a:p>
          <a:p>
            <a:pPr marL="12700" marR="243204">
              <a:lnSpc>
                <a:spcPct val="100000"/>
              </a:lnSpc>
              <a:buChar char="•"/>
              <a:tabLst>
                <a:tab pos="122555" algn="l"/>
              </a:tabLst>
            </a:pP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Ensuring replacements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in the cases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of</a:t>
            </a:r>
            <a:r>
              <a:rPr sz="1000" spc="-2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absence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of</a:t>
            </a:r>
            <a:r>
              <a:rPr sz="1000" spc="-2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the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Pôle </a:t>
            </a:r>
            <a:r>
              <a:rPr sz="1000" spc="-2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réservation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manager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4500" y="7655613"/>
            <a:ext cx="2682240" cy="488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solidFill>
                  <a:srgbClr val="231F20"/>
                </a:solidFill>
                <a:latin typeface="Raleway-SemiBold"/>
                <a:cs typeface="Raleway-SemiBold"/>
              </a:rPr>
              <a:t>MARCO</a:t>
            </a:r>
            <a:r>
              <a:rPr sz="1000" b="1" spc="-50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000" b="1" spc="-20" dirty="0">
                <a:solidFill>
                  <a:srgbClr val="231F20"/>
                </a:solidFill>
                <a:latin typeface="Raleway-SemiBold"/>
                <a:cs typeface="Raleway-SemiBold"/>
              </a:rPr>
              <a:t>VASCO</a:t>
            </a:r>
            <a:r>
              <a:rPr sz="1000" b="1" spc="-15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231F20"/>
                </a:solidFill>
                <a:latin typeface="Raleway-SemiBold"/>
                <a:cs typeface="Raleway-SemiBold"/>
              </a:rPr>
              <a:t>-</a:t>
            </a:r>
            <a:r>
              <a:rPr sz="1000" b="1" spc="-20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000" b="1" spc="-10" dirty="0">
                <a:solidFill>
                  <a:srgbClr val="231F20"/>
                </a:solidFill>
                <a:latin typeface="Raleway-SemiBold"/>
                <a:cs typeface="Raleway-SemiBold"/>
              </a:rPr>
              <a:t>PARIS</a:t>
            </a:r>
            <a:endParaRPr sz="1000">
              <a:latin typeface="Raleway-SemiBold"/>
              <a:cs typeface="Raleway-SemiBold"/>
            </a:endParaRPr>
          </a:p>
          <a:p>
            <a:pPr marL="12700" marR="5080">
              <a:lnSpc>
                <a:spcPct val="100000"/>
              </a:lnSpc>
              <a:spcBef>
                <a:spcPts val="45"/>
              </a:spcBef>
            </a:pPr>
            <a:r>
              <a:rPr sz="1000" b="1" spc="-10" dirty="0">
                <a:solidFill>
                  <a:srgbClr val="EB484B"/>
                </a:solidFill>
                <a:latin typeface="Raleway-SemiBold"/>
                <a:cs typeface="Raleway-SemiBold"/>
              </a:rPr>
              <a:t>TOUR </a:t>
            </a:r>
            <a:r>
              <a:rPr sz="1000" b="1" spc="-15" dirty="0">
                <a:solidFill>
                  <a:srgbClr val="EB484B"/>
                </a:solidFill>
                <a:latin typeface="Raleway-SemiBold"/>
                <a:cs typeface="Raleway-SemiBold"/>
              </a:rPr>
              <a:t>OPERATOR:</a:t>
            </a:r>
            <a:r>
              <a:rPr sz="1000" b="1" spc="-5" dirty="0">
                <a:solidFill>
                  <a:srgbClr val="EB484B"/>
                </a:solidFill>
                <a:latin typeface="Raleway-SemiBold"/>
                <a:cs typeface="Raleway-SemiBold"/>
              </a:rPr>
              <a:t> SPECIALIST</a:t>
            </a:r>
            <a:r>
              <a:rPr sz="1000" b="1" spc="-40" dirty="0">
                <a:solidFill>
                  <a:srgbClr val="EB484B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EB484B"/>
                </a:solidFill>
                <a:latin typeface="Raleway-SemiBold"/>
                <a:cs typeface="Raleway-SemiBold"/>
              </a:rPr>
              <a:t>IN</a:t>
            </a:r>
            <a:r>
              <a:rPr sz="1000" b="1" spc="-5" dirty="0">
                <a:solidFill>
                  <a:srgbClr val="EB484B"/>
                </a:solidFill>
                <a:latin typeface="Raleway-SemiBold"/>
                <a:cs typeface="Raleway-SemiBold"/>
              </a:rPr>
              <a:t> HIGH-END, </a:t>
            </a:r>
            <a:r>
              <a:rPr sz="1000" b="1" spc="-235" dirty="0">
                <a:solidFill>
                  <a:srgbClr val="EB484B"/>
                </a:solidFill>
                <a:latin typeface="Raleway-SemiBold"/>
                <a:cs typeface="Raleway-SemiBold"/>
              </a:rPr>
              <a:t> </a:t>
            </a:r>
            <a:r>
              <a:rPr sz="1000" b="1" spc="-5" dirty="0">
                <a:solidFill>
                  <a:srgbClr val="EB484B"/>
                </a:solidFill>
                <a:latin typeface="Raleway-SemiBold"/>
                <a:cs typeface="Raleway-SemiBold"/>
              </a:rPr>
              <a:t>CUSTOMIZABLE</a:t>
            </a:r>
            <a:r>
              <a:rPr sz="1000" b="1" spc="-40" dirty="0">
                <a:solidFill>
                  <a:srgbClr val="EB484B"/>
                </a:solidFill>
                <a:latin typeface="Raleway-SemiBold"/>
                <a:cs typeface="Raleway-SemiBold"/>
              </a:rPr>
              <a:t> </a:t>
            </a:r>
            <a:r>
              <a:rPr sz="1000" b="1" spc="-20" dirty="0">
                <a:solidFill>
                  <a:srgbClr val="EB484B"/>
                </a:solidFill>
                <a:latin typeface="Raleway-SemiBold"/>
                <a:cs typeface="Raleway-SemiBold"/>
              </a:rPr>
              <a:t>VACATIONS</a:t>
            </a:r>
            <a:r>
              <a:rPr sz="1000" b="1" spc="-5" dirty="0">
                <a:solidFill>
                  <a:srgbClr val="EB484B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EB484B"/>
                </a:solidFill>
                <a:latin typeface="Raleway-SemiBold"/>
                <a:cs typeface="Raleway-SemiBold"/>
              </a:rPr>
              <a:t>ONLINE</a:t>
            </a:r>
            <a:endParaRPr sz="1000">
              <a:latin typeface="Raleway-SemiBold"/>
              <a:cs typeface="Raleway-SemiBold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746424" y="12"/>
            <a:ext cx="1814195" cy="6116320"/>
            <a:chOff x="5746424" y="12"/>
            <a:chExt cx="1814195" cy="6116320"/>
          </a:xfrm>
        </p:grpSpPr>
        <p:sp>
          <p:nvSpPr>
            <p:cNvPr id="11" name="object 11"/>
            <p:cNvSpPr/>
            <p:nvPr/>
          </p:nvSpPr>
          <p:spPr>
            <a:xfrm>
              <a:off x="6798944" y="4013728"/>
              <a:ext cx="123189" cy="0"/>
            </a:xfrm>
            <a:custGeom>
              <a:avLst/>
              <a:gdLst/>
              <a:ahLst/>
              <a:cxnLst/>
              <a:rect l="l" t="t" r="r" b="b"/>
              <a:pathLst>
                <a:path w="123190">
                  <a:moveTo>
                    <a:pt x="0" y="0"/>
                  </a:moveTo>
                  <a:lnTo>
                    <a:pt x="122885" y="0"/>
                  </a:lnTo>
                </a:path>
              </a:pathLst>
            </a:custGeom>
            <a:ln w="635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97984" y="6084425"/>
              <a:ext cx="123189" cy="0"/>
            </a:xfrm>
            <a:custGeom>
              <a:avLst/>
              <a:gdLst/>
              <a:ahLst/>
              <a:cxnLst/>
              <a:rect l="l" t="t" r="r" b="b"/>
              <a:pathLst>
                <a:path w="123190">
                  <a:moveTo>
                    <a:pt x="0" y="0"/>
                  </a:moveTo>
                  <a:lnTo>
                    <a:pt x="122885" y="0"/>
                  </a:lnTo>
                </a:path>
              </a:pathLst>
            </a:custGeom>
            <a:ln w="635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02297" y="4211628"/>
              <a:ext cx="0" cy="63500"/>
            </a:xfrm>
            <a:custGeom>
              <a:avLst/>
              <a:gdLst/>
              <a:ahLst/>
              <a:cxnLst/>
              <a:rect l="l" t="t" r="r" b="b"/>
              <a:pathLst>
                <a:path h="63500">
                  <a:moveTo>
                    <a:pt x="0" y="0"/>
                  </a:moveTo>
                  <a:lnTo>
                    <a:pt x="0" y="63500"/>
                  </a:lnTo>
                </a:path>
              </a:pathLst>
            </a:custGeom>
            <a:ln w="3906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901337" y="5593374"/>
              <a:ext cx="0" cy="63500"/>
            </a:xfrm>
            <a:custGeom>
              <a:avLst/>
              <a:gdLst/>
              <a:ahLst/>
              <a:cxnLst/>
              <a:rect l="l" t="t" r="r" b="b"/>
              <a:pathLst>
                <a:path h="63500">
                  <a:moveTo>
                    <a:pt x="0" y="0"/>
                  </a:moveTo>
                  <a:lnTo>
                    <a:pt x="0" y="63500"/>
                  </a:lnTo>
                </a:path>
              </a:pathLst>
            </a:custGeom>
            <a:ln w="3906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664324" y="4612727"/>
              <a:ext cx="257810" cy="0"/>
            </a:xfrm>
            <a:custGeom>
              <a:avLst/>
              <a:gdLst/>
              <a:ahLst/>
              <a:cxnLst/>
              <a:rect l="l" t="t" r="r" b="b"/>
              <a:pathLst>
                <a:path w="257809">
                  <a:moveTo>
                    <a:pt x="0" y="0"/>
                  </a:moveTo>
                  <a:lnTo>
                    <a:pt x="257505" y="0"/>
                  </a:lnTo>
                </a:path>
              </a:pathLst>
            </a:custGeom>
            <a:ln w="635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663364" y="5854775"/>
              <a:ext cx="257810" cy="0"/>
            </a:xfrm>
            <a:custGeom>
              <a:avLst/>
              <a:gdLst/>
              <a:ahLst/>
              <a:cxnLst/>
              <a:rect l="l" t="t" r="r" b="b"/>
              <a:pathLst>
                <a:path w="257809">
                  <a:moveTo>
                    <a:pt x="0" y="0"/>
                  </a:moveTo>
                  <a:lnTo>
                    <a:pt x="257505" y="0"/>
                  </a:lnTo>
                </a:path>
              </a:pathLst>
            </a:custGeom>
            <a:ln w="635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747384" y="4013728"/>
              <a:ext cx="1051560" cy="0"/>
            </a:xfrm>
            <a:custGeom>
              <a:avLst/>
              <a:gdLst/>
              <a:ahLst/>
              <a:cxnLst/>
              <a:rect l="l" t="t" r="r" b="b"/>
              <a:pathLst>
                <a:path w="1051559">
                  <a:moveTo>
                    <a:pt x="0" y="0"/>
                  </a:moveTo>
                  <a:lnTo>
                    <a:pt x="1051560" y="0"/>
                  </a:lnTo>
                </a:path>
              </a:pathLst>
            </a:custGeom>
            <a:ln w="635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746424" y="6084425"/>
              <a:ext cx="1051560" cy="0"/>
            </a:xfrm>
            <a:custGeom>
              <a:avLst/>
              <a:gdLst/>
              <a:ahLst/>
              <a:cxnLst/>
              <a:rect l="l" t="t" r="r" b="b"/>
              <a:pathLst>
                <a:path w="1051559">
                  <a:moveTo>
                    <a:pt x="0" y="0"/>
                  </a:moveTo>
                  <a:lnTo>
                    <a:pt x="1051560" y="0"/>
                  </a:lnTo>
                </a:path>
              </a:pathLst>
            </a:custGeom>
            <a:ln w="635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47384" y="4243378"/>
              <a:ext cx="1135380" cy="0"/>
            </a:xfrm>
            <a:custGeom>
              <a:avLst/>
              <a:gdLst/>
              <a:ahLst/>
              <a:cxnLst/>
              <a:rect l="l" t="t" r="r" b="b"/>
              <a:pathLst>
                <a:path w="1135379">
                  <a:moveTo>
                    <a:pt x="0" y="0"/>
                  </a:moveTo>
                  <a:lnTo>
                    <a:pt x="1135380" y="0"/>
                  </a:lnTo>
                </a:path>
              </a:pathLst>
            </a:custGeom>
            <a:ln w="635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46424" y="5625124"/>
              <a:ext cx="1135380" cy="0"/>
            </a:xfrm>
            <a:custGeom>
              <a:avLst/>
              <a:gdLst/>
              <a:ahLst/>
              <a:cxnLst/>
              <a:rect l="l" t="t" r="r" b="b"/>
              <a:pathLst>
                <a:path w="1135379">
                  <a:moveTo>
                    <a:pt x="0" y="0"/>
                  </a:moveTo>
                  <a:lnTo>
                    <a:pt x="1135380" y="0"/>
                  </a:lnTo>
                </a:path>
              </a:pathLst>
            </a:custGeom>
            <a:ln w="635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747384" y="4612727"/>
              <a:ext cx="916940" cy="0"/>
            </a:xfrm>
            <a:custGeom>
              <a:avLst/>
              <a:gdLst/>
              <a:ahLst/>
              <a:cxnLst/>
              <a:rect l="l" t="t" r="r" b="b"/>
              <a:pathLst>
                <a:path w="916940">
                  <a:moveTo>
                    <a:pt x="0" y="0"/>
                  </a:moveTo>
                  <a:lnTo>
                    <a:pt x="916940" y="0"/>
                  </a:lnTo>
                </a:path>
              </a:pathLst>
            </a:custGeom>
            <a:ln w="635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46424" y="5854775"/>
              <a:ext cx="916940" cy="0"/>
            </a:xfrm>
            <a:custGeom>
              <a:avLst/>
              <a:gdLst/>
              <a:ahLst/>
              <a:cxnLst/>
              <a:rect l="l" t="t" r="r" b="b"/>
              <a:pathLst>
                <a:path w="916940">
                  <a:moveTo>
                    <a:pt x="0" y="0"/>
                  </a:moveTo>
                  <a:lnTo>
                    <a:pt x="916940" y="0"/>
                  </a:lnTo>
                </a:path>
              </a:pathLst>
            </a:custGeom>
            <a:ln w="635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102792" y="12"/>
              <a:ext cx="457200" cy="3242945"/>
            </a:xfrm>
            <a:custGeom>
              <a:avLst/>
              <a:gdLst/>
              <a:ahLst/>
              <a:cxnLst/>
              <a:rect l="l" t="t" r="r" b="b"/>
              <a:pathLst>
                <a:path w="457200" h="3242945">
                  <a:moveTo>
                    <a:pt x="457200" y="0"/>
                  </a:moveTo>
                  <a:lnTo>
                    <a:pt x="0" y="0"/>
                  </a:lnTo>
                  <a:lnTo>
                    <a:pt x="0" y="3242868"/>
                  </a:lnTo>
                  <a:lnTo>
                    <a:pt x="457200" y="3242868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235673" y="728282"/>
            <a:ext cx="918844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31F20"/>
                </a:solidFill>
                <a:latin typeface="Raleway-Light"/>
                <a:cs typeface="Raleway-Light"/>
              </a:rPr>
              <a:t>+1</a:t>
            </a:r>
            <a:r>
              <a:rPr sz="1000" spc="-30" dirty="0">
                <a:solidFill>
                  <a:srgbClr val="231F20"/>
                </a:solidFill>
                <a:latin typeface="Raleway-Light"/>
                <a:cs typeface="Raleway-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Light"/>
                <a:cs typeface="Raleway-Light"/>
              </a:rPr>
              <a:t>828</a:t>
            </a:r>
            <a:r>
              <a:rPr sz="1000" spc="-30" dirty="0">
                <a:solidFill>
                  <a:srgbClr val="231F20"/>
                </a:solidFill>
                <a:latin typeface="Raleway-Light"/>
                <a:cs typeface="Raleway-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Light"/>
                <a:cs typeface="Raleway-Light"/>
              </a:rPr>
              <a:t>392</a:t>
            </a:r>
            <a:r>
              <a:rPr sz="1000" spc="-25" dirty="0">
                <a:solidFill>
                  <a:srgbClr val="231F20"/>
                </a:solidFill>
                <a:latin typeface="Raleway-Light"/>
                <a:cs typeface="Raleway-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Light"/>
                <a:cs typeface="Raleway-Light"/>
              </a:rPr>
              <a:t>3239</a:t>
            </a:r>
            <a:endParaRPr sz="1000">
              <a:latin typeface="Raleway-Light"/>
              <a:cs typeface="Raleway-Ligh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90432" y="462263"/>
            <a:ext cx="1731645" cy="44386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400" i="1" spc="65" dirty="0">
                <a:solidFill>
                  <a:srgbClr val="231F20"/>
                </a:solidFill>
                <a:latin typeface="Oswald"/>
                <a:cs typeface="Oswald"/>
              </a:rPr>
              <a:t>CONTACT</a:t>
            </a:r>
            <a:endParaRPr sz="1400">
              <a:latin typeface="Oswald"/>
              <a:cs typeface="Oswald"/>
            </a:endParaRPr>
          </a:p>
          <a:p>
            <a:pPr marL="244475">
              <a:lnSpc>
                <a:spcPct val="100000"/>
              </a:lnSpc>
              <a:spcBef>
                <a:spcPts val="175"/>
              </a:spcBef>
            </a:pPr>
            <a:r>
              <a:rPr sz="1000" spc="-5" dirty="0">
                <a:solidFill>
                  <a:srgbClr val="231F20"/>
                </a:solidFill>
                <a:latin typeface="Raleway-Light"/>
                <a:cs typeface="Raleway-Light"/>
                <a:hlinkClick r:id="rId2"/>
              </a:rPr>
              <a:t>davidmoreau@gmail.com</a:t>
            </a:r>
            <a:endParaRPr sz="1000">
              <a:latin typeface="Raleway-Light"/>
              <a:cs typeface="Raleway-Light"/>
            </a:endParaRPr>
          </a:p>
        </p:txBody>
      </p:sp>
      <p:pic>
        <p:nvPicPr>
          <p:cNvPr id="26" name="object 2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1235" y="795592"/>
            <a:ext cx="80010" cy="76200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891917" y="942145"/>
            <a:ext cx="32759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65" dirty="0">
                <a:solidFill>
                  <a:srgbClr val="231F20"/>
                </a:solidFill>
                <a:latin typeface="Raleway-Light"/>
                <a:cs typeface="Raleway-Light"/>
              </a:rPr>
              <a:t>DAVID </a:t>
            </a:r>
            <a:r>
              <a:rPr sz="3300" b="1" spc="-20" dirty="0">
                <a:solidFill>
                  <a:srgbClr val="231F20"/>
                </a:solidFill>
                <a:latin typeface="Raleway"/>
                <a:cs typeface="Raleway"/>
              </a:rPr>
              <a:t>MOREAU</a:t>
            </a:r>
            <a:endParaRPr sz="3300">
              <a:latin typeface="Raleway"/>
              <a:cs typeface="Raleway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37900" y="1311962"/>
            <a:ext cx="18389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dirty="0">
                <a:solidFill>
                  <a:srgbClr val="231F20"/>
                </a:solidFill>
                <a:latin typeface="Oswald"/>
                <a:cs typeface="Oswald"/>
              </a:rPr>
              <a:t>TOURISM</a:t>
            </a:r>
            <a:r>
              <a:rPr sz="3600" i="1" spc="-90" dirty="0">
                <a:solidFill>
                  <a:srgbClr val="231F20"/>
                </a:solidFill>
                <a:latin typeface="Oswald"/>
                <a:cs typeface="Oswald"/>
              </a:rPr>
              <a:t> </a:t>
            </a:r>
            <a:r>
              <a:rPr sz="3600" i="1" dirty="0">
                <a:solidFill>
                  <a:srgbClr val="231F20"/>
                </a:solidFill>
                <a:latin typeface="Oswald"/>
                <a:cs typeface="Oswald"/>
              </a:rPr>
              <a:t>/</a:t>
            </a:r>
            <a:endParaRPr sz="3600">
              <a:latin typeface="Oswald"/>
              <a:cs typeface="Oswald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017264" y="1860602"/>
            <a:ext cx="1680210" cy="1193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860">
              <a:lnSpc>
                <a:spcPct val="106500"/>
              </a:lnSpc>
              <a:spcBef>
                <a:spcPts val="100"/>
              </a:spcBef>
            </a:pPr>
            <a:r>
              <a:rPr sz="3600" i="1" spc="-5" dirty="0">
                <a:solidFill>
                  <a:srgbClr val="231F20"/>
                </a:solidFill>
                <a:latin typeface="Oswald"/>
                <a:cs typeface="Oswald"/>
              </a:rPr>
              <a:t>PRODUCT </a:t>
            </a:r>
            <a:r>
              <a:rPr sz="3600" i="1" spc="-800" dirty="0">
                <a:solidFill>
                  <a:srgbClr val="231F20"/>
                </a:solidFill>
                <a:latin typeface="Oswald"/>
                <a:cs typeface="Oswald"/>
              </a:rPr>
              <a:t> </a:t>
            </a:r>
            <a:r>
              <a:rPr sz="3600" i="1" spc="-5" dirty="0">
                <a:solidFill>
                  <a:srgbClr val="231F20"/>
                </a:solidFill>
                <a:latin typeface="Oswald"/>
                <a:cs typeface="Oswald"/>
              </a:rPr>
              <a:t>MAN</a:t>
            </a:r>
            <a:r>
              <a:rPr sz="3600" i="1" spc="-20" dirty="0">
                <a:solidFill>
                  <a:srgbClr val="231F20"/>
                </a:solidFill>
                <a:latin typeface="Oswald"/>
                <a:cs typeface="Oswald"/>
              </a:rPr>
              <a:t>A</a:t>
            </a:r>
            <a:r>
              <a:rPr sz="3600" i="1" dirty="0">
                <a:solidFill>
                  <a:srgbClr val="231F20"/>
                </a:solidFill>
                <a:latin typeface="Oswald"/>
                <a:cs typeface="Oswald"/>
              </a:rPr>
              <a:t>GER</a:t>
            </a:r>
            <a:endParaRPr sz="3600">
              <a:latin typeface="Oswald"/>
              <a:cs typeface="Oswa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31F2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294</Words>
  <Application>Microsoft Office PowerPoint</Application>
  <PresentationFormat>Personnalisé</PresentationFormat>
  <Paragraphs>45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8" baseType="lpstr">
      <vt:lpstr>Calibri</vt:lpstr>
      <vt:lpstr>Oswald</vt:lpstr>
      <vt:lpstr>Raleway</vt:lpstr>
      <vt:lpstr>Raleway-ExtraLight</vt:lpstr>
      <vt:lpstr>Raleway-Light</vt:lpstr>
      <vt:lpstr>Raleway-SemiBold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Estelle</dc:creator>
  <cp:lastModifiedBy>Estelle</cp:lastModifiedBy>
  <cp:revision>2</cp:revision>
  <dcterms:created xsi:type="dcterms:W3CDTF">2021-06-21T08:53:10Z</dcterms:created>
  <dcterms:modified xsi:type="dcterms:W3CDTF">2021-10-22T13:27:37Z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2021-06-21T00:00:00Z</vt:filetime>
  </property>
  <property fmtid="{D5CDD505-2E9C-101B-9397-08002B2CF9AE}" pid="3" name="Creator">
    <vt:lpwstr>Adobe InDesign 16.1 (Macintosh)</vt:lpwstr>
  </property>
  <property fmtid="{D5CDD505-2E9C-101B-9397-08002B2CF9AE}" pid="4" name="LastSaved">
    <vt:filetime>2021-06-21T00:00:00Z</vt:filetime>
  </property>
</Properties>
</file>