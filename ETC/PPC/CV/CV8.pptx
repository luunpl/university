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93400"/>
  <p:notesSz cx="7556500" cy="106934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51" d="100"/>
          <a:sy n="51" d="100"/>
        </p:scale>
        <p:origin x="254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lucasjones@gmail.com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54546" y="3971361"/>
            <a:ext cx="10795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30" dirty="0">
                <a:solidFill>
                  <a:srgbClr val="231F20"/>
                </a:solidFill>
                <a:latin typeface="Arial"/>
                <a:cs typeface="Arial"/>
              </a:rPr>
              <a:t>EDUCATION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52516" y="6195006"/>
            <a:ext cx="652145" cy="1611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sz="1600" spc="-155" dirty="0">
                <a:solidFill>
                  <a:srgbClr val="231F20"/>
                </a:solidFill>
                <a:latin typeface="Arial"/>
                <a:cs typeface="Arial"/>
              </a:rPr>
              <a:t>SKILLS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16700"/>
              </a:lnSpc>
              <a:spcBef>
                <a:spcPts val="765"/>
              </a:spcBef>
            </a:pP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French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 English </a:t>
            </a:r>
            <a:r>
              <a:rPr sz="1000" spc="5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Spanish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Chinese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oboto-Light"/>
                <a:cs typeface="Roboto-Light"/>
              </a:rPr>
              <a:t>P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ack </a:t>
            </a:r>
            <a:r>
              <a:rPr sz="1000" spc="-10" dirty="0">
                <a:solidFill>
                  <a:srgbClr val="231F20"/>
                </a:solidFill>
                <a:latin typeface="Roboto-Light"/>
                <a:cs typeface="Roboto-Light"/>
              </a:rPr>
              <a:t>Office 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Internet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oboto-Light"/>
                <a:cs typeface="Roboto-Light"/>
              </a:rPr>
              <a:t>Zoho</a:t>
            </a:r>
            <a:r>
              <a:rPr sz="1000" spc="-45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CRM</a:t>
            </a:r>
            <a:endParaRPr sz="1000">
              <a:latin typeface="Roboto-Light"/>
              <a:cs typeface="Roboto-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52514" y="8116833"/>
            <a:ext cx="1765935" cy="1256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sz="1600" spc="-195" dirty="0">
                <a:solidFill>
                  <a:srgbClr val="231F20"/>
                </a:solidFill>
                <a:latin typeface="Arial"/>
                <a:cs typeface="Arial"/>
              </a:rPr>
              <a:t>INTERESTS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50000"/>
              </a:lnSpc>
              <a:spcBef>
                <a:spcPts val="565"/>
              </a:spcBef>
            </a:pP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Ice skating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(Competition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level)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oboto-Light"/>
                <a:cs typeface="Roboto-Light"/>
              </a:rPr>
              <a:t>Windsurfing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(Competition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level) </a:t>
            </a:r>
            <a:r>
              <a:rPr sz="1000" spc="-229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Ballet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(12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 years)</a:t>
            </a:r>
            <a:endParaRPr sz="1000">
              <a:latin typeface="Roboto-Light"/>
              <a:cs typeface="Roboto-Light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Horse</a:t>
            </a:r>
            <a:r>
              <a:rPr sz="1000" spc="-15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Riding</a:t>
            </a:r>
            <a:r>
              <a:rPr sz="1000" spc="-15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(Galop</a:t>
            </a:r>
            <a:r>
              <a:rPr sz="1000" spc="-15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5)</a:t>
            </a:r>
            <a:endParaRPr sz="1000">
              <a:latin typeface="Roboto-Light"/>
              <a:cs typeface="Roboto-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5017" y="3947483"/>
            <a:ext cx="24917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20" dirty="0">
                <a:solidFill>
                  <a:srgbClr val="231F20"/>
                </a:solidFill>
                <a:latin typeface="Arial"/>
                <a:cs typeface="Arial"/>
              </a:rPr>
              <a:t>P</a:t>
            </a:r>
            <a:r>
              <a:rPr sz="1600" spc="-235" dirty="0">
                <a:solidFill>
                  <a:srgbClr val="231F20"/>
                </a:solidFill>
                <a:latin typeface="Arial"/>
                <a:cs typeface="Arial"/>
              </a:rPr>
              <a:t>R</a:t>
            </a:r>
            <a:r>
              <a:rPr sz="1600" spc="-145" dirty="0">
                <a:solidFill>
                  <a:srgbClr val="231F20"/>
                </a:solidFill>
                <a:latin typeface="Arial"/>
                <a:cs typeface="Arial"/>
              </a:rPr>
              <a:t>OFESSIONA</a:t>
            </a:r>
            <a:r>
              <a:rPr sz="1600" spc="-150" dirty="0">
                <a:solidFill>
                  <a:srgbClr val="231F20"/>
                </a:solidFill>
                <a:latin typeface="Arial"/>
                <a:cs typeface="Arial"/>
              </a:rPr>
              <a:t>L</a:t>
            </a:r>
            <a:r>
              <a:rPr sz="1600" spc="-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600" spc="-190" dirty="0">
                <a:solidFill>
                  <a:srgbClr val="231F20"/>
                </a:solidFill>
                <a:latin typeface="Arial"/>
                <a:cs typeface="Arial"/>
              </a:rPr>
              <a:t>EXPERIENCE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1051" y="4470402"/>
            <a:ext cx="315404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4990" marR="5080" indent="173355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231F20"/>
                </a:solidFill>
                <a:latin typeface="Roboto"/>
                <a:cs typeface="Roboto"/>
              </a:rPr>
              <a:t>Sales Manager  THEM</a:t>
            </a:r>
            <a:r>
              <a:rPr sz="1000" b="1" spc="-15" dirty="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sz="1000" b="1" spc="-20" dirty="0">
                <a:solidFill>
                  <a:srgbClr val="231F20"/>
                </a:solidFill>
                <a:latin typeface="Roboto"/>
                <a:cs typeface="Roboto"/>
              </a:rPr>
              <a:t>ALTIMA</a:t>
            </a:r>
            <a:r>
              <a:rPr sz="1000" b="1" spc="-10" dirty="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Roboto"/>
                <a:cs typeface="Roboto"/>
              </a:rPr>
              <a:t>GROUP</a:t>
            </a:r>
            <a:r>
              <a:rPr sz="1000" b="1" spc="-20" dirty="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sz="1000" b="1" dirty="0">
                <a:solidFill>
                  <a:srgbClr val="231F20"/>
                </a:solidFill>
                <a:latin typeface="Roboto"/>
                <a:cs typeface="Roboto"/>
              </a:rPr>
              <a:t>|</a:t>
            </a:r>
            <a:r>
              <a:rPr sz="1000" b="1" spc="-10" dirty="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Roboto"/>
                <a:cs typeface="Roboto"/>
              </a:rPr>
              <a:t>BEIJING</a:t>
            </a:r>
            <a:r>
              <a:rPr sz="1000" b="1" spc="-15" dirty="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sz="1000" b="1" dirty="0">
                <a:solidFill>
                  <a:srgbClr val="231F20"/>
                </a:solidFill>
                <a:latin typeface="Roboto"/>
                <a:cs typeface="Roboto"/>
              </a:rPr>
              <a:t>,</a:t>
            </a:r>
            <a:r>
              <a:rPr sz="1000" b="1" spc="-15" dirty="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sz="1000" b="1" dirty="0">
                <a:solidFill>
                  <a:srgbClr val="231F20"/>
                </a:solidFill>
                <a:latin typeface="Roboto"/>
                <a:cs typeface="Roboto"/>
              </a:rPr>
              <a:t>2013-2014</a:t>
            </a:r>
            <a:endParaRPr sz="1000">
              <a:latin typeface="Roboto"/>
              <a:cs typeface="Roboto"/>
            </a:endParaRPr>
          </a:p>
          <a:p>
            <a:pPr marL="12700" marR="5080" indent="312420" algn="r">
              <a:lnSpc>
                <a:spcPct val="100000"/>
              </a:lnSpc>
            </a:pP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In charge of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a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200 clients’ portfolio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&amp;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its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expansion; </a:t>
            </a:r>
            <a:r>
              <a:rPr sz="1000" spc="-229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Created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oboto-Light"/>
                <a:cs typeface="Roboto-Light"/>
              </a:rPr>
              <a:t>proposals,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set up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the </a:t>
            </a:r>
            <a:r>
              <a:rPr sz="1000" spc="-15" dirty="0">
                <a:solidFill>
                  <a:srgbClr val="231F20"/>
                </a:solidFill>
                <a:latin typeface="Roboto-Light"/>
                <a:cs typeface="Roboto-Light"/>
              </a:rPr>
              <a:t>project’s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scope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and</a:t>
            </a:r>
            <a:r>
              <a:rPr sz="1000" spc="5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settled </a:t>
            </a:r>
            <a:r>
              <a:rPr sz="1000" spc="-229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the Sales argumentation for potential leads in close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cooperation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with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the Board of Directors;</a:t>
            </a:r>
            <a:endParaRPr sz="1000">
              <a:latin typeface="Roboto-Light"/>
              <a:cs typeface="Roboto-Light"/>
            </a:endParaRPr>
          </a:p>
          <a:p>
            <a:pPr marL="777240" marR="5080" indent="-728980" algn="r">
              <a:lnSpc>
                <a:spcPct val="100000"/>
              </a:lnSpc>
            </a:pP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Proposed SEO/SEM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Digital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Strategies for leads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&amp;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clients </a:t>
            </a:r>
            <a:r>
              <a:rPr sz="1000" spc="-229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with</a:t>
            </a:r>
            <a:r>
              <a:rPr sz="1000" spc="-15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a</a:t>
            </a:r>
            <a:r>
              <a:rPr sz="1000" spc="-15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content</a:t>
            </a:r>
            <a:r>
              <a:rPr sz="1000" spc="-20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onsite</a:t>
            </a:r>
            <a:r>
              <a:rPr sz="1000" spc="-20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optimization</a:t>
            </a:r>
            <a:r>
              <a:rPr sz="1000" spc="-15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strategy</a:t>
            </a:r>
            <a:endParaRPr sz="1000">
              <a:latin typeface="Roboto-Light"/>
              <a:cs typeface="Roboto-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1051" y="5842002"/>
            <a:ext cx="315404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8055" marR="5715" indent="648335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231F20"/>
                </a:solidFill>
                <a:latin typeface="Roboto"/>
                <a:cs typeface="Roboto"/>
              </a:rPr>
              <a:t>Founder </a:t>
            </a:r>
            <a:r>
              <a:rPr sz="1000" b="1" spc="-5" dirty="0">
                <a:solidFill>
                  <a:srgbClr val="231F20"/>
                </a:solidFill>
                <a:latin typeface="Roboto"/>
                <a:cs typeface="Roboto"/>
              </a:rPr>
              <a:t>and </a:t>
            </a:r>
            <a:r>
              <a:rPr sz="1000" b="1" dirty="0">
                <a:solidFill>
                  <a:srgbClr val="231F20"/>
                </a:solidFill>
                <a:latin typeface="Roboto"/>
                <a:cs typeface="Roboto"/>
              </a:rPr>
              <a:t>Sales </a:t>
            </a:r>
            <a:r>
              <a:rPr sz="1000" b="1" spc="-5" dirty="0">
                <a:solidFill>
                  <a:srgbClr val="231F20"/>
                </a:solidFill>
                <a:latin typeface="Roboto"/>
                <a:cs typeface="Roboto"/>
              </a:rPr>
              <a:t>Director </a:t>
            </a:r>
            <a:r>
              <a:rPr sz="1000" b="1" spc="-235" dirty="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sz="1000" b="1" spc="-20" dirty="0">
                <a:solidFill>
                  <a:srgbClr val="231F20"/>
                </a:solidFill>
                <a:latin typeface="Roboto"/>
                <a:cs typeface="Roboto"/>
              </a:rPr>
              <a:t>MYCVFACTORY</a:t>
            </a:r>
            <a:r>
              <a:rPr sz="1000" b="1" spc="-30" dirty="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sz="1000" b="1" dirty="0">
                <a:solidFill>
                  <a:srgbClr val="231F20"/>
                </a:solidFill>
                <a:latin typeface="Roboto"/>
                <a:cs typeface="Roboto"/>
              </a:rPr>
              <a:t>|</a:t>
            </a:r>
            <a:r>
              <a:rPr sz="1000" b="1" spc="-20" dirty="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Roboto"/>
                <a:cs typeface="Roboto"/>
              </a:rPr>
              <a:t>BEIJING</a:t>
            </a:r>
            <a:r>
              <a:rPr sz="1000" b="1" spc="-25" dirty="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sz="1000" b="1" dirty="0">
                <a:solidFill>
                  <a:srgbClr val="231F20"/>
                </a:solidFill>
                <a:latin typeface="Roboto"/>
                <a:cs typeface="Roboto"/>
              </a:rPr>
              <a:t>,</a:t>
            </a:r>
            <a:r>
              <a:rPr sz="1000" b="1" spc="-25" dirty="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sz="1000" b="1" dirty="0">
                <a:solidFill>
                  <a:srgbClr val="231F20"/>
                </a:solidFill>
                <a:latin typeface="Roboto"/>
                <a:cs typeface="Roboto"/>
              </a:rPr>
              <a:t>2013-2014</a:t>
            </a:r>
            <a:endParaRPr sz="1000">
              <a:latin typeface="Roboto"/>
              <a:cs typeface="Roboto"/>
            </a:endParaRPr>
          </a:p>
          <a:p>
            <a:pPr marL="12700" marR="5080" indent="312420" algn="r">
              <a:lnSpc>
                <a:spcPct val="100000"/>
              </a:lnSpc>
            </a:pP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In charge of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a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200 clients’ portfolio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&amp;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its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expansion; </a:t>
            </a:r>
            <a:r>
              <a:rPr sz="1000" spc="-229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Created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oboto-Light"/>
                <a:cs typeface="Roboto-Light"/>
              </a:rPr>
              <a:t>proposals,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set up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the </a:t>
            </a:r>
            <a:r>
              <a:rPr sz="1000" spc="-15" dirty="0">
                <a:solidFill>
                  <a:srgbClr val="231F20"/>
                </a:solidFill>
                <a:latin typeface="Roboto-Light"/>
                <a:cs typeface="Roboto-Light"/>
              </a:rPr>
              <a:t>project’s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scope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and</a:t>
            </a:r>
            <a:r>
              <a:rPr sz="1000" spc="5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settled </a:t>
            </a:r>
            <a:r>
              <a:rPr sz="1000" spc="-229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the Sales argumentation for potential leads in close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cooperation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with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the Board of Directors;</a:t>
            </a:r>
            <a:endParaRPr sz="1000">
              <a:latin typeface="Roboto-Light"/>
              <a:cs typeface="Roboto-Light"/>
            </a:endParaRPr>
          </a:p>
          <a:p>
            <a:pPr marL="777240" marR="5080" indent="-728980" algn="r">
              <a:lnSpc>
                <a:spcPct val="100000"/>
              </a:lnSpc>
            </a:pP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Proposed SEO/SEM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Digital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Strategies for leads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&amp;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clients </a:t>
            </a:r>
            <a:r>
              <a:rPr sz="1000" spc="-229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with</a:t>
            </a:r>
            <a:r>
              <a:rPr sz="1000" spc="-15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a</a:t>
            </a:r>
            <a:r>
              <a:rPr sz="1000" spc="-15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content</a:t>
            </a:r>
            <a:r>
              <a:rPr sz="1000" spc="-20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onsite</a:t>
            </a:r>
            <a:r>
              <a:rPr sz="1000" spc="-20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optimization</a:t>
            </a:r>
            <a:r>
              <a:rPr sz="1000" spc="-15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strategy</a:t>
            </a:r>
            <a:endParaRPr sz="1000">
              <a:latin typeface="Roboto-Light"/>
              <a:cs typeface="Roboto-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1051" y="7213603"/>
            <a:ext cx="315404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" marR="5080" indent="991235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231F20"/>
                </a:solidFill>
                <a:latin typeface="Roboto"/>
                <a:cs typeface="Roboto"/>
              </a:rPr>
              <a:t>Commercial </a:t>
            </a:r>
            <a:r>
              <a:rPr sz="1000" b="1" spc="-5" dirty="0">
                <a:solidFill>
                  <a:srgbClr val="231F20"/>
                </a:solidFill>
                <a:latin typeface="Roboto"/>
                <a:cs typeface="Roboto"/>
              </a:rPr>
              <a:t>and </a:t>
            </a:r>
            <a:r>
              <a:rPr sz="1000" b="1" dirty="0">
                <a:solidFill>
                  <a:srgbClr val="231F20"/>
                </a:solidFill>
                <a:latin typeface="Roboto"/>
                <a:cs typeface="Roboto"/>
              </a:rPr>
              <a:t>Logistics Assistant </a:t>
            </a:r>
            <a:r>
              <a:rPr sz="1000" b="1" spc="-235" dirty="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sz="1000" b="1" dirty="0">
                <a:solidFill>
                  <a:srgbClr val="231F20"/>
                </a:solidFill>
                <a:latin typeface="Roboto"/>
                <a:cs typeface="Roboto"/>
              </a:rPr>
              <a:t>3SUISSES</a:t>
            </a:r>
            <a:r>
              <a:rPr sz="1000" b="1" spc="-10" dirty="0">
                <a:solidFill>
                  <a:srgbClr val="231F20"/>
                </a:solidFill>
                <a:latin typeface="Roboto"/>
                <a:cs typeface="Roboto"/>
              </a:rPr>
              <a:t> INTERNATIONAL</a:t>
            </a:r>
            <a:r>
              <a:rPr sz="1000" b="1" spc="-5" dirty="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sz="1000" b="1" dirty="0">
                <a:solidFill>
                  <a:srgbClr val="231F20"/>
                </a:solidFill>
                <a:latin typeface="Roboto"/>
                <a:cs typeface="Roboto"/>
              </a:rPr>
              <a:t>|</a:t>
            </a:r>
            <a:r>
              <a:rPr sz="1000" b="1" spc="-5" dirty="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sz="1000" b="1" dirty="0">
                <a:solidFill>
                  <a:srgbClr val="231F20"/>
                </a:solidFill>
                <a:latin typeface="Roboto"/>
                <a:cs typeface="Roboto"/>
              </a:rPr>
              <a:t>SHANGHAI</a:t>
            </a:r>
            <a:r>
              <a:rPr sz="1000" b="1" spc="-5" dirty="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sz="1000" b="1" dirty="0">
                <a:solidFill>
                  <a:srgbClr val="231F20"/>
                </a:solidFill>
                <a:latin typeface="Roboto"/>
                <a:cs typeface="Roboto"/>
              </a:rPr>
              <a:t>,</a:t>
            </a:r>
            <a:r>
              <a:rPr sz="1000" b="1" spc="-10" dirty="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sz="1000" b="1" dirty="0">
                <a:solidFill>
                  <a:srgbClr val="231F20"/>
                </a:solidFill>
                <a:latin typeface="Roboto"/>
                <a:cs typeface="Roboto"/>
              </a:rPr>
              <a:t>2013-2014</a:t>
            </a:r>
            <a:endParaRPr sz="1000">
              <a:latin typeface="Roboto"/>
              <a:cs typeface="Roboto"/>
            </a:endParaRPr>
          </a:p>
          <a:p>
            <a:pPr marL="12700" marR="5080" indent="312420" algn="r">
              <a:lnSpc>
                <a:spcPct val="100000"/>
              </a:lnSpc>
            </a:pP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In charge of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a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200 clients’ portfolio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&amp;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its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expansion; </a:t>
            </a:r>
            <a:r>
              <a:rPr sz="1000" spc="-229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Created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oboto-Light"/>
                <a:cs typeface="Roboto-Light"/>
              </a:rPr>
              <a:t>proposals,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set up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the </a:t>
            </a:r>
            <a:r>
              <a:rPr sz="1000" spc="-15" dirty="0">
                <a:solidFill>
                  <a:srgbClr val="231F20"/>
                </a:solidFill>
                <a:latin typeface="Roboto-Light"/>
                <a:cs typeface="Roboto-Light"/>
              </a:rPr>
              <a:t>project’s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scope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and</a:t>
            </a:r>
            <a:r>
              <a:rPr sz="1000" spc="5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settled </a:t>
            </a:r>
            <a:r>
              <a:rPr sz="1000" spc="-229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the Sales argumentation for potential leads in close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cooperation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with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the Board of Directors;</a:t>
            </a:r>
            <a:endParaRPr sz="1000">
              <a:latin typeface="Roboto-Light"/>
              <a:cs typeface="Roboto-Light"/>
            </a:endParaRPr>
          </a:p>
          <a:p>
            <a:pPr marL="777240" marR="5080" indent="-728980" algn="r">
              <a:lnSpc>
                <a:spcPct val="100000"/>
              </a:lnSpc>
            </a:pP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Proposed SEO/SEM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Digital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Strategies for leads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&amp;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clients </a:t>
            </a:r>
            <a:r>
              <a:rPr sz="1000" spc="-229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with</a:t>
            </a:r>
            <a:r>
              <a:rPr sz="1000" spc="-15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a</a:t>
            </a:r>
            <a:r>
              <a:rPr sz="1000" spc="-15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content</a:t>
            </a:r>
            <a:r>
              <a:rPr sz="1000" spc="-20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onsite</a:t>
            </a:r>
            <a:r>
              <a:rPr sz="1000" spc="-20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optimization</a:t>
            </a:r>
            <a:r>
              <a:rPr sz="1000" spc="-15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strategy</a:t>
            </a:r>
            <a:endParaRPr sz="1000">
              <a:latin typeface="Roboto-Light"/>
              <a:cs typeface="Roboto-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52516" y="4489806"/>
            <a:ext cx="19951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International</a:t>
            </a:r>
            <a:r>
              <a:rPr sz="1000" spc="-25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Business</a:t>
            </a:r>
            <a:endParaRPr sz="1000">
              <a:latin typeface="Roboto-Light"/>
              <a:cs typeface="Roboto-Light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Msc</a:t>
            </a:r>
            <a:r>
              <a:rPr sz="1000" spc="-15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oboto-Light"/>
                <a:cs typeface="Roboto-Light"/>
              </a:rPr>
              <a:t>France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+</a:t>
            </a:r>
            <a:r>
              <a:rPr sz="1000" spc="-15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China</a:t>
            </a:r>
            <a:r>
              <a:rPr sz="1000" spc="-15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+</a:t>
            </a:r>
            <a:r>
              <a:rPr sz="1000" spc="-10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USA</a:t>
            </a:r>
            <a:r>
              <a:rPr sz="1000" spc="-15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Campus</a:t>
            </a:r>
            <a:endParaRPr sz="1000">
              <a:latin typeface="Roboto-Light"/>
              <a:cs typeface="Roboto-Light"/>
            </a:endParaRPr>
          </a:p>
          <a:p>
            <a:pPr marL="12700">
              <a:lnSpc>
                <a:spcPct val="100000"/>
              </a:lnSpc>
            </a:pPr>
            <a:r>
              <a:rPr sz="1000" b="1" spc="-5" dirty="0">
                <a:solidFill>
                  <a:srgbClr val="231F20"/>
                </a:solidFill>
                <a:latin typeface="Roboto"/>
                <a:cs typeface="Roboto"/>
              </a:rPr>
              <a:t>XXXX</a:t>
            </a:r>
            <a:r>
              <a:rPr sz="1000" b="1" spc="-50" dirty="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Roboto"/>
                <a:cs typeface="Roboto"/>
              </a:rPr>
              <a:t>BUSINESS</a:t>
            </a:r>
            <a:r>
              <a:rPr sz="1000" b="1" spc="-50" dirty="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sz="1000" b="1" dirty="0">
                <a:solidFill>
                  <a:srgbClr val="231F20"/>
                </a:solidFill>
                <a:latin typeface="Roboto"/>
                <a:cs typeface="Roboto"/>
              </a:rPr>
              <a:t>SCHOOL</a:t>
            </a:r>
            <a:endParaRPr sz="10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000" b="1" spc="-5" dirty="0">
                <a:solidFill>
                  <a:srgbClr val="231F20"/>
                </a:solidFill>
                <a:latin typeface="Roboto"/>
                <a:cs typeface="Roboto"/>
              </a:rPr>
              <a:t>Paris,</a:t>
            </a:r>
            <a:r>
              <a:rPr sz="1000" b="1" spc="-35" dirty="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sz="1000" b="1" spc="-10" dirty="0">
                <a:solidFill>
                  <a:srgbClr val="231F20"/>
                </a:solidFill>
                <a:latin typeface="Roboto"/>
                <a:cs typeface="Roboto"/>
              </a:rPr>
              <a:t>France</a:t>
            </a:r>
            <a:r>
              <a:rPr sz="1000" b="1" spc="-35" dirty="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sz="1000" b="1" dirty="0">
                <a:solidFill>
                  <a:srgbClr val="231F20"/>
                </a:solidFill>
                <a:latin typeface="Roboto"/>
                <a:cs typeface="Roboto"/>
              </a:rPr>
              <a:t>,</a:t>
            </a:r>
            <a:r>
              <a:rPr sz="1000" b="1" spc="-30" dirty="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sz="1000" b="1" dirty="0">
                <a:solidFill>
                  <a:srgbClr val="231F20"/>
                </a:solidFill>
                <a:latin typeface="Roboto"/>
                <a:cs typeface="Roboto"/>
              </a:rPr>
              <a:t>2013-2014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52516" y="5251806"/>
            <a:ext cx="19951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International</a:t>
            </a:r>
            <a:r>
              <a:rPr sz="1000" spc="-25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Business</a:t>
            </a:r>
            <a:endParaRPr sz="1000">
              <a:latin typeface="Roboto-Light"/>
              <a:cs typeface="Roboto-Light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Msc</a:t>
            </a:r>
            <a:r>
              <a:rPr sz="1000" spc="-15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oboto-Light"/>
                <a:cs typeface="Roboto-Light"/>
              </a:rPr>
              <a:t>France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+</a:t>
            </a:r>
            <a:r>
              <a:rPr sz="1000" spc="-15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China</a:t>
            </a:r>
            <a:r>
              <a:rPr sz="1000" spc="-15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+</a:t>
            </a:r>
            <a:r>
              <a:rPr sz="1000" spc="-10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USA</a:t>
            </a:r>
            <a:r>
              <a:rPr sz="1000" spc="-15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Campus</a:t>
            </a:r>
            <a:endParaRPr sz="1000">
              <a:latin typeface="Roboto-Light"/>
              <a:cs typeface="Roboto-Light"/>
            </a:endParaRPr>
          </a:p>
          <a:p>
            <a:pPr marL="12700">
              <a:lnSpc>
                <a:spcPct val="100000"/>
              </a:lnSpc>
            </a:pPr>
            <a:r>
              <a:rPr sz="1000" b="1" spc="-5" dirty="0">
                <a:solidFill>
                  <a:srgbClr val="231F20"/>
                </a:solidFill>
                <a:latin typeface="Roboto"/>
                <a:cs typeface="Roboto"/>
              </a:rPr>
              <a:t>XXXX</a:t>
            </a:r>
            <a:r>
              <a:rPr sz="1000" b="1" spc="-50" dirty="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Roboto"/>
                <a:cs typeface="Roboto"/>
              </a:rPr>
              <a:t>BUSINESS</a:t>
            </a:r>
            <a:r>
              <a:rPr sz="1000" b="1" spc="-50" dirty="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sz="1000" b="1" dirty="0">
                <a:solidFill>
                  <a:srgbClr val="231F20"/>
                </a:solidFill>
                <a:latin typeface="Roboto"/>
                <a:cs typeface="Roboto"/>
              </a:rPr>
              <a:t>SCHOOL</a:t>
            </a:r>
            <a:endParaRPr sz="10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000" b="1" spc="-5" dirty="0">
                <a:solidFill>
                  <a:srgbClr val="231F20"/>
                </a:solidFill>
                <a:latin typeface="Roboto"/>
                <a:cs typeface="Roboto"/>
              </a:rPr>
              <a:t>Paris,</a:t>
            </a:r>
            <a:r>
              <a:rPr sz="1000" b="1" spc="-35" dirty="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sz="1000" b="1" spc="-10" dirty="0">
                <a:solidFill>
                  <a:srgbClr val="231F20"/>
                </a:solidFill>
                <a:latin typeface="Roboto"/>
                <a:cs typeface="Roboto"/>
              </a:rPr>
              <a:t>France</a:t>
            </a:r>
            <a:r>
              <a:rPr sz="1000" b="1" spc="-35" dirty="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sz="1000" b="1" dirty="0">
                <a:solidFill>
                  <a:srgbClr val="231F20"/>
                </a:solidFill>
                <a:latin typeface="Roboto"/>
                <a:cs typeface="Roboto"/>
              </a:rPr>
              <a:t>,</a:t>
            </a:r>
            <a:r>
              <a:rPr sz="1000" b="1" spc="-30" dirty="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sz="1000" b="1" dirty="0">
                <a:solidFill>
                  <a:srgbClr val="231F20"/>
                </a:solidFill>
                <a:latin typeface="Roboto"/>
                <a:cs typeface="Roboto"/>
              </a:rPr>
              <a:t>2013-2014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7219" y="221286"/>
            <a:ext cx="7664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37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1600" spc="-229" dirty="0">
                <a:solidFill>
                  <a:srgbClr val="231F20"/>
                </a:solidFill>
                <a:latin typeface="Arial"/>
                <a:cs typeface="Arial"/>
              </a:rPr>
              <a:t>ON</a:t>
            </a:r>
            <a:r>
              <a:rPr sz="1600" spc="-409" dirty="0">
                <a:solidFill>
                  <a:srgbClr val="231F20"/>
                </a:solidFill>
                <a:latin typeface="Arial"/>
                <a:cs typeface="Arial"/>
              </a:rPr>
              <a:t>T</a:t>
            </a:r>
            <a:r>
              <a:rPr sz="1600" spc="-22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600" spc="-29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1600" spc="-185" dirty="0">
                <a:solidFill>
                  <a:srgbClr val="231F20"/>
                </a:solidFill>
                <a:latin typeface="Arial"/>
                <a:cs typeface="Arial"/>
              </a:rPr>
              <a:t>T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34950" y="234950"/>
            <a:ext cx="381635" cy="276860"/>
          </a:xfrm>
          <a:custGeom>
            <a:avLst/>
            <a:gdLst/>
            <a:ahLst/>
            <a:cxnLst/>
            <a:rect l="l" t="t" r="r" b="b"/>
            <a:pathLst>
              <a:path w="381634" h="276859">
                <a:moveTo>
                  <a:pt x="381228" y="0"/>
                </a:moveTo>
                <a:lnTo>
                  <a:pt x="0" y="0"/>
                </a:lnTo>
                <a:lnTo>
                  <a:pt x="0" y="276669"/>
                </a:lnTo>
                <a:lnTo>
                  <a:pt x="381228" y="276669"/>
                </a:lnTo>
                <a:lnTo>
                  <a:pt x="381228" y="0"/>
                </a:lnTo>
                <a:close/>
              </a:path>
            </a:pathLst>
          </a:custGeom>
          <a:solidFill>
            <a:srgbClr val="FAA8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50034" y="228600"/>
            <a:ext cx="5810250" cy="276860"/>
          </a:xfrm>
          <a:custGeom>
            <a:avLst/>
            <a:gdLst/>
            <a:ahLst/>
            <a:cxnLst/>
            <a:rect l="l" t="t" r="r" b="b"/>
            <a:pathLst>
              <a:path w="5810250" h="276859">
                <a:moveTo>
                  <a:pt x="5809957" y="0"/>
                </a:moveTo>
                <a:lnTo>
                  <a:pt x="0" y="0"/>
                </a:lnTo>
                <a:lnTo>
                  <a:pt x="0" y="276669"/>
                </a:lnTo>
                <a:lnTo>
                  <a:pt x="5809957" y="276669"/>
                </a:lnTo>
                <a:lnTo>
                  <a:pt x="5809957" y="0"/>
                </a:lnTo>
                <a:close/>
              </a:path>
            </a:pathLst>
          </a:custGeom>
          <a:solidFill>
            <a:srgbClr val="4A4F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28600" y="10186734"/>
            <a:ext cx="7103109" cy="276860"/>
          </a:xfrm>
          <a:custGeom>
            <a:avLst/>
            <a:gdLst/>
            <a:ahLst/>
            <a:cxnLst/>
            <a:rect l="l" t="t" r="r" b="b"/>
            <a:pathLst>
              <a:path w="7103109" h="276859">
                <a:moveTo>
                  <a:pt x="7102805" y="0"/>
                </a:moveTo>
                <a:lnTo>
                  <a:pt x="0" y="0"/>
                </a:lnTo>
                <a:lnTo>
                  <a:pt x="0" y="276669"/>
                </a:lnTo>
                <a:lnTo>
                  <a:pt x="7102805" y="276669"/>
                </a:lnTo>
                <a:lnTo>
                  <a:pt x="7102805" y="0"/>
                </a:lnTo>
                <a:close/>
              </a:path>
            </a:pathLst>
          </a:custGeom>
          <a:solidFill>
            <a:srgbClr val="4A4F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109392" y="279192"/>
            <a:ext cx="99441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FFFFFF"/>
                </a:solidFill>
                <a:latin typeface="Roboto-Light"/>
                <a:cs typeface="Roboto-Light"/>
              </a:rPr>
              <a:t>+336</a:t>
            </a:r>
            <a:r>
              <a:rPr sz="1000" spc="-25" dirty="0">
                <a:solidFill>
                  <a:srgbClr val="FFFFFF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Roboto-Light"/>
                <a:cs typeface="Roboto-Light"/>
              </a:rPr>
              <a:t>74</a:t>
            </a:r>
            <a:r>
              <a:rPr sz="1000" spc="-20" dirty="0">
                <a:solidFill>
                  <a:srgbClr val="FFFFFF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Roboto-Light"/>
                <a:cs typeface="Roboto-Light"/>
              </a:rPr>
              <a:t>11</a:t>
            </a:r>
            <a:r>
              <a:rPr sz="1000" spc="-25" dirty="0">
                <a:solidFill>
                  <a:srgbClr val="FFFFFF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Roboto-Light"/>
                <a:cs typeface="Roboto-Light"/>
              </a:rPr>
              <a:t>36</a:t>
            </a:r>
            <a:r>
              <a:rPr sz="1000" spc="-20" dirty="0">
                <a:solidFill>
                  <a:srgbClr val="FFFFFF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Roboto-Light"/>
                <a:cs typeface="Roboto-Light"/>
              </a:rPr>
              <a:t>35</a:t>
            </a:r>
            <a:endParaRPr sz="1000">
              <a:latin typeface="Roboto-Light"/>
              <a:cs typeface="Roboto-Ligh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32178" y="279192"/>
            <a:ext cx="14674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Roboto-Light"/>
                <a:cs typeface="Roboto-Light"/>
              </a:rPr>
              <a:t>/</a:t>
            </a:r>
            <a:r>
              <a:rPr sz="1000" spc="165" dirty="0">
                <a:solidFill>
                  <a:srgbClr val="FFFFFF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Roboto-Light"/>
                <a:cs typeface="Roboto-Light"/>
                <a:hlinkClick r:id="rId2"/>
              </a:rPr>
              <a:t>lucasjones@gmail.com</a:t>
            </a:r>
            <a:endParaRPr sz="1000">
              <a:latin typeface="Roboto-Light"/>
              <a:cs typeface="Roboto-Ligh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27957" y="279192"/>
            <a:ext cx="839469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Roboto-Light"/>
                <a:cs typeface="Roboto-Light"/>
              </a:rPr>
              <a:t>/</a:t>
            </a:r>
            <a:r>
              <a:rPr sz="1000" spc="190" dirty="0">
                <a:solidFill>
                  <a:srgbClr val="FFFFFF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Roboto-Light"/>
                <a:cs typeface="Roboto-Light"/>
              </a:rPr>
              <a:t>Bradford,</a:t>
            </a:r>
            <a:r>
              <a:rPr sz="1000" spc="-25" dirty="0">
                <a:solidFill>
                  <a:srgbClr val="FFFFFF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Roboto-Light"/>
                <a:cs typeface="Roboto-Light"/>
              </a:rPr>
              <a:t>UK</a:t>
            </a:r>
            <a:endParaRPr sz="1000">
              <a:latin typeface="Roboto-Light"/>
              <a:cs typeface="Roboto-Ligh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96316" y="279192"/>
            <a:ext cx="11156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Roboto-Light"/>
                <a:cs typeface="Roboto-Light"/>
              </a:rPr>
              <a:t>/</a:t>
            </a:r>
            <a:r>
              <a:rPr sz="1000" spc="180" dirty="0">
                <a:solidFill>
                  <a:srgbClr val="FFFFFF"/>
                </a:solidFill>
                <a:latin typeface="Roboto-Light"/>
                <a:cs typeface="Roboto-Light"/>
              </a:rPr>
              <a:t> </a:t>
            </a:r>
            <a:r>
              <a:rPr sz="1000" dirty="0">
                <a:solidFill>
                  <a:srgbClr val="FFFFFF"/>
                </a:solidFill>
                <a:latin typeface="Roboto-Light"/>
                <a:cs typeface="Roboto-Light"/>
              </a:rPr>
              <a:t>British</a:t>
            </a:r>
            <a:r>
              <a:rPr sz="1000" spc="-30" dirty="0">
                <a:solidFill>
                  <a:srgbClr val="FFFFFF"/>
                </a:solidFill>
                <a:latin typeface="Roboto-Light"/>
                <a:cs typeface="Roboto-Light"/>
              </a:rPr>
              <a:t> </a:t>
            </a:r>
            <a:r>
              <a:rPr sz="1000" dirty="0">
                <a:solidFill>
                  <a:srgbClr val="FFFFFF"/>
                </a:solidFill>
                <a:latin typeface="Roboto-Light"/>
                <a:cs typeface="Roboto-Light"/>
              </a:rPr>
              <a:t>Nationality</a:t>
            </a:r>
            <a:endParaRPr sz="1000">
              <a:latin typeface="Roboto-Light"/>
              <a:cs typeface="Roboto-Ligh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34950" y="1069403"/>
            <a:ext cx="7319009" cy="2371090"/>
            <a:chOff x="234950" y="1069403"/>
            <a:chExt cx="7319009" cy="2371090"/>
          </a:xfrm>
        </p:grpSpPr>
        <p:sp>
          <p:nvSpPr>
            <p:cNvPr id="20" name="object 20"/>
            <p:cNvSpPr/>
            <p:nvPr/>
          </p:nvSpPr>
          <p:spPr>
            <a:xfrm>
              <a:off x="234950" y="1069403"/>
              <a:ext cx="3644900" cy="2371090"/>
            </a:xfrm>
            <a:custGeom>
              <a:avLst/>
              <a:gdLst/>
              <a:ahLst/>
              <a:cxnLst/>
              <a:rect l="l" t="t" r="r" b="b"/>
              <a:pathLst>
                <a:path w="3644900" h="2371090">
                  <a:moveTo>
                    <a:pt x="3644900" y="0"/>
                  </a:moveTo>
                  <a:lnTo>
                    <a:pt x="0" y="0"/>
                  </a:lnTo>
                  <a:lnTo>
                    <a:pt x="0" y="2371089"/>
                  </a:lnTo>
                  <a:lnTo>
                    <a:pt x="3644900" y="2371089"/>
                  </a:lnTo>
                  <a:lnTo>
                    <a:pt x="3644900" y="0"/>
                  </a:lnTo>
                  <a:close/>
                </a:path>
              </a:pathLst>
            </a:custGeom>
            <a:solidFill>
              <a:srgbClr val="4A4F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80586" y="1069403"/>
              <a:ext cx="3673475" cy="2371090"/>
            </a:xfrm>
            <a:custGeom>
              <a:avLst/>
              <a:gdLst/>
              <a:ahLst/>
              <a:cxnLst/>
              <a:rect l="l" t="t" r="r" b="b"/>
              <a:pathLst>
                <a:path w="3673475" h="2371090">
                  <a:moveTo>
                    <a:pt x="3673068" y="0"/>
                  </a:moveTo>
                  <a:lnTo>
                    <a:pt x="0" y="0"/>
                  </a:lnTo>
                  <a:lnTo>
                    <a:pt x="0" y="2371089"/>
                  </a:lnTo>
                  <a:lnTo>
                    <a:pt x="3673068" y="2371089"/>
                  </a:lnTo>
                  <a:lnTo>
                    <a:pt x="3673068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323052" y="2112055"/>
            <a:ext cx="247523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143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After</a:t>
            </a:r>
            <a:r>
              <a:rPr sz="1000" spc="35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2</a:t>
            </a:r>
            <a:r>
              <a:rPr sz="1000" spc="30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years</a:t>
            </a:r>
            <a:r>
              <a:rPr sz="1000" spc="35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in</a:t>
            </a:r>
            <a:r>
              <a:rPr sz="1000" spc="30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Sales</a:t>
            </a:r>
            <a:r>
              <a:rPr sz="1000" spc="30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&amp;</a:t>
            </a:r>
            <a:r>
              <a:rPr sz="1000" spc="30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Marketing,</a:t>
            </a:r>
            <a:r>
              <a:rPr sz="1000" spc="40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I</a:t>
            </a:r>
            <a:r>
              <a:rPr sz="1000" spc="30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am </a:t>
            </a:r>
            <a:r>
              <a:rPr sz="1000" spc="5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now looking for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a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new opportunity in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Beijing </a:t>
            </a:r>
            <a:r>
              <a:rPr sz="1000" spc="-229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as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a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 Sales</a:t>
            </a:r>
            <a:r>
              <a:rPr sz="1000" spc="-10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15" dirty="0">
                <a:solidFill>
                  <a:srgbClr val="231F20"/>
                </a:solidFill>
                <a:latin typeface="Roboto-Light"/>
                <a:cs typeface="Roboto-Light"/>
              </a:rPr>
              <a:t>Manager.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I</a:t>
            </a:r>
            <a:r>
              <a:rPr sz="1000" spc="-10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would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 like to</a:t>
            </a:r>
            <a:r>
              <a:rPr sz="1000" spc="-10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join</a:t>
            </a:r>
            <a:r>
              <a:rPr sz="1000" spc="-10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an</a:t>
            </a:r>
            <a:endParaRPr sz="1000">
              <a:latin typeface="Roboto-Light"/>
              <a:cs typeface="Roboto-Light"/>
            </a:endParaRPr>
          </a:p>
          <a:p>
            <a:pPr marR="5080">
              <a:lnSpc>
                <a:spcPct val="100000"/>
              </a:lnSpc>
            </a:pP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International Company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with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the possibility to </a:t>
            </a:r>
            <a:r>
              <a:rPr sz="1000" spc="-229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contribute</a:t>
            </a:r>
            <a:r>
              <a:rPr sz="1000" spc="-10" dirty="0">
                <a:solidFill>
                  <a:srgbClr val="231F20"/>
                </a:solidFill>
                <a:latin typeface="Roboto-Light"/>
                <a:cs typeface="Roboto-Light"/>
              </a:rPr>
              <a:t> </a:t>
            </a:r>
            <a:r>
              <a:rPr sz="1000" dirty="0">
                <a:solidFill>
                  <a:srgbClr val="231F20"/>
                </a:solidFill>
                <a:latin typeface="Roboto-Light"/>
                <a:cs typeface="Roboto-Light"/>
              </a:rPr>
              <a:t>and </a:t>
            </a:r>
            <a:r>
              <a:rPr sz="1000" spc="-5" dirty="0">
                <a:solidFill>
                  <a:srgbClr val="231F20"/>
                </a:solidFill>
                <a:latin typeface="Roboto-Light"/>
                <a:cs typeface="Roboto-Light"/>
              </a:rPr>
              <a:t>learn.</a:t>
            </a:r>
            <a:endParaRPr sz="1000">
              <a:latin typeface="Roboto-Light"/>
              <a:cs typeface="Roboto-Ligh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4950" y="1069403"/>
            <a:ext cx="3651250" cy="1649730"/>
          </a:xfrm>
          <a:prstGeom prst="rect">
            <a:avLst/>
          </a:prstGeom>
          <a:solidFill>
            <a:srgbClr val="4A4F5A"/>
          </a:solidFill>
        </p:spPr>
        <p:txBody>
          <a:bodyPr vert="horz" wrap="square" lIns="0" tIns="307340" rIns="0" bIns="0" rtlCol="0">
            <a:spAutoFit/>
          </a:bodyPr>
          <a:lstStyle/>
          <a:p>
            <a:pPr marL="1772920" marR="477520" indent="-69215">
              <a:lnSpc>
                <a:spcPts val="4800"/>
              </a:lnSpc>
              <a:spcBef>
                <a:spcPts val="2420"/>
              </a:spcBef>
            </a:pPr>
            <a:r>
              <a:rPr sz="4800" spc="380" dirty="0">
                <a:solidFill>
                  <a:srgbClr val="FFFFFF"/>
                </a:solidFill>
                <a:latin typeface="Bebas Neue Regular"/>
                <a:cs typeface="Bebas Neue Regular"/>
              </a:rPr>
              <a:t>LUCAS </a:t>
            </a:r>
            <a:r>
              <a:rPr sz="4800" spc="-730" dirty="0">
                <a:solidFill>
                  <a:srgbClr val="FFFFFF"/>
                </a:solidFill>
                <a:latin typeface="Bebas Neue Regular"/>
                <a:cs typeface="Bebas Neue Regular"/>
              </a:rPr>
              <a:t> </a:t>
            </a:r>
            <a:r>
              <a:rPr sz="4800" spc="380" dirty="0">
                <a:solidFill>
                  <a:srgbClr val="FAA81E"/>
                </a:solidFill>
                <a:latin typeface="Bebas Neue Regular"/>
                <a:cs typeface="Bebas Neue Regular"/>
              </a:rPr>
              <a:t>JONES</a:t>
            </a:r>
            <a:r>
              <a:rPr sz="4800" spc="-265" dirty="0">
                <a:solidFill>
                  <a:srgbClr val="FAA81E"/>
                </a:solidFill>
                <a:latin typeface="Bebas Neue Regular"/>
                <a:cs typeface="Bebas Neue Regular"/>
              </a:rPr>
              <a:t> </a:t>
            </a:r>
            <a:endParaRPr sz="4800">
              <a:latin typeface="Bebas Neue Regular"/>
              <a:cs typeface="Bebas Neue Regular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969490" y="2718625"/>
            <a:ext cx="1917064" cy="422909"/>
          </a:xfrm>
          <a:prstGeom prst="rect">
            <a:avLst/>
          </a:prstGeom>
          <a:solidFill>
            <a:srgbClr val="FAA81E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imes New Roman"/>
              <a:cs typeface="Times New Roman"/>
            </a:endParaRPr>
          </a:p>
          <a:p>
            <a:pPr marL="407670">
              <a:lnSpc>
                <a:spcPct val="100000"/>
              </a:lnSpc>
              <a:spcBef>
                <a:spcPts val="5"/>
              </a:spcBef>
            </a:pPr>
            <a:r>
              <a:rPr sz="1000" b="1" spc="-5" dirty="0">
                <a:solidFill>
                  <a:srgbClr val="FFFFFF"/>
                </a:solidFill>
                <a:latin typeface="Raleway"/>
                <a:cs typeface="Raleway"/>
              </a:rPr>
              <a:t>Contrôleur</a:t>
            </a:r>
            <a:r>
              <a:rPr sz="1000" b="1" spc="-40" dirty="0">
                <a:solidFill>
                  <a:srgbClr val="FFFFFF"/>
                </a:solidFill>
                <a:latin typeface="Raleway"/>
                <a:cs typeface="Raleway"/>
              </a:rPr>
              <a:t> </a:t>
            </a:r>
            <a:r>
              <a:rPr sz="1000" b="1" dirty="0">
                <a:solidFill>
                  <a:srgbClr val="FFFFFF"/>
                </a:solidFill>
                <a:latin typeface="Raleway"/>
                <a:cs typeface="Raleway"/>
              </a:rPr>
              <a:t>de</a:t>
            </a:r>
            <a:r>
              <a:rPr sz="1000" b="1" spc="-15" dirty="0">
                <a:solidFill>
                  <a:srgbClr val="FFFFFF"/>
                </a:solidFill>
                <a:latin typeface="Raleway"/>
                <a:cs typeface="Raleway"/>
              </a:rPr>
              <a:t> </a:t>
            </a:r>
            <a:r>
              <a:rPr sz="1000" b="1" dirty="0">
                <a:solidFill>
                  <a:srgbClr val="FFFFFF"/>
                </a:solidFill>
                <a:latin typeface="Raleway"/>
                <a:cs typeface="Raleway"/>
              </a:rPr>
              <a:t>gestion</a:t>
            </a:r>
            <a:endParaRPr sz="1000">
              <a:latin typeface="Raleway"/>
              <a:cs typeface="Raleway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137631" y="4032315"/>
            <a:ext cx="0" cy="5491480"/>
          </a:xfrm>
          <a:custGeom>
            <a:avLst/>
            <a:gdLst/>
            <a:ahLst/>
            <a:cxnLst/>
            <a:rect l="l" t="t" r="r" b="b"/>
            <a:pathLst>
              <a:path h="5491480">
                <a:moveTo>
                  <a:pt x="0" y="0"/>
                </a:moveTo>
                <a:lnTo>
                  <a:pt x="0" y="5490972"/>
                </a:lnTo>
              </a:path>
            </a:pathLst>
          </a:custGeom>
          <a:ln w="6350">
            <a:solidFill>
              <a:srgbClr val="4A4F5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325082" y="1586596"/>
            <a:ext cx="10655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spc="-180" dirty="0">
                <a:solidFill>
                  <a:srgbClr val="231F20"/>
                </a:solidFill>
                <a:latin typeface="Arial"/>
                <a:cs typeface="Arial"/>
              </a:rPr>
              <a:t>OBJE</a:t>
            </a:r>
            <a:r>
              <a:rPr sz="1600" spc="-155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1600" spc="-170" dirty="0">
                <a:solidFill>
                  <a:srgbClr val="231F20"/>
                </a:solidFill>
                <a:latin typeface="Arial"/>
                <a:cs typeface="Arial"/>
              </a:rPr>
              <a:t>TIVES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312</Words>
  <Application>Microsoft Office PowerPoint</Application>
  <PresentationFormat>Personnalisé</PresentationFormat>
  <Paragraphs>35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9" baseType="lpstr">
      <vt:lpstr>Arial</vt:lpstr>
      <vt:lpstr>Bebas Neue Regular</vt:lpstr>
      <vt:lpstr>Calibri</vt:lpstr>
      <vt:lpstr>Raleway</vt:lpstr>
      <vt:lpstr>Roboto</vt:lpstr>
      <vt:lpstr>Roboto-Light</vt:lpstr>
      <vt:lpstr>Times New Roman</vt:lpstr>
      <vt:lpstr>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Estelle</dc:creator>
  <cp:lastModifiedBy>Estelle</cp:lastModifiedBy>
  <cp:revision>2</cp:revision>
  <dcterms:created xsi:type="dcterms:W3CDTF">2021-06-21T12:12:14Z</dcterms:created>
  <dcterms:modified xsi:type="dcterms:W3CDTF">2021-10-22T13:24:09Z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2021-06-21T00:00:00Z</vt:filetime>
  </property>
  <property fmtid="{D5CDD505-2E9C-101B-9397-08002B2CF9AE}" pid="3" name="Creator">
    <vt:lpwstr>Adobe InDesign 16.1 (Macintosh)</vt:lpwstr>
  </property>
  <property fmtid="{D5CDD505-2E9C-101B-9397-08002B2CF9AE}" pid="4" name="LastSaved">
    <vt:filetime>2021-06-21T00:00:00Z</vt:filetime>
  </property>
</Properties>
</file>