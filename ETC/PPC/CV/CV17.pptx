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</p:sldIdLst>
  <p:sldSz cx="7556500" cy="10693400"/>
  <p:notesSz cx="7556500" cy="10693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B5B0"/>
    <a:srgbClr val="F0AB1D"/>
    <a:srgbClr val="F8D48E"/>
    <a:srgbClr val="79D2D0"/>
    <a:srgbClr val="A6E1DF"/>
    <a:srgbClr val="63CBC8"/>
    <a:srgbClr val="F5C460"/>
    <a:srgbClr val="F9DD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2088" autoAdjust="0"/>
    <p:restoredTop sz="96149" autoAdjust="0"/>
  </p:normalViewPr>
  <p:slideViewPr>
    <p:cSldViewPr>
      <p:cViewPr varScale="1">
        <p:scale>
          <a:sx n="54" d="100"/>
          <a:sy n="54" d="100"/>
        </p:scale>
        <p:origin x="3086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0A1F0-2969-4572-8F56-59701667A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563" y="1750055"/>
            <a:ext cx="5667375" cy="3722887"/>
          </a:xfrm>
        </p:spPr>
        <p:txBody>
          <a:bodyPr anchor="b"/>
          <a:lstStyle>
            <a:lvl1pPr algn="ctr"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EA39F-B1EB-4A22-B7C3-6709D52328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563" y="5616511"/>
            <a:ext cx="5667375" cy="2581762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373" indent="0" algn="ctr">
              <a:buNone/>
              <a:defRPr sz="1240"/>
            </a:lvl2pPr>
            <a:lvl3pPr marL="566745" indent="0" algn="ctr">
              <a:buNone/>
              <a:defRPr sz="1116"/>
            </a:lvl3pPr>
            <a:lvl4pPr marL="850118" indent="0" algn="ctr">
              <a:buNone/>
              <a:defRPr sz="992"/>
            </a:lvl4pPr>
            <a:lvl5pPr marL="1133490" indent="0" algn="ctr">
              <a:buNone/>
              <a:defRPr sz="992"/>
            </a:lvl5pPr>
            <a:lvl6pPr marL="1416863" indent="0" algn="ctr">
              <a:buNone/>
              <a:defRPr sz="992"/>
            </a:lvl6pPr>
            <a:lvl7pPr marL="1700235" indent="0" algn="ctr">
              <a:buNone/>
              <a:defRPr sz="992"/>
            </a:lvl7pPr>
            <a:lvl8pPr marL="1983608" indent="0" algn="ctr">
              <a:buNone/>
              <a:defRPr sz="992"/>
            </a:lvl8pPr>
            <a:lvl9pPr marL="2266980" indent="0" algn="ctr">
              <a:buNone/>
              <a:defRPr sz="992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2E97FE-6262-4D7D-90C0-B7912E17D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3703B-1A33-4C39-8B2D-902CDF79A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08977-E1DF-42AA-91B4-A63F0EE87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549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90233-DB3F-4E98-B47B-153FF2021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E7644-ACBE-4E27-BA1B-64971D3DC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4FAF4-4027-460C-84B6-90307DAC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E9CE95-F09F-4CB5-B646-770AAC53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C3CF8-D335-45EB-8E15-49453527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316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4DCFB-CBF8-466B-83B3-63F7D726F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574" y="2665925"/>
            <a:ext cx="6517481" cy="4448157"/>
          </a:xfrm>
        </p:spPr>
        <p:txBody>
          <a:bodyPr anchor="b"/>
          <a:lstStyle>
            <a:lvl1pPr>
              <a:defRPr sz="371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FBD00-34EB-47F7-8C82-DC619DF58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574" y="7156164"/>
            <a:ext cx="6517481" cy="2339180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373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6745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11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349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6863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0235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360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6980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FE357-FF1A-46A2-9FA8-E53AFF9EF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D6EBC6-49DA-400C-AD8A-B73E28CB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2036F-AAC3-4238-9B0F-13A0052E8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570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21E2A-DBCB-4C9E-BA74-067CD4ADD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AD13AC-423E-472A-A8D9-89364B6972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509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8AD4C3-7482-446C-A615-5CCE5429F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825478" y="2846623"/>
            <a:ext cx="3211513" cy="67848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3A05C7-730D-4E43-9934-D43BE62DA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1DB331-D6A5-480A-ADED-14FDBA03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DA4FD-5E71-4C73-A939-F80C9FF9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2C2E2-E1D7-44C1-8A57-54102FAC1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569326"/>
            <a:ext cx="6517481" cy="2066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1E93E-F886-4CA3-8C67-E2CD9A206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494" y="2621369"/>
            <a:ext cx="3196753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2F9922-B97A-4680-B922-1555BD4486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0494" y="3906061"/>
            <a:ext cx="3196753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9EAAB-6DEE-4E2E-B037-2F3287233A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25478" y="2621369"/>
            <a:ext cx="3212497" cy="1284692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373" indent="0">
              <a:buNone/>
              <a:defRPr sz="1240" b="1"/>
            </a:lvl2pPr>
            <a:lvl3pPr marL="566745" indent="0">
              <a:buNone/>
              <a:defRPr sz="1116" b="1"/>
            </a:lvl3pPr>
            <a:lvl4pPr marL="850118" indent="0">
              <a:buNone/>
              <a:defRPr sz="992" b="1"/>
            </a:lvl4pPr>
            <a:lvl5pPr marL="1133490" indent="0">
              <a:buNone/>
              <a:defRPr sz="992" b="1"/>
            </a:lvl5pPr>
            <a:lvl6pPr marL="1416863" indent="0">
              <a:buNone/>
              <a:defRPr sz="992" b="1"/>
            </a:lvl6pPr>
            <a:lvl7pPr marL="1700235" indent="0">
              <a:buNone/>
              <a:defRPr sz="992" b="1"/>
            </a:lvl7pPr>
            <a:lvl8pPr marL="1983608" indent="0">
              <a:buNone/>
              <a:defRPr sz="992" b="1"/>
            </a:lvl8pPr>
            <a:lvl9pPr marL="2266980" indent="0">
              <a:buNone/>
              <a:defRPr sz="99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E8E3DA-9C60-49ED-8E46-C4AB208A4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25478" y="3906061"/>
            <a:ext cx="3212497" cy="5745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D9423B-85AB-4BB0-9E90-A315D3AF8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70592B-DC26-491A-BFF0-2B49A018C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AE70DA-8243-4321-8D63-F7D811C0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74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8EB58-700C-4663-A474-F524687AC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C46480-9A00-4616-9DB4-84738E3D3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F8A18-3606-462E-BAB5-845277B1E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F9F90-53A9-4596-BB34-C5D45C8D5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2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C78E44-FD6F-4E28-AB86-4EB6E4DD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3456FA-3780-426D-92B9-973F2C36B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EFC0CC-36EE-4FFF-84D1-B20C2B163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791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EB5A8-BA42-4DB4-9DB8-8E91BC9F0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E217-5228-49E9-A38F-29CAE06580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>
              <a:defRPr sz="1983"/>
            </a:lvl1pPr>
            <a:lvl2pPr>
              <a:defRPr sz="1735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0E4371-0058-4433-AF33-527591E2E6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ACCF2-F917-4ABC-9286-189DCCB52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FFE4C-01B3-436E-A3C1-4B8BCD30A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7012B5-1BF7-4273-ABD8-A4EFCC0A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712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960CE-3B0D-4105-B3D1-BDEDB30E9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494" y="712893"/>
            <a:ext cx="2437168" cy="2495127"/>
          </a:xfrm>
        </p:spPr>
        <p:txBody>
          <a:bodyPr anchor="b"/>
          <a:lstStyle>
            <a:lvl1pPr>
              <a:defRPr sz="198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B8D21-C4C2-4339-BDD6-29EAE29A1A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212497" y="1539652"/>
            <a:ext cx="3825478" cy="7599245"/>
          </a:xfrm>
        </p:spPr>
        <p:txBody>
          <a:bodyPr/>
          <a:lstStyle>
            <a:lvl1pPr marL="0" indent="0">
              <a:buNone/>
              <a:defRPr sz="1983"/>
            </a:lvl1pPr>
            <a:lvl2pPr marL="283373" indent="0">
              <a:buNone/>
              <a:defRPr sz="1735"/>
            </a:lvl2pPr>
            <a:lvl3pPr marL="566745" indent="0">
              <a:buNone/>
              <a:defRPr sz="1488"/>
            </a:lvl3pPr>
            <a:lvl4pPr marL="850118" indent="0">
              <a:buNone/>
              <a:defRPr sz="1240"/>
            </a:lvl4pPr>
            <a:lvl5pPr marL="1133490" indent="0">
              <a:buNone/>
              <a:defRPr sz="1240"/>
            </a:lvl5pPr>
            <a:lvl6pPr marL="1416863" indent="0">
              <a:buNone/>
              <a:defRPr sz="1240"/>
            </a:lvl6pPr>
            <a:lvl7pPr marL="1700235" indent="0">
              <a:buNone/>
              <a:defRPr sz="1240"/>
            </a:lvl7pPr>
            <a:lvl8pPr marL="1983608" indent="0">
              <a:buNone/>
              <a:defRPr sz="1240"/>
            </a:lvl8pPr>
            <a:lvl9pPr marL="2266980" indent="0">
              <a:buNone/>
              <a:defRPr sz="124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CE901-37D8-4004-B6FA-DA5F4FA211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0494" y="3208020"/>
            <a:ext cx="2437168" cy="5943254"/>
          </a:xfrm>
        </p:spPr>
        <p:txBody>
          <a:bodyPr/>
          <a:lstStyle>
            <a:lvl1pPr marL="0" indent="0">
              <a:buNone/>
              <a:defRPr sz="992"/>
            </a:lvl1pPr>
            <a:lvl2pPr marL="283373" indent="0">
              <a:buNone/>
              <a:defRPr sz="868"/>
            </a:lvl2pPr>
            <a:lvl3pPr marL="566745" indent="0">
              <a:buNone/>
              <a:defRPr sz="744"/>
            </a:lvl3pPr>
            <a:lvl4pPr marL="850118" indent="0">
              <a:buNone/>
              <a:defRPr sz="620"/>
            </a:lvl4pPr>
            <a:lvl5pPr marL="1133490" indent="0">
              <a:buNone/>
              <a:defRPr sz="620"/>
            </a:lvl5pPr>
            <a:lvl6pPr marL="1416863" indent="0">
              <a:buNone/>
              <a:defRPr sz="620"/>
            </a:lvl6pPr>
            <a:lvl7pPr marL="1700235" indent="0">
              <a:buNone/>
              <a:defRPr sz="620"/>
            </a:lvl7pPr>
            <a:lvl8pPr marL="1983608" indent="0">
              <a:buNone/>
              <a:defRPr sz="620"/>
            </a:lvl8pPr>
            <a:lvl9pPr marL="2266980" indent="0">
              <a:buNone/>
              <a:defRPr sz="62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BE06A7-8A20-4F2D-B09F-E1E1FEAB6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D4950E-9C5B-45A2-BC42-3CB547D24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0CD68-0426-4C86-91D4-9BB9CA22A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62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9BD64-C311-4BBA-B858-BAB7052C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BC302D-4603-451F-B5C5-7A49B517A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87845-AD9B-4FC4-9333-E74EE167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214A1-2417-4524-A087-A56B2CFD5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489D-827B-4A10-B37B-412EC157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053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D37352-5D36-4208-8E36-F4CB40DA74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407620" y="569325"/>
            <a:ext cx="1629370" cy="90621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DBF9DD-5890-4F83-98F6-F6C2EB3A82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9509" y="569325"/>
            <a:ext cx="4793655" cy="90621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0407C-90BF-4758-9F83-B1BC4EFE1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1AFF57-ED21-4864-8F88-ED1FDEF6B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7DDF1E-92D5-48B9-AA5E-E2F90A4A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29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B5B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44500" y="3849064"/>
            <a:ext cx="3169920" cy="5641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231F2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937960" y="2947868"/>
            <a:ext cx="3021965" cy="608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231F2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10/22/2021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6555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0B7892-80D3-4C13-8B8C-B4C164F81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510" y="569326"/>
            <a:ext cx="6517481" cy="20668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553F8-3A17-4B07-9AD9-7B498D3D6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9510" y="2846623"/>
            <a:ext cx="6517481" cy="6784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2A7AB-ABE0-48D7-A7EF-3166F072B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9509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10/22/2021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D7E6A-DD20-4206-A94B-E666BA56B1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03091" y="9911198"/>
            <a:ext cx="2550319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7D22B-13FA-4788-82BD-556F7FCCA5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336778" y="9911198"/>
            <a:ext cx="1700213" cy="569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83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566745" rtl="0" eaLnBrk="1" latinLnBrk="0" hangingPunct="1">
        <a:lnSpc>
          <a:spcPct val="90000"/>
        </a:lnSpc>
        <a:spcBef>
          <a:spcPct val="0"/>
        </a:spcBef>
        <a:buNone/>
        <a:defRPr sz="27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686" indent="-141686" algn="l" defTabSz="566745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2505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431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180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17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8549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1922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5294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8667" indent="-141686" algn="l" defTabSz="566745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37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674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11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349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6863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0235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3608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6980" algn="l" defTabSz="566745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7">
            <a:extLst>
              <a:ext uri="{FF2B5EF4-FFF2-40B4-BE49-F238E27FC236}">
                <a16:creationId xmlns:a16="http://schemas.microsoft.com/office/drawing/2014/main" id="{064C1EED-8CBF-4ABB-8DC8-81604152149D}"/>
              </a:ext>
            </a:extLst>
          </p:cNvPr>
          <p:cNvSpPr/>
          <p:nvPr/>
        </p:nvSpPr>
        <p:spPr>
          <a:xfrm>
            <a:off x="4343400" y="9935545"/>
            <a:ext cx="457200" cy="417040"/>
          </a:xfrm>
          <a:custGeom>
            <a:avLst/>
            <a:gdLst/>
            <a:ahLst/>
            <a:cxnLst/>
            <a:rect l="l" t="t" r="r" b="b"/>
            <a:pathLst>
              <a:path w="767714" h="798195">
                <a:moveTo>
                  <a:pt x="0" y="395960"/>
                </a:moveTo>
                <a:lnTo>
                  <a:pt x="400126" y="797991"/>
                </a:lnTo>
                <a:lnTo>
                  <a:pt x="767626" y="402031"/>
                </a:lnTo>
                <a:lnTo>
                  <a:pt x="367499" y="0"/>
                </a:lnTo>
                <a:lnTo>
                  <a:pt x="0" y="395960"/>
                </a:lnTo>
                <a:close/>
              </a:path>
            </a:pathLst>
          </a:custGeom>
          <a:ln w="50800">
            <a:solidFill>
              <a:srgbClr val="63CBC8"/>
            </a:solidFill>
            <a:miter lim="800000"/>
          </a:ln>
        </p:spPr>
        <p:txBody>
          <a:bodyPr wrap="square" lIns="0" tIns="0" rIns="0" bIns="0" rtlCol="0"/>
          <a:lstStyle/>
          <a:p>
            <a:endParaRPr dirty="0">
              <a:latin typeface="Raleway Light" panose="020B0403030101060003" pitchFamily="34" charset="0"/>
            </a:endParaRPr>
          </a:p>
        </p:txBody>
      </p:sp>
      <p:sp>
        <p:nvSpPr>
          <p:cNvPr id="31" name="object 7">
            <a:extLst>
              <a:ext uri="{FF2B5EF4-FFF2-40B4-BE49-F238E27FC236}">
                <a16:creationId xmlns:a16="http://schemas.microsoft.com/office/drawing/2014/main" id="{81B18486-5715-4B1C-967A-D4745979EF3D}"/>
              </a:ext>
            </a:extLst>
          </p:cNvPr>
          <p:cNvSpPr/>
          <p:nvPr/>
        </p:nvSpPr>
        <p:spPr>
          <a:xfrm>
            <a:off x="2771773" y="9926019"/>
            <a:ext cx="457200" cy="417040"/>
          </a:xfrm>
          <a:custGeom>
            <a:avLst/>
            <a:gdLst/>
            <a:ahLst/>
            <a:cxnLst/>
            <a:rect l="l" t="t" r="r" b="b"/>
            <a:pathLst>
              <a:path w="767714" h="798195">
                <a:moveTo>
                  <a:pt x="0" y="395960"/>
                </a:moveTo>
                <a:lnTo>
                  <a:pt x="400126" y="797991"/>
                </a:lnTo>
                <a:lnTo>
                  <a:pt x="767626" y="402031"/>
                </a:lnTo>
                <a:lnTo>
                  <a:pt x="367499" y="0"/>
                </a:lnTo>
                <a:lnTo>
                  <a:pt x="0" y="395960"/>
                </a:lnTo>
                <a:close/>
              </a:path>
            </a:pathLst>
          </a:custGeom>
          <a:ln w="50800">
            <a:solidFill>
              <a:srgbClr val="F5C460"/>
            </a:solidFill>
            <a:miter lim="800000"/>
          </a:ln>
        </p:spPr>
        <p:txBody>
          <a:bodyPr wrap="square" lIns="0" tIns="0" rIns="0" bIns="0" rtlCol="0"/>
          <a:lstStyle/>
          <a:p>
            <a:endParaRPr dirty="0">
              <a:latin typeface="Raleway Light" panose="020B0403030101060003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5DEE572-969C-499F-B457-789F54C97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930" y="965585"/>
            <a:ext cx="2229582" cy="2328152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3937960" y="1041785"/>
            <a:ext cx="2812090" cy="294953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5244">
              <a:lnSpc>
                <a:spcPts val="1000"/>
              </a:lnSpc>
              <a:spcBef>
                <a:spcPts val="300"/>
              </a:spcBef>
            </a:pPr>
            <a:r>
              <a:rPr sz="1000" dirty="0">
                <a:solidFill>
                  <a:srgbClr val="F0AB1D"/>
                </a:solidFill>
                <a:latin typeface="Raleway" panose="020B0503030101060003" pitchFamily="34" charset="0"/>
                <a:cs typeface="Trebuchet MS"/>
              </a:rPr>
              <a:t>INGÉNIEUR D’AFFAIRES - KEY ACCOUNT  MANAGER +12 ANS D’EXPÉRIENCE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3150" y="2361247"/>
            <a:ext cx="19165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adrien.mercier@gmail.com  Mobilité : France &amp; International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37960" y="586867"/>
            <a:ext cx="3051174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Raleway ExtraBold" panose="020B0903030101060003" pitchFamily="34" charset="0"/>
              </a:rPr>
              <a:t>ADRIEN MERCIER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sz="half" idx="2"/>
          </p:nvPr>
        </p:nvSpPr>
        <p:spPr>
          <a:xfrm>
            <a:off x="444500" y="3879544"/>
            <a:ext cx="1995739" cy="371897"/>
          </a:xfrm>
          <a:prstGeom prst="rect">
            <a:avLst/>
          </a:prstGeom>
        </p:spPr>
        <p:txBody>
          <a:bodyPr vert="horz" wrap="none" lIns="0" tIns="12700" rIns="0" bIns="0" rtlCol="0">
            <a:spAutoFit/>
          </a:bodyPr>
          <a:lstStyle/>
          <a:p>
            <a:pPr marL="0" indent="0">
              <a:lnSpc>
                <a:spcPts val="1400"/>
              </a:lnSpc>
              <a:spcBef>
                <a:spcPts val="0"/>
              </a:spcBef>
              <a:buNone/>
            </a:pPr>
            <a:r>
              <a:rPr b="0" spc="100" dirty="0">
                <a:latin typeface="Raleway SemiBold" panose="020B0703030101060003" pitchFamily="34" charset="0"/>
              </a:rPr>
              <a:t>EXPÉRIENCES</a:t>
            </a:r>
          </a:p>
          <a:p>
            <a:pPr marL="0" indent="0">
              <a:lnSpc>
                <a:spcPts val="1400"/>
              </a:lnSpc>
              <a:spcBef>
                <a:spcPts val="0"/>
              </a:spcBef>
              <a:buNone/>
            </a:pPr>
            <a:r>
              <a:rPr b="0" spc="100" dirty="0">
                <a:latin typeface="Raleway SemiBold" panose="020B0703030101060003" pitchFamily="34" charset="0"/>
              </a:rPr>
              <a:t>PROFESSIONNELLES</a:t>
            </a:r>
            <a:endParaRPr sz="1000" b="0" spc="100" dirty="0">
              <a:latin typeface="Raleway SemiBold" panose="020B0703030101060003" pitchFamily="34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sz="half" idx="3"/>
          </p:nvPr>
        </p:nvSpPr>
        <p:spPr>
          <a:xfrm>
            <a:off x="3937960" y="2955488"/>
            <a:ext cx="207909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100"/>
              </a:spcBef>
              <a:buNone/>
            </a:pPr>
            <a:r>
              <a:rPr b="0" spc="100" dirty="0">
                <a:latin typeface="Raleway SemiBold" panose="020B0703030101060003" pitchFamily="34" charset="0"/>
              </a:rPr>
              <a:t>PROFIL &amp; OBJECTIFS</a:t>
            </a:r>
            <a:endParaRPr sz="1000" b="0" spc="100" dirty="0">
              <a:latin typeface="Raleway SemiBold" panose="020B0703030101060003" pitchFamily="34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5924" y="9741295"/>
            <a:ext cx="767715" cy="798195"/>
          </a:xfrm>
          <a:custGeom>
            <a:avLst/>
            <a:gdLst/>
            <a:ahLst/>
            <a:cxnLst/>
            <a:rect l="l" t="t" r="r" b="b"/>
            <a:pathLst>
              <a:path w="767714" h="798195">
                <a:moveTo>
                  <a:pt x="0" y="395960"/>
                </a:moveTo>
                <a:lnTo>
                  <a:pt x="400126" y="797991"/>
                </a:lnTo>
                <a:lnTo>
                  <a:pt x="767626" y="402031"/>
                </a:lnTo>
                <a:lnTo>
                  <a:pt x="367499" y="0"/>
                </a:lnTo>
                <a:lnTo>
                  <a:pt x="0" y="395960"/>
                </a:lnTo>
                <a:close/>
              </a:path>
            </a:pathLst>
          </a:custGeom>
          <a:ln w="50800">
            <a:solidFill>
              <a:srgbClr val="F0AB1D"/>
            </a:solidFill>
            <a:miter lim="800000"/>
          </a:ln>
        </p:spPr>
        <p:txBody>
          <a:bodyPr wrap="square" lIns="0" tIns="0" rIns="0" bIns="0" rtlCol="0"/>
          <a:lstStyle/>
          <a:p>
            <a:endParaRPr dirty="0">
              <a:latin typeface="Raleway Light" panose="020B0403030101060003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7960" y="8237942"/>
            <a:ext cx="798295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400" spc="100" dirty="0">
                <a:solidFill>
                  <a:srgbClr val="231F20"/>
                </a:solidFill>
                <a:latin typeface="Raleway SemiBold" panose="020B0703030101060003" pitchFamily="34" charset="0"/>
                <a:cs typeface="Trebuchet MS"/>
              </a:rPr>
              <a:t>ATOUTS</a:t>
            </a:r>
            <a:endParaRPr sz="1000" spc="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6169A3FF-E7D1-4C24-98C2-E605C2306536}"/>
              </a:ext>
            </a:extLst>
          </p:cNvPr>
          <p:cNvSpPr txBox="1"/>
          <p:nvPr/>
        </p:nvSpPr>
        <p:spPr>
          <a:xfrm>
            <a:off x="3937960" y="1365050"/>
            <a:ext cx="2812090" cy="19236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85"/>
              </a:spcBef>
            </a:pPr>
            <a:r>
              <a:rPr sz="1000" dirty="0" err="1">
                <a:solidFill>
                  <a:srgbClr val="231F20"/>
                </a:solidFill>
                <a:latin typeface="Raleway ExtraLight" panose="020B0303030101060003" pitchFamily="34" charset="0"/>
                <a:cs typeface="Trebuchet MS"/>
              </a:rPr>
              <a:t>Dynamique</a:t>
            </a:r>
            <a:r>
              <a:rPr sz="1000" dirty="0">
                <a:solidFill>
                  <a:srgbClr val="231F20"/>
                </a:solidFill>
                <a:latin typeface="Raleway ExtraLight" panose="020B0303030101060003" pitchFamily="34" charset="0"/>
                <a:cs typeface="Trebuchet MS"/>
              </a:rPr>
              <a:t>, Organisé, Goût de la performance</a:t>
            </a:r>
            <a:endParaRPr sz="1000" dirty="0">
              <a:latin typeface="Raleway ExtraLight" panose="020B0303030101060003" pitchFamily="34" charset="0"/>
              <a:cs typeface="Trebuchet MS"/>
            </a:endParaRP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id="{7844E24A-C34B-46DD-B98F-F7268C30013F}"/>
              </a:ext>
            </a:extLst>
          </p:cNvPr>
          <p:cNvSpPr txBox="1"/>
          <p:nvPr/>
        </p:nvSpPr>
        <p:spPr>
          <a:xfrm>
            <a:off x="3937960" y="2066586"/>
            <a:ext cx="952184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95"/>
              </a:spcBef>
            </a:pPr>
            <a:r>
              <a:rPr sz="1400" spc="100" dirty="0">
                <a:solidFill>
                  <a:srgbClr val="231F20"/>
                </a:solidFill>
                <a:latin typeface="Raleway SemiBold" panose="020B0703030101060003" pitchFamily="34" charset="0"/>
                <a:cs typeface="Trebuchet MS"/>
              </a:rPr>
              <a:t>CONTACT</a:t>
            </a:r>
            <a:endParaRPr sz="1000" spc="100" dirty="0">
              <a:latin typeface="Raleway SemiBold" panose="020B0703030101060003" pitchFamily="34" charset="0"/>
              <a:cs typeface="Trebuchet MS"/>
            </a:endParaRPr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675A52E-9FCC-4A14-879F-F510D2422B19}"/>
              </a:ext>
            </a:extLst>
          </p:cNvPr>
          <p:cNvSpPr txBox="1"/>
          <p:nvPr/>
        </p:nvSpPr>
        <p:spPr>
          <a:xfrm>
            <a:off x="3937960" y="2361247"/>
            <a:ext cx="137160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00"/>
              </a:spcBef>
            </a:pP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+336 74 11 36 35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Basé à Paris (75) France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1DF848A3-0B58-4A8E-B6DA-072B6B1ADC55}"/>
              </a:ext>
            </a:extLst>
          </p:cNvPr>
          <p:cNvSpPr txBox="1">
            <a:spLocks/>
          </p:cNvSpPr>
          <p:nvPr/>
        </p:nvSpPr>
        <p:spPr>
          <a:xfrm>
            <a:off x="3937960" y="3277964"/>
            <a:ext cx="311689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5080">
              <a:spcBef>
                <a:spcPts val="944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Responsable commercial expérimenté et technicien  qualifié, mes différentes expériences dans le secteur  de la santé m’ont appris à faire preuve d’une grande  rigueur. Je suis à la recherche d’un nouveau défi et  saurai valoriser mes compétences et faire preuve  d’innovation pour conquérir de nouveaux marchés.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2789E88E-51CD-4C3A-B7DB-BFA0EA414D0C}"/>
              </a:ext>
            </a:extLst>
          </p:cNvPr>
          <p:cNvSpPr txBox="1">
            <a:spLocks/>
          </p:cNvSpPr>
          <p:nvPr/>
        </p:nvSpPr>
        <p:spPr>
          <a:xfrm>
            <a:off x="3937960" y="4422775"/>
            <a:ext cx="3021965" cy="499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1784985">
              <a:lnSpc>
                <a:spcPct val="108300"/>
              </a:lnSpc>
              <a:spcBef>
                <a:spcPts val="715"/>
              </a:spcBef>
            </a:pPr>
            <a:r>
              <a:rPr lang="fr-FR" sz="1000" kern="0" dirty="0">
                <a:solidFill>
                  <a:srgbClr val="F7931D"/>
                </a:solidFill>
                <a:latin typeface="Raleway" panose="020B0503030101060003" pitchFamily="34" charset="0"/>
              </a:rPr>
              <a:t>Expertise technique  Trilingue</a:t>
            </a:r>
            <a:endParaRPr lang="fr-FR" sz="1000" kern="0" dirty="0">
              <a:latin typeface="Raleway" panose="020B0503030101060003" pitchFamily="34" charset="0"/>
            </a:endParaRPr>
          </a:p>
          <a:p>
            <a:pPr>
              <a:spcBef>
                <a:spcPts val="100"/>
              </a:spcBef>
            </a:pPr>
            <a:r>
              <a:rPr lang="fr-FR" sz="1000" kern="0" dirty="0">
                <a:solidFill>
                  <a:srgbClr val="F7931D"/>
                </a:solidFill>
                <a:latin typeface="Raleway" panose="020B0503030101060003" pitchFamily="34" charset="0"/>
              </a:rPr>
              <a:t>Expérience internationale</a:t>
            </a:r>
            <a:endParaRPr lang="fr-FR" sz="1000" kern="0" dirty="0">
              <a:latin typeface="Raleway" panose="020B0503030101060003" pitchFamily="34" charset="0"/>
            </a:endParaRPr>
          </a:p>
        </p:txBody>
      </p:sp>
      <p:sp>
        <p:nvSpPr>
          <p:cNvPr id="15" name="object 9">
            <a:extLst>
              <a:ext uri="{FF2B5EF4-FFF2-40B4-BE49-F238E27FC236}">
                <a16:creationId xmlns:a16="http://schemas.microsoft.com/office/drawing/2014/main" id="{A2CB95CC-D0E0-4228-8210-96DC9C366C72}"/>
              </a:ext>
            </a:extLst>
          </p:cNvPr>
          <p:cNvSpPr txBox="1">
            <a:spLocks/>
          </p:cNvSpPr>
          <p:nvPr/>
        </p:nvSpPr>
        <p:spPr>
          <a:xfrm>
            <a:off x="3937960" y="5231447"/>
            <a:ext cx="1627048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kern="0" spc="100" dirty="0">
                <a:latin typeface="Raleway SemiBold" panose="020B0703030101060003" pitchFamily="34" charset="0"/>
              </a:rPr>
              <a:t>CERTIFICATIONS</a:t>
            </a:r>
            <a:endParaRPr lang="fr-FR" sz="1000" b="0" kern="0" spc="100" dirty="0">
              <a:latin typeface="Raleway SemiBold" panose="020B0703030101060003" pitchFamily="34" charset="0"/>
            </a:endParaRPr>
          </a:p>
        </p:txBody>
      </p:sp>
      <p:sp>
        <p:nvSpPr>
          <p:cNvPr id="16" name="object 9">
            <a:extLst>
              <a:ext uri="{FF2B5EF4-FFF2-40B4-BE49-F238E27FC236}">
                <a16:creationId xmlns:a16="http://schemas.microsoft.com/office/drawing/2014/main" id="{C70F28D5-3A6F-46E3-850F-05A859739827}"/>
              </a:ext>
            </a:extLst>
          </p:cNvPr>
          <p:cNvSpPr txBox="1">
            <a:spLocks/>
          </p:cNvSpPr>
          <p:nvPr/>
        </p:nvSpPr>
        <p:spPr>
          <a:xfrm>
            <a:off x="3937960" y="5547087"/>
            <a:ext cx="2354890" cy="6924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80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Certification SalesForce.com</a:t>
            </a:r>
            <a:endParaRPr lang="fr-FR" sz="1000" kern="0" dirty="0">
              <a:latin typeface="Raleway Light" panose="020B0403030101060003" pitchFamily="34" charset="0"/>
            </a:endParaRPr>
          </a:p>
          <a:p>
            <a:pPr>
              <a:spcBef>
                <a:spcPts val="200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Strategic </a:t>
            </a:r>
            <a:r>
              <a:rPr lang="fr-FR" sz="1000" b="0" kern="0" dirty="0" err="1">
                <a:latin typeface="Raleway Light" panose="020B0403030101060003" pitchFamily="34" charset="0"/>
              </a:rPr>
              <a:t>Selling</a:t>
            </a:r>
            <a:r>
              <a:rPr lang="fr-FR" sz="1000" b="0" kern="0" dirty="0">
                <a:latin typeface="Raleway Light" panose="020B0403030101060003" pitchFamily="34" charset="0"/>
              </a:rPr>
              <a:t> : Miller </a:t>
            </a:r>
            <a:r>
              <a:rPr lang="fr-FR" sz="1000" b="0" kern="0" dirty="0" err="1">
                <a:latin typeface="Raleway Light" panose="020B0403030101060003" pitchFamily="34" charset="0"/>
              </a:rPr>
              <a:t>Heiman</a:t>
            </a:r>
            <a:r>
              <a:rPr lang="fr-FR" sz="1000" b="0" kern="0" dirty="0">
                <a:latin typeface="Raleway Light" panose="020B0403030101060003" pitchFamily="34" charset="0"/>
              </a:rPr>
              <a:t> Alumni</a:t>
            </a:r>
            <a:endParaRPr lang="fr-FR" sz="1000" kern="0" dirty="0">
              <a:latin typeface="Raleway Light" panose="020B0403030101060003" pitchFamily="34" charset="0"/>
            </a:endParaRPr>
          </a:p>
          <a:p>
            <a:pPr>
              <a:spcBef>
                <a:spcPts val="200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Certification </a:t>
            </a:r>
            <a:r>
              <a:rPr lang="fr-FR" sz="1000" b="0" kern="0" dirty="0" err="1">
                <a:latin typeface="Raleway Light" panose="020B0403030101060003" pitchFamily="34" charset="0"/>
              </a:rPr>
              <a:t>Ethics</a:t>
            </a:r>
            <a:r>
              <a:rPr lang="fr-FR" sz="1000" b="0" kern="0" dirty="0">
                <a:latin typeface="Raleway Light" panose="020B0403030101060003" pitchFamily="34" charset="0"/>
              </a:rPr>
              <a:t> &amp; Compliance :</a:t>
            </a:r>
            <a:endParaRPr lang="fr-FR" sz="1000" kern="0" dirty="0">
              <a:latin typeface="Raleway Light" panose="020B0403030101060003" pitchFamily="34" charset="0"/>
            </a:endParaRPr>
          </a:p>
          <a:p>
            <a:pPr>
              <a:spcBef>
                <a:spcPts val="200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The Legal </a:t>
            </a:r>
            <a:r>
              <a:rPr lang="fr-FR" sz="1000" b="0" kern="0" dirty="0" err="1">
                <a:latin typeface="Raleway Light" panose="020B0403030101060003" pitchFamily="34" charset="0"/>
              </a:rPr>
              <a:t>Knowledge</a:t>
            </a:r>
            <a:r>
              <a:rPr lang="fr-FR" sz="1000" b="0" kern="0" dirty="0">
                <a:latin typeface="Raleway Light" panose="020B0403030101060003" pitchFamily="34" charset="0"/>
              </a:rPr>
              <a:t> Co.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17" name="object 9">
            <a:extLst>
              <a:ext uri="{FF2B5EF4-FFF2-40B4-BE49-F238E27FC236}">
                <a16:creationId xmlns:a16="http://schemas.microsoft.com/office/drawing/2014/main" id="{A88AA79D-F945-480D-809C-358213DBE1A0}"/>
              </a:ext>
            </a:extLst>
          </p:cNvPr>
          <p:cNvSpPr txBox="1">
            <a:spLocks/>
          </p:cNvSpPr>
          <p:nvPr/>
        </p:nvSpPr>
        <p:spPr>
          <a:xfrm>
            <a:off x="3937960" y="6560185"/>
            <a:ext cx="1181414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b="0" kern="0" spc="100" dirty="0">
                <a:latin typeface="Raleway SemiBold" panose="020B0703030101060003" pitchFamily="34" charset="0"/>
              </a:rPr>
              <a:t>FORMATION</a:t>
            </a:r>
            <a:endParaRPr lang="fr-FR" sz="1000" b="0" kern="0" spc="100" dirty="0">
              <a:latin typeface="Raleway SemiBold" panose="020B0703030101060003" pitchFamily="34" charset="0"/>
            </a:endParaRPr>
          </a:p>
        </p:txBody>
      </p:sp>
      <p:sp>
        <p:nvSpPr>
          <p:cNvPr id="18" name="object 9">
            <a:extLst>
              <a:ext uri="{FF2B5EF4-FFF2-40B4-BE49-F238E27FC236}">
                <a16:creationId xmlns:a16="http://schemas.microsoft.com/office/drawing/2014/main" id="{04408C23-392A-4BB5-B30C-3B5331AC2FFC}"/>
              </a:ext>
            </a:extLst>
          </p:cNvPr>
          <p:cNvSpPr txBox="1">
            <a:spLocks/>
          </p:cNvSpPr>
          <p:nvPr/>
        </p:nvSpPr>
        <p:spPr>
          <a:xfrm>
            <a:off x="3937960" y="6903869"/>
            <a:ext cx="3051174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045"/>
              </a:spcBef>
            </a:pPr>
            <a:r>
              <a:rPr lang="fr-FR" sz="1000" kern="0" dirty="0">
                <a:latin typeface="Raleway" panose="020B0503030101060003" pitchFamily="34" charset="0"/>
              </a:rPr>
              <a:t>2008: ECOLE XXX</a:t>
            </a:r>
          </a:p>
          <a:p>
            <a:r>
              <a:rPr lang="fr-FR" sz="1000" b="0" kern="0" dirty="0">
                <a:solidFill>
                  <a:srgbClr val="F7931D"/>
                </a:solidFill>
                <a:latin typeface="Raleway Light" panose="020B0403030101060003" pitchFamily="34" charset="0"/>
              </a:rPr>
              <a:t>Master en Marketing et Gestion des Entreprises</a:t>
            </a:r>
            <a:endParaRPr lang="fr-FR" sz="1000" kern="0" dirty="0">
              <a:latin typeface="Raleway Light" panose="020B0403030101060003" pitchFamily="34" charset="0"/>
            </a:endParaRPr>
          </a:p>
          <a:p>
            <a:r>
              <a:rPr lang="fr-FR" sz="1000" b="0" kern="0" dirty="0">
                <a:solidFill>
                  <a:srgbClr val="F7931D"/>
                </a:solidFill>
                <a:latin typeface="Raleway Light" panose="020B0403030101060003" pitchFamily="34" charset="0"/>
              </a:rPr>
              <a:t>Stage de fin d’études en Chine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19" name="object 9">
            <a:extLst>
              <a:ext uri="{FF2B5EF4-FFF2-40B4-BE49-F238E27FC236}">
                <a16:creationId xmlns:a16="http://schemas.microsoft.com/office/drawing/2014/main" id="{A09B9F40-17B0-437E-85C6-08B4F94557FC}"/>
              </a:ext>
            </a:extLst>
          </p:cNvPr>
          <p:cNvSpPr txBox="1">
            <a:spLocks/>
          </p:cNvSpPr>
          <p:nvPr/>
        </p:nvSpPr>
        <p:spPr>
          <a:xfrm>
            <a:off x="3937960" y="7519422"/>
            <a:ext cx="3051174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kern="0" dirty="0">
                <a:latin typeface="Raleway" panose="020B0503030101060003" pitchFamily="34" charset="0"/>
              </a:rPr>
              <a:t>2005: ECOLE XXX</a:t>
            </a:r>
          </a:p>
          <a:p>
            <a:pPr marR="1193165"/>
            <a:r>
              <a:rPr lang="fr-FR" sz="1000" b="0" kern="0" dirty="0">
                <a:solidFill>
                  <a:srgbClr val="F7931D"/>
                </a:solidFill>
                <a:latin typeface="Raleway Light" panose="020B0403030101060003" pitchFamily="34" charset="0"/>
              </a:rPr>
              <a:t>Brevet de Technicien Supérieur  Commerce International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0" name="object 9">
            <a:extLst>
              <a:ext uri="{FF2B5EF4-FFF2-40B4-BE49-F238E27FC236}">
                <a16:creationId xmlns:a16="http://schemas.microsoft.com/office/drawing/2014/main" id="{E2135590-067A-4973-BD07-C326C70E6B8F}"/>
              </a:ext>
            </a:extLst>
          </p:cNvPr>
          <p:cNvSpPr txBox="1">
            <a:spLocks/>
          </p:cNvSpPr>
          <p:nvPr/>
        </p:nvSpPr>
        <p:spPr>
          <a:xfrm>
            <a:off x="5607050" y="8237942"/>
            <a:ext cx="955390" cy="215444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980"/>
              </a:spcBef>
            </a:pPr>
            <a:r>
              <a:rPr lang="fr-FR" b="0" kern="0" spc="100" dirty="0">
                <a:latin typeface="Raleway SemiBold" panose="020B0703030101060003" pitchFamily="34" charset="0"/>
              </a:rPr>
              <a:t>INTÉRÊTS</a:t>
            </a:r>
            <a:endParaRPr lang="fr-FR" sz="1000" b="0" kern="0" spc="100" dirty="0">
              <a:latin typeface="Raleway SemiBold" panose="020B0703030101060003" pitchFamily="34" charset="0"/>
            </a:endParaRPr>
          </a:p>
        </p:txBody>
      </p:sp>
      <p:sp>
        <p:nvSpPr>
          <p:cNvPr id="21" name="object 9">
            <a:extLst>
              <a:ext uri="{FF2B5EF4-FFF2-40B4-BE49-F238E27FC236}">
                <a16:creationId xmlns:a16="http://schemas.microsoft.com/office/drawing/2014/main" id="{03931036-F42D-4962-9666-2CC2F0B8EFFC}"/>
              </a:ext>
            </a:extLst>
          </p:cNvPr>
          <p:cNvSpPr txBox="1">
            <a:spLocks/>
          </p:cNvSpPr>
          <p:nvPr/>
        </p:nvSpPr>
        <p:spPr>
          <a:xfrm>
            <a:off x="5607050" y="8555978"/>
            <a:ext cx="1600200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996315">
              <a:spcBef>
                <a:spcPts val="780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Fitness  Voyages  Théâtre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2" name="object 8">
            <a:extLst>
              <a:ext uri="{FF2B5EF4-FFF2-40B4-BE49-F238E27FC236}">
                <a16:creationId xmlns:a16="http://schemas.microsoft.com/office/drawing/2014/main" id="{36646A45-F14A-4450-819E-1DCDB32A4BA3}"/>
              </a:ext>
            </a:extLst>
          </p:cNvPr>
          <p:cNvSpPr txBox="1"/>
          <p:nvPr/>
        </p:nvSpPr>
        <p:spPr>
          <a:xfrm>
            <a:off x="3937960" y="8555978"/>
            <a:ext cx="1059490" cy="923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374015">
              <a:lnSpc>
                <a:spcPct val="100000"/>
              </a:lnSpc>
              <a:spcBef>
                <a:spcPts val="780"/>
              </a:spcBef>
            </a:pPr>
            <a:r>
              <a:rPr sz="1000" dirty="0" err="1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Anglais</a:t>
            </a: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  Italien  </a:t>
            </a:r>
            <a:r>
              <a:rPr sz="1000" dirty="0" err="1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Espagnol</a:t>
            </a: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  Pack</a:t>
            </a:r>
            <a:r>
              <a:rPr lang="en-GB"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 </a:t>
            </a: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Office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CRM ACT! (SAGE)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  <a:p>
            <a:pPr>
              <a:lnSpc>
                <a:spcPct val="100000"/>
              </a:lnSpc>
            </a:pPr>
            <a:r>
              <a:rPr sz="1000" dirty="0">
                <a:solidFill>
                  <a:srgbClr val="231F20"/>
                </a:solidFill>
                <a:latin typeface="Raleway Light" panose="020B0403030101060003" pitchFamily="34" charset="0"/>
                <a:cs typeface="Trebuchet MS"/>
              </a:rPr>
              <a:t>SalesForce.com</a:t>
            </a:r>
            <a:endParaRPr sz="1000" dirty="0">
              <a:latin typeface="Raleway Light" panose="020B0403030101060003" pitchFamily="34" charset="0"/>
              <a:cs typeface="Trebuchet MS"/>
            </a:endParaRPr>
          </a:p>
        </p:txBody>
      </p:sp>
      <p:sp>
        <p:nvSpPr>
          <p:cNvPr id="23" name="object 5">
            <a:extLst>
              <a:ext uri="{FF2B5EF4-FFF2-40B4-BE49-F238E27FC236}">
                <a16:creationId xmlns:a16="http://schemas.microsoft.com/office/drawing/2014/main" id="{03154F2A-28A8-48B6-BD9B-632288529E3A}"/>
              </a:ext>
            </a:extLst>
          </p:cNvPr>
          <p:cNvSpPr txBox="1">
            <a:spLocks/>
          </p:cNvSpPr>
          <p:nvPr/>
        </p:nvSpPr>
        <p:spPr>
          <a:xfrm>
            <a:off x="444500" y="4422775"/>
            <a:ext cx="3169920" cy="89768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82550"/>
            <a:r>
              <a:rPr lang="fr-FR" sz="1000" kern="0" spc="50" dirty="0">
                <a:solidFill>
                  <a:srgbClr val="F7931D"/>
                </a:solidFill>
                <a:latin typeface="Raleway" panose="020B0503030101060003" pitchFamily="34" charset="0"/>
              </a:rPr>
              <a:t>INGÉNIEUR D’AFFAIRES FRANCE / EUROPE DU  SUD @ ENTREPRISE XXX / </a:t>
            </a:r>
            <a:r>
              <a:rPr lang="fr-FR" sz="1000" kern="0" spc="50" dirty="0">
                <a:latin typeface="Raleway" panose="020B0503030101060003" pitchFamily="34" charset="0"/>
              </a:rPr>
              <a:t>01/2015-PRÉSENT,  PARIS</a:t>
            </a:r>
          </a:p>
          <a:p>
            <a:pPr algn="just">
              <a:lnSpc>
                <a:spcPts val="1100"/>
              </a:lnSpc>
              <a:spcBef>
                <a:spcPts val="225"/>
              </a:spcBef>
            </a:pPr>
            <a:r>
              <a:rPr lang="fr-FR" sz="1000" b="0" kern="0" dirty="0">
                <a:latin typeface="Raleway Light" panose="020B0403030101060003" pitchFamily="34" charset="0"/>
              </a:rPr>
              <a:t>Division Ibis Biosciences</a:t>
            </a:r>
            <a:endParaRPr lang="fr-FR" sz="1000" kern="0" dirty="0">
              <a:latin typeface="Raleway Light" panose="020B0403030101060003" pitchFamily="34" charset="0"/>
            </a:endParaRPr>
          </a:p>
          <a:p>
            <a:pPr marR="168275">
              <a:lnSpc>
                <a:spcPts val="1000"/>
              </a:lnSpc>
              <a:spcBef>
                <a:spcPts val="100"/>
              </a:spcBef>
              <a:buFontTx/>
              <a:buChar char="•"/>
              <a:tabLst>
                <a:tab pos="85725" algn="l"/>
              </a:tabLst>
            </a:pPr>
            <a:r>
              <a:rPr lang="fr-FR" sz="1000" b="0" kern="0" dirty="0">
                <a:latin typeface="Raleway Light" panose="020B0403030101060003" pitchFamily="34" charset="0"/>
              </a:rPr>
              <a:t>Assurer les présentations aux KOL français, belges  italiens (biologistes et réanimateurs)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22579CFD-CDA2-428E-9527-E7B5C59534A4}"/>
              </a:ext>
            </a:extLst>
          </p:cNvPr>
          <p:cNvSpPr txBox="1">
            <a:spLocks/>
          </p:cNvSpPr>
          <p:nvPr/>
        </p:nvSpPr>
        <p:spPr>
          <a:xfrm>
            <a:off x="444500" y="5446891"/>
            <a:ext cx="316992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40640" algn="just">
              <a:lnSpc>
                <a:spcPts val="1000"/>
              </a:lnSpc>
            </a:pPr>
            <a:r>
              <a:rPr lang="fr-FR" sz="1000" i="1" kern="0" dirty="0">
                <a:latin typeface="Raleway" panose="020B0503030101060003" pitchFamily="34" charset="0"/>
              </a:rPr>
              <a:t>Réussite : </a:t>
            </a:r>
            <a:r>
              <a:rPr lang="fr-FR" sz="1000" b="0" i="1" kern="0" dirty="0">
                <a:latin typeface="Raleway Light" panose="020B0403030101060003" pitchFamily="34" charset="0"/>
              </a:rPr>
              <a:t>Installation de 4 plateformes (1 FR, 1 BEL et 2  ITA), construction d’un modèle économie, mise en place  d’une nouvelle stratégie marketing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5" name="object 5">
            <a:extLst>
              <a:ext uri="{FF2B5EF4-FFF2-40B4-BE49-F238E27FC236}">
                <a16:creationId xmlns:a16="http://schemas.microsoft.com/office/drawing/2014/main" id="{C20BA24C-1550-43F4-94EB-23F70FEA8FF2}"/>
              </a:ext>
            </a:extLst>
          </p:cNvPr>
          <p:cNvSpPr txBox="1">
            <a:spLocks/>
          </p:cNvSpPr>
          <p:nvPr/>
        </p:nvSpPr>
        <p:spPr>
          <a:xfrm>
            <a:off x="444500" y="6039905"/>
            <a:ext cx="3257550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kern="0" spc="50" dirty="0">
                <a:solidFill>
                  <a:srgbClr val="F7931D"/>
                </a:solidFill>
                <a:latin typeface="Raleway" panose="020B0503030101060003" pitchFamily="34" charset="0"/>
              </a:rPr>
              <a:t>RESPONSABLE RÉGIONAL @ ENTREPRISE XXX /</a:t>
            </a:r>
            <a:endParaRPr lang="fr-FR" sz="1000" kern="0" spc="50" dirty="0">
              <a:latin typeface="Raleway" panose="020B0503030101060003" pitchFamily="34" charset="0"/>
            </a:endParaRPr>
          </a:p>
          <a:p>
            <a:pPr algn="just"/>
            <a:r>
              <a:rPr lang="fr-FR" sz="1000" kern="0" spc="50" dirty="0">
                <a:latin typeface="Raleway" panose="020B0503030101060003" pitchFamily="34" charset="0"/>
              </a:rPr>
              <a:t>08/2010-01/2015, PARIS</a:t>
            </a:r>
          </a:p>
          <a:p>
            <a:pPr marR="45720">
              <a:lnSpc>
                <a:spcPts val="1000"/>
              </a:lnSpc>
              <a:spcBef>
                <a:spcPts val="425"/>
              </a:spcBef>
              <a:buFontTx/>
              <a:buChar char="•"/>
              <a:tabLst>
                <a:tab pos="89535" algn="l"/>
              </a:tabLst>
            </a:pPr>
            <a:r>
              <a:rPr lang="fr-FR" sz="1000" b="0" kern="0" dirty="0">
                <a:latin typeface="Raleway Light" panose="020B0403030101060003" pitchFamily="34" charset="0"/>
              </a:rPr>
              <a:t>Développer les ventes (Instruments &amp; </a:t>
            </a:r>
            <a:r>
              <a:rPr lang="fr-FR" sz="1000" b="0" kern="0" dirty="0" err="1">
                <a:latin typeface="Raleway Light" panose="020B0403030101060003" pitchFamily="34" charset="0"/>
              </a:rPr>
              <a:t>Réactfs</a:t>
            </a:r>
            <a:r>
              <a:rPr lang="fr-FR" sz="1000" b="0" kern="0" dirty="0">
                <a:latin typeface="Raleway Light" panose="020B0403030101060003" pitchFamily="34" charset="0"/>
              </a:rPr>
              <a:t> PCR)  pour une clientèle de biologistes publiques et privées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6" name="object 5">
            <a:extLst>
              <a:ext uri="{FF2B5EF4-FFF2-40B4-BE49-F238E27FC236}">
                <a16:creationId xmlns:a16="http://schemas.microsoft.com/office/drawing/2014/main" id="{D00F7D3C-0782-43F6-A4D9-942A3F900B5F}"/>
              </a:ext>
            </a:extLst>
          </p:cNvPr>
          <p:cNvSpPr txBox="1">
            <a:spLocks/>
          </p:cNvSpPr>
          <p:nvPr/>
        </p:nvSpPr>
        <p:spPr>
          <a:xfrm>
            <a:off x="444500" y="6813142"/>
            <a:ext cx="3169920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280035" algn="just">
              <a:lnSpc>
                <a:spcPts val="1000"/>
              </a:lnSpc>
            </a:pPr>
            <a:r>
              <a:rPr lang="fr-FR" sz="1000" i="1" kern="0" dirty="0">
                <a:latin typeface="Raleway" panose="020B0503030101060003" pitchFamily="34" charset="0"/>
              </a:rPr>
              <a:t>Réussites : </a:t>
            </a:r>
            <a:r>
              <a:rPr lang="fr-FR" sz="1000" b="0" i="1" kern="0" dirty="0">
                <a:latin typeface="Raleway Light" panose="020B0403030101060003" pitchFamily="34" charset="0"/>
              </a:rPr>
              <a:t>Évolution de 100 k€ de vente en 2010 et  900 k€ en 2014, 21 nouveaux clients en portefeuille,  augmentation du nombre de tests différents utilisés  par compte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7" name="object 5">
            <a:extLst>
              <a:ext uri="{FF2B5EF4-FFF2-40B4-BE49-F238E27FC236}">
                <a16:creationId xmlns:a16="http://schemas.microsoft.com/office/drawing/2014/main" id="{1BBEFA2C-1B70-4115-B15D-7CC335352E0F}"/>
              </a:ext>
            </a:extLst>
          </p:cNvPr>
          <p:cNvSpPr txBox="1">
            <a:spLocks/>
          </p:cNvSpPr>
          <p:nvPr/>
        </p:nvSpPr>
        <p:spPr>
          <a:xfrm>
            <a:off x="444500" y="7526158"/>
            <a:ext cx="3169920" cy="48731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sz="1000" kern="0" spc="50" dirty="0">
                <a:solidFill>
                  <a:srgbClr val="F7931D"/>
                </a:solidFill>
                <a:latin typeface="Raleway" panose="020B0503030101060003" pitchFamily="34" charset="0"/>
              </a:rPr>
              <a:t>RESPONSABLE COMMERCIAL OUEST @</a:t>
            </a:r>
            <a:endParaRPr lang="fr-FR" sz="1000" kern="0" spc="50" dirty="0">
              <a:latin typeface="Raleway" panose="020B0503030101060003" pitchFamily="34" charset="0"/>
            </a:endParaRPr>
          </a:p>
          <a:p>
            <a:r>
              <a:rPr lang="fr-FR" sz="1000" kern="0" spc="50" dirty="0">
                <a:solidFill>
                  <a:srgbClr val="F7931D"/>
                </a:solidFill>
                <a:latin typeface="Raleway" panose="020B0503030101060003" pitchFamily="34" charset="0"/>
              </a:rPr>
              <a:t>ENTREPRISE XXX / </a:t>
            </a:r>
            <a:r>
              <a:rPr lang="fr-FR" sz="1000" kern="0" spc="50" dirty="0">
                <a:latin typeface="Raleway" panose="020B0503030101060003" pitchFamily="34" charset="0"/>
              </a:rPr>
              <a:t>08/2008-08/2010, PARIS</a:t>
            </a:r>
          </a:p>
          <a:p>
            <a:pPr indent="-76835">
              <a:spcBef>
                <a:spcPts val="225"/>
              </a:spcBef>
              <a:buFontTx/>
              <a:buChar char="•"/>
              <a:tabLst>
                <a:tab pos="89535" algn="l"/>
              </a:tabLst>
            </a:pPr>
            <a:r>
              <a:rPr lang="fr-FR" sz="1000" b="0" kern="0" dirty="0">
                <a:latin typeface="Raleway Light" panose="020B0403030101060003" pitchFamily="34" charset="0"/>
              </a:rPr>
              <a:t>Gérer le portefeuille client et assurer la prospection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8" name="object 5">
            <a:extLst>
              <a:ext uri="{FF2B5EF4-FFF2-40B4-BE49-F238E27FC236}">
                <a16:creationId xmlns:a16="http://schemas.microsoft.com/office/drawing/2014/main" id="{6AC4C8B2-EEEF-4D66-A1F1-3CD4697FDCD5}"/>
              </a:ext>
            </a:extLst>
          </p:cNvPr>
          <p:cNvSpPr txBox="1">
            <a:spLocks/>
          </p:cNvSpPr>
          <p:nvPr/>
        </p:nvSpPr>
        <p:spPr>
          <a:xfrm>
            <a:off x="444500" y="8731234"/>
            <a:ext cx="3169920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526415"/>
            <a:r>
              <a:rPr lang="fr-FR" sz="1000" kern="0" spc="50" dirty="0">
                <a:solidFill>
                  <a:srgbClr val="F7931D"/>
                </a:solidFill>
                <a:latin typeface="Raleway" panose="020B0503030101060003" pitchFamily="34" charset="0"/>
              </a:rPr>
              <a:t>RESPONSABLE EXPORT EU / PRODUITS  VÉTÉRINAIRES @ ENTREPRISE XXX /</a:t>
            </a:r>
            <a:endParaRPr lang="fr-FR" sz="1000" kern="0" spc="50" dirty="0">
              <a:latin typeface="Raleway" panose="020B0503030101060003" pitchFamily="34" charset="0"/>
            </a:endParaRPr>
          </a:p>
          <a:p>
            <a:r>
              <a:rPr lang="fr-FR" sz="1000" kern="0" spc="50" dirty="0">
                <a:latin typeface="Raleway" panose="020B0503030101060003" pitchFamily="34" charset="0"/>
              </a:rPr>
              <a:t>09/2004-04/2008, LONDRES</a:t>
            </a:r>
          </a:p>
          <a:p>
            <a:pPr indent="-76835">
              <a:lnSpc>
                <a:spcPts val="1100"/>
              </a:lnSpc>
              <a:spcBef>
                <a:spcPts val="409"/>
              </a:spcBef>
              <a:buFontTx/>
              <a:buChar char="•"/>
              <a:tabLst>
                <a:tab pos="89535" algn="l"/>
              </a:tabLst>
            </a:pPr>
            <a:r>
              <a:rPr lang="fr-FR" sz="1000" b="0" kern="0" dirty="0">
                <a:latin typeface="Raleway Light" panose="020B0403030101060003" pitchFamily="34" charset="0"/>
              </a:rPr>
              <a:t>Gérer le portefeuille client existant (Royaume-Uni)</a:t>
            </a:r>
            <a:endParaRPr lang="fr-FR" sz="1000" kern="0" dirty="0">
              <a:latin typeface="Raleway Light" panose="020B0403030101060003" pitchFamily="34" charset="0"/>
            </a:endParaRPr>
          </a:p>
          <a:p>
            <a:pPr indent="-76835">
              <a:lnSpc>
                <a:spcPts val="1100"/>
              </a:lnSpc>
              <a:buFontTx/>
              <a:buChar char="•"/>
              <a:tabLst>
                <a:tab pos="89535" algn="l"/>
              </a:tabLst>
            </a:pPr>
            <a:r>
              <a:rPr lang="fr-FR" sz="1000" b="0" kern="0" dirty="0">
                <a:latin typeface="Raleway Light" panose="020B0403030101060003" pitchFamily="34" charset="0"/>
              </a:rPr>
              <a:t>Prospecter de nouveaux marchés (Italie et Irlande)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29" name="object 5">
            <a:extLst>
              <a:ext uri="{FF2B5EF4-FFF2-40B4-BE49-F238E27FC236}">
                <a16:creationId xmlns:a16="http://schemas.microsoft.com/office/drawing/2014/main" id="{E1E731EF-036F-4EB7-A370-99A152FD4615}"/>
              </a:ext>
            </a:extLst>
          </p:cNvPr>
          <p:cNvSpPr txBox="1">
            <a:spLocks/>
          </p:cNvSpPr>
          <p:nvPr/>
        </p:nvSpPr>
        <p:spPr>
          <a:xfrm>
            <a:off x="444500" y="8136581"/>
            <a:ext cx="3169920" cy="3847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>
              <a:defRPr sz="1400" b="1" i="0">
                <a:solidFill>
                  <a:srgbClr val="231F20"/>
                </a:solidFill>
                <a:latin typeface="Trebuchet MS"/>
                <a:ea typeface="+mn-ea"/>
                <a:cs typeface="Trebuchet M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R="227965">
              <a:lnSpc>
                <a:spcPts val="1000"/>
              </a:lnSpc>
            </a:pPr>
            <a:r>
              <a:rPr lang="fr-FR" sz="1000" i="1" kern="0" dirty="0">
                <a:latin typeface="Raleway" panose="020B0503030101060003" pitchFamily="34" charset="0"/>
              </a:rPr>
              <a:t>Réussites : </a:t>
            </a:r>
            <a:r>
              <a:rPr lang="fr-FR" sz="1000" b="0" i="1" kern="0" dirty="0">
                <a:latin typeface="Raleway Light" panose="020B0403030101060003" pitchFamily="34" charset="0"/>
              </a:rPr>
              <a:t>Atteinte des objectifs avec 500 k€ de CA  de vente en ligne, forte croissance sur la vente de  consommables et d’instruments</a:t>
            </a:r>
            <a:r>
              <a:rPr lang="fr-FR" sz="1000" b="0" kern="0" dirty="0">
                <a:latin typeface="Raleway Light" panose="020B0403030101060003" pitchFamily="34" charset="0"/>
              </a:rPr>
              <a:t>)</a:t>
            </a:r>
            <a:endParaRPr lang="fr-FR" sz="1000" kern="0" dirty="0">
              <a:latin typeface="Raleway Light" panose="020B0403030101060003" pitchFamily="34" charset="0"/>
            </a:endParaRPr>
          </a:p>
        </p:txBody>
      </p:sp>
      <p:sp>
        <p:nvSpPr>
          <p:cNvPr id="30" name="object 7">
            <a:extLst>
              <a:ext uri="{FF2B5EF4-FFF2-40B4-BE49-F238E27FC236}">
                <a16:creationId xmlns:a16="http://schemas.microsoft.com/office/drawing/2014/main" id="{C5616FA1-E031-426D-9D2B-2A92A018487D}"/>
              </a:ext>
            </a:extLst>
          </p:cNvPr>
          <p:cNvSpPr/>
          <p:nvPr/>
        </p:nvSpPr>
        <p:spPr>
          <a:xfrm>
            <a:off x="2470148" y="9926019"/>
            <a:ext cx="457200" cy="417040"/>
          </a:xfrm>
          <a:custGeom>
            <a:avLst/>
            <a:gdLst/>
            <a:ahLst/>
            <a:cxnLst/>
            <a:rect l="l" t="t" r="r" b="b"/>
            <a:pathLst>
              <a:path w="767714" h="798195">
                <a:moveTo>
                  <a:pt x="0" y="395960"/>
                </a:moveTo>
                <a:lnTo>
                  <a:pt x="400126" y="797991"/>
                </a:lnTo>
                <a:lnTo>
                  <a:pt x="767626" y="402031"/>
                </a:lnTo>
                <a:lnTo>
                  <a:pt x="367499" y="0"/>
                </a:lnTo>
                <a:lnTo>
                  <a:pt x="0" y="395960"/>
                </a:lnTo>
                <a:close/>
              </a:path>
            </a:pathLst>
          </a:custGeom>
          <a:solidFill>
            <a:schemeClr val="bg1"/>
          </a:solidFill>
          <a:ln w="50800">
            <a:solidFill>
              <a:srgbClr val="F9DDA4"/>
            </a:solidFill>
            <a:miter lim="800000"/>
          </a:ln>
        </p:spPr>
        <p:txBody>
          <a:bodyPr wrap="square" lIns="0" tIns="0" rIns="0" bIns="0" rtlCol="0"/>
          <a:lstStyle/>
          <a:p>
            <a:endParaRPr dirty="0">
              <a:latin typeface="Raleway Light" panose="020B0403030101060003" pitchFamily="34" charset="0"/>
            </a:endParaRPr>
          </a:p>
        </p:txBody>
      </p:sp>
      <p:sp>
        <p:nvSpPr>
          <p:cNvPr id="33" name="object 7">
            <a:extLst>
              <a:ext uri="{FF2B5EF4-FFF2-40B4-BE49-F238E27FC236}">
                <a16:creationId xmlns:a16="http://schemas.microsoft.com/office/drawing/2014/main" id="{9327ACAC-AA62-4041-9613-74A381700CC8}"/>
              </a:ext>
            </a:extLst>
          </p:cNvPr>
          <p:cNvSpPr/>
          <p:nvPr/>
        </p:nvSpPr>
        <p:spPr>
          <a:xfrm>
            <a:off x="4645025" y="9935545"/>
            <a:ext cx="457200" cy="417040"/>
          </a:xfrm>
          <a:custGeom>
            <a:avLst/>
            <a:gdLst/>
            <a:ahLst/>
            <a:cxnLst/>
            <a:rect l="l" t="t" r="r" b="b"/>
            <a:pathLst>
              <a:path w="767714" h="798195">
                <a:moveTo>
                  <a:pt x="0" y="395960"/>
                </a:moveTo>
                <a:lnTo>
                  <a:pt x="400126" y="797991"/>
                </a:lnTo>
                <a:lnTo>
                  <a:pt x="767626" y="402031"/>
                </a:lnTo>
                <a:lnTo>
                  <a:pt x="367499" y="0"/>
                </a:lnTo>
                <a:lnTo>
                  <a:pt x="0" y="395960"/>
                </a:lnTo>
                <a:close/>
              </a:path>
            </a:pathLst>
          </a:custGeom>
          <a:solidFill>
            <a:schemeClr val="bg1"/>
          </a:solidFill>
          <a:ln w="50800">
            <a:solidFill>
              <a:srgbClr val="A6E1DF"/>
            </a:solidFill>
            <a:miter lim="800000"/>
          </a:ln>
        </p:spPr>
        <p:txBody>
          <a:bodyPr wrap="square" lIns="0" tIns="0" rIns="0" bIns="0" rtlCol="0"/>
          <a:lstStyle/>
          <a:p>
            <a:endParaRPr dirty="0">
              <a:latin typeface="Raleway Light" panose="020B0403030101060003" pitchFamily="34" charset="0"/>
            </a:endParaRPr>
          </a:p>
        </p:txBody>
      </p:sp>
      <p:sp>
        <p:nvSpPr>
          <p:cNvPr id="46" name="object 7">
            <a:extLst>
              <a:ext uri="{FF2B5EF4-FFF2-40B4-BE49-F238E27FC236}">
                <a16:creationId xmlns:a16="http://schemas.microsoft.com/office/drawing/2014/main" id="{CCFB4216-6A59-4C48-AE2A-B244EF4CCF96}"/>
              </a:ext>
            </a:extLst>
          </p:cNvPr>
          <p:cNvSpPr/>
          <p:nvPr/>
        </p:nvSpPr>
        <p:spPr>
          <a:xfrm>
            <a:off x="3700761" y="9741295"/>
            <a:ext cx="767715" cy="798195"/>
          </a:xfrm>
          <a:custGeom>
            <a:avLst/>
            <a:gdLst/>
            <a:ahLst/>
            <a:cxnLst/>
            <a:rect l="l" t="t" r="r" b="b"/>
            <a:pathLst>
              <a:path w="767714" h="798195">
                <a:moveTo>
                  <a:pt x="0" y="395960"/>
                </a:moveTo>
                <a:lnTo>
                  <a:pt x="400126" y="797991"/>
                </a:lnTo>
                <a:lnTo>
                  <a:pt x="767626" y="402031"/>
                </a:lnTo>
                <a:lnTo>
                  <a:pt x="367499" y="0"/>
                </a:lnTo>
                <a:lnTo>
                  <a:pt x="0" y="395960"/>
                </a:lnTo>
                <a:close/>
              </a:path>
            </a:pathLst>
          </a:custGeom>
          <a:ln w="50800">
            <a:solidFill>
              <a:srgbClr val="20B5B0"/>
            </a:solidFill>
            <a:miter lim="800000"/>
          </a:ln>
        </p:spPr>
        <p:txBody>
          <a:bodyPr wrap="square" lIns="0" tIns="0" rIns="0" bIns="0" rtlCol="0"/>
          <a:lstStyle/>
          <a:p>
            <a:endParaRPr dirty="0">
              <a:latin typeface="Raleway Light" panose="020B0403030101060003" pitchFamily="34" charset="0"/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ABAD33C-A661-4700-AF52-60FC73E5E508}"/>
              </a:ext>
            </a:extLst>
          </p:cNvPr>
          <p:cNvGrpSpPr/>
          <p:nvPr/>
        </p:nvGrpSpPr>
        <p:grpSpPr>
          <a:xfrm>
            <a:off x="235268" y="275022"/>
            <a:ext cx="3454082" cy="3373180"/>
            <a:chOff x="3940493" y="275022"/>
            <a:chExt cx="3454082" cy="3373180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47A6B852-EFD4-48B0-BA61-E7F96E0A3ADA}"/>
                </a:ext>
              </a:extLst>
            </p:cNvPr>
            <p:cNvSpPr/>
            <p:nvPr/>
          </p:nvSpPr>
          <p:spPr>
            <a:xfrm>
              <a:off x="4415282" y="1179897"/>
              <a:ext cx="380873" cy="2173958"/>
            </a:xfrm>
            <a:prstGeom prst="rect">
              <a:avLst/>
            </a:prstGeom>
            <a:solidFill>
              <a:srgbClr val="F8D4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F8E2435-E198-46B1-9E26-9C2B1FB3701B}"/>
                </a:ext>
              </a:extLst>
            </p:cNvPr>
            <p:cNvSpPr/>
            <p:nvPr/>
          </p:nvSpPr>
          <p:spPr>
            <a:xfrm>
              <a:off x="4592097" y="275022"/>
              <a:ext cx="192024" cy="707324"/>
            </a:xfrm>
            <a:prstGeom prst="rect">
              <a:avLst/>
            </a:prstGeom>
            <a:solidFill>
              <a:srgbClr val="79D2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A9BBFF8-F53B-408D-92D2-AD577E08454B}"/>
                </a:ext>
              </a:extLst>
            </p:cNvPr>
            <p:cNvSpPr/>
            <p:nvPr/>
          </p:nvSpPr>
          <p:spPr>
            <a:xfrm>
              <a:off x="4415282" y="601155"/>
              <a:ext cx="2606040" cy="365760"/>
            </a:xfrm>
            <a:prstGeom prst="rect">
              <a:avLst/>
            </a:prstGeom>
            <a:solidFill>
              <a:srgbClr val="F0A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CAA5C38-1776-4EC1-8536-644A90D8A3F0}"/>
                </a:ext>
              </a:extLst>
            </p:cNvPr>
            <p:cNvSpPr/>
            <p:nvPr/>
          </p:nvSpPr>
          <p:spPr>
            <a:xfrm>
              <a:off x="3942874" y="275022"/>
              <a:ext cx="649224" cy="212115"/>
            </a:xfrm>
            <a:prstGeom prst="rect">
              <a:avLst/>
            </a:prstGeom>
            <a:solidFill>
              <a:srgbClr val="20B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90E1714-3951-4EB3-8B84-FE312A4600EC}"/>
                </a:ext>
              </a:extLst>
            </p:cNvPr>
            <p:cNvSpPr/>
            <p:nvPr/>
          </p:nvSpPr>
          <p:spPr>
            <a:xfrm>
              <a:off x="3940493" y="965584"/>
              <a:ext cx="859536" cy="212115"/>
            </a:xfrm>
            <a:prstGeom prst="rect">
              <a:avLst/>
            </a:prstGeom>
            <a:solidFill>
              <a:srgbClr val="20B5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72F2C15-03C9-444A-99F7-8D8B96FC9151}"/>
                </a:ext>
              </a:extLst>
            </p:cNvPr>
            <p:cNvSpPr/>
            <p:nvPr/>
          </p:nvSpPr>
          <p:spPr>
            <a:xfrm>
              <a:off x="3940493" y="486952"/>
              <a:ext cx="183355" cy="484632"/>
            </a:xfrm>
            <a:prstGeom prst="rect">
              <a:avLst/>
            </a:prstGeom>
            <a:solidFill>
              <a:srgbClr val="79D2D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E38781D-C233-417B-A850-9D240CC581F5}"/>
                </a:ext>
              </a:extLst>
            </p:cNvPr>
            <p:cNvSpPr/>
            <p:nvPr/>
          </p:nvSpPr>
          <p:spPr>
            <a:xfrm>
              <a:off x="7013702" y="601156"/>
              <a:ext cx="380873" cy="2766988"/>
            </a:xfrm>
            <a:prstGeom prst="rect">
              <a:avLst/>
            </a:prstGeom>
            <a:solidFill>
              <a:srgbClr val="F8D48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12B5931A-AABB-4A10-A2B2-1C5C66317EBC}"/>
                </a:ext>
              </a:extLst>
            </p:cNvPr>
            <p:cNvSpPr/>
            <p:nvPr/>
          </p:nvSpPr>
          <p:spPr>
            <a:xfrm>
              <a:off x="4415282" y="3282442"/>
              <a:ext cx="2978150" cy="365760"/>
            </a:xfrm>
            <a:prstGeom prst="rect">
              <a:avLst/>
            </a:prstGeom>
            <a:solidFill>
              <a:srgbClr val="F0AB1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Words>354</Words>
  <Application>Microsoft Office PowerPoint</Application>
  <PresentationFormat>Personnalisé</PresentationFormat>
  <Paragraphs>46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1" baseType="lpstr">
      <vt:lpstr>Arial</vt:lpstr>
      <vt:lpstr>Calibri</vt:lpstr>
      <vt:lpstr>Calibri Light</vt:lpstr>
      <vt:lpstr>Raleway</vt:lpstr>
      <vt:lpstr>Raleway ExtraBold</vt:lpstr>
      <vt:lpstr>Raleway ExtraLight</vt:lpstr>
      <vt:lpstr>Raleway Light</vt:lpstr>
      <vt:lpstr>Raleway SemiBold</vt:lpstr>
      <vt:lpstr>Trebuchet MS</vt:lpstr>
      <vt:lpstr>Office Theme</vt:lpstr>
      <vt:lpstr>ADRIEN MERCIER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ADRIEN MERCIER</dc:title>
  <dc:creator>Estelle</dc:creator>
  <cp:lastModifiedBy>Estelle</cp:lastModifiedBy>
  <cp:revision>80</cp:revision>
  <dcterms:created xsi:type="dcterms:W3CDTF">2021-06-12T13:11:23Z</dcterms:created>
  <dcterms:modified xsi:type="dcterms:W3CDTF">2021-10-22T13:36:52Z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2021-06-12T00:00:00Z</vt:filetime>
  </property>
  <property fmtid="{D5CDD505-2E9C-101B-9397-08002B2CF9AE}" pid="3" name="Creator">
    <vt:lpwstr>Adobe InDesign 15.1 (Windows)</vt:lpwstr>
  </property>
  <property fmtid="{D5CDD505-2E9C-101B-9397-08002B2CF9AE}" pid="4" name="LastSaved">
    <vt:filetime>2021-06-12T00:00:00Z</vt:filetime>
  </property>
</Properties>
</file>