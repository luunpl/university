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676B2"/>
    <a:srgbClr val="E9E9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300" autoAdjust="0"/>
    <p:restoredTop sz="95280" autoAdjust="0"/>
  </p:normalViewPr>
  <p:slideViewPr>
    <p:cSldViewPr>
      <p:cViewPr varScale="1">
        <p:scale>
          <a:sx n="54" d="100"/>
          <a:sy n="54" d="100"/>
        </p:scale>
        <p:origin x="3086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1" i="0">
                <a:solidFill>
                  <a:srgbClr val="B676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1" i="0">
                <a:solidFill>
                  <a:srgbClr val="B676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1" i="0">
                <a:solidFill>
                  <a:srgbClr val="B676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223667"/>
            <a:ext cx="6673850" cy="1544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rgbClr val="B676B2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A picture containing person, plate, white, hairpiece&#10;&#10;Description automatically generated">
            <a:extLst>
              <a:ext uri="{FF2B5EF4-FFF2-40B4-BE49-F238E27FC236}">
                <a16:creationId xmlns:a16="http://schemas.microsoft.com/office/drawing/2014/main" id="{FD3FD86D-8E0F-49BD-804A-A28B4E9408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3992" y="670830"/>
            <a:ext cx="1673352" cy="1673352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F9B05440-7CBD-48B9-B6EA-BFD2E5C36C23}"/>
              </a:ext>
            </a:extLst>
          </p:cNvPr>
          <p:cNvSpPr/>
          <p:nvPr/>
        </p:nvSpPr>
        <p:spPr>
          <a:xfrm>
            <a:off x="4428486" y="9844848"/>
            <a:ext cx="2662555" cy="848551"/>
          </a:xfrm>
          <a:prstGeom prst="rect">
            <a:avLst/>
          </a:prstGeom>
          <a:solidFill>
            <a:srgbClr val="B676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AD12F9-A2B9-4599-B02C-E1A861C4F00F}"/>
              </a:ext>
            </a:extLst>
          </p:cNvPr>
          <p:cNvSpPr/>
          <p:nvPr/>
        </p:nvSpPr>
        <p:spPr>
          <a:xfrm>
            <a:off x="3514585" y="2663887"/>
            <a:ext cx="3588362" cy="1636776"/>
          </a:xfrm>
          <a:prstGeom prst="rect">
            <a:avLst/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/>
          <p:nvPr/>
        </p:nvSpPr>
        <p:spPr>
          <a:xfrm>
            <a:off x="4621755" y="4477085"/>
            <a:ext cx="136629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Trebuchet MS"/>
              </a:rPr>
              <a:t>FORMATION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1782361"/>
            <a:ext cx="3542029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210"/>
              </a:lnSpc>
              <a:spcBef>
                <a:spcPts val="100"/>
              </a:spcBef>
            </a:pPr>
            <a:r>
              <a:rPr sz="1100" dirty="0">
                <a:solidFill>
                  <a:srgbClr val="6D6E71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INGÉNIEURE D’AFFAIRES - KEY ACCOUNT MANAGER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ts val="1210"/>
              </a:lnSpc>
            </a:pPr>
            <a:r>
              <a:rPr sz="1100" dirty="0">
                <a:solidFill>
                  <a:srgbClr val="6D6E71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+12 ANS D’EXPÉRIENCE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9912622"/>
            <a:ext cx="371475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i="1" dirty="0">
                <a:solidFill>
                  <a:srgbClr val="B676B2"/>
                </a:solidFill>
                <a:latin typeface="Roboto" panose="02000000000000000000" pitchFamily="2" charset="0"/>
                <a:ea typeface="Roboto" panose="02000000000000000000" pitchFamily="2" charset="0"/>
                <a:cs typeface="Arial"/>
              </a:rPr>
              <a:t>Expertise technique  //  Trilingue  //  Expérience internationale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21754" y="8727109"/>
            <a:ext cx="1061493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Trebuchet MS"/>
              </a:rPr>
              <a:t>INTÉRÊTS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21755" y="7484211"/>
            <a:ext cx="182349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Trebuchet MS"/>
              </a:rPr>
              <a:t>CERTIFICATIONS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4402" y="2765221"/>
            <a:ext cx="3070183" cy="551433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1094740">
              <a:lnSpc>
                <a:spcPts val="2000"/>
              </a:lnSpc>
              <a:spcBef>
                <a:spcPts val="300"/>
              </a:spcBef>
            </a:pPr>
            <a:r>
              <a:rPr sz="1800" b="1" dirty="0">
                <a:solidFill>
                  <a:srgbClr val="58595B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Trebuchet MS"/>
              </a:rPr>
              <a:t>EXPÉRIENCES  PROFESSIONNELLES</a:t>
            </a:r>
            <a:endParaRPr sz="1000" b="1" dirty="0">
              <a:latin typeface="Roboto Condensed" panose="02000000000000000000" pitchFamily="2" charset="0"/>
              <a:ea typeface="Roboto Condensed" panose="02000000000000000000" pitchFamily="2" charset="0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02628" y="6658233"/>
            <a:ext cx="1122045" cy="58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5725">
              <a:lnSpc>
                <a:spcPct val="125000"/>
              </a:lnSpc>
              <a:spcBef>
                <a:spcPts val="100"/>
              </a:spcBef>
            </a:pPr>
            <a:r>
              <a:rPr sz="10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PACK OFFICE  CRM ACT! (SAGE)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SALESFORCE.COM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58800" y="4789020"/>
            <a:ext cx="3053715" cy="457200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12700" marR="5080" algn="just">
              <a:lnSpc>
                <a:spcPct val="91700"/>
              </a:lnSpc>
              <a:spcBef>
                <a:spcPts val="200"/>
              </a:spcBef>
            </a:pPr>
            <a:r>
              <a:rPr sz="1000" b="1" i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 Lt"/>
              </a:rPr>
              <a:t>Réussite : </a:t>
            </a:r>
            <a:r>
              <a:rPr sz="1000" i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Installation de 4 plateformes (1 FR, 1 BEL et 2  ITA), construction d’un modèle économie, mise en place  d’une nouvelle stratégie marketing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4500" y="5436720"/>
            <a:ext cx="3599179" cy="1381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RESPONSABLE RÉGIONALE</a:t>
            </a:r>
            <a:endParaRPr sz="12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sz="1100" dirty="0">
                <a:solidFill>
                  <a:srgbClr val="6D6E71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ENTREPRISE XXX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r>
              <a:rPr sz="1000" dirty="0">
                <a:solidFill>
                  <a:srgbClr val="B676B2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08/2010 - 01/2015 | PARIS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 marL="127000" marR="5080">
              <a:lnSpc>
                <a:spcPts val="1000"/>
              </a:lnSpc>
              <a:spcBef>
                <a:spcPts val="500"/>
              </a:spcBef>
            </a:pPr>
            <a:r>
              <a:rPr sz="10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Développer les ventes (Instruments &amp; Réactfs PCR) pour une  clientèle de biologistes publiques et privées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 marL="127000" marR="151130">
              <a:lnSpc>
                <a:spcPct val="91700"/>
              </a:lnSpc>
              <a:spcBef>
                <a:spcPts val="400"/>
              </a:spcBef>
            </a:pPr>
            <a:r>
              <a:rPr sz="1000" b="1" i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 Lt"/>
              </a:rPr>
              <a:t>Réussites : </a:t>
            </a:r>
            <a:r>
              <a:rPr sz="1000" i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Évolution de 100 k€ de vente en 2010 et 900 k€ en  2014, 21 nouveaux clients en portefeuille, augmentation du  nombre de tests différents utilisés par compte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4500" y="7008981"/>
            <a:ext cx="3427095" cy="1229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RESPONSABLE COMMERCIALE OUEST</a:t>
            </a:r>
            <a:endParaRPr sz="12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r>
              <a:rPr sz="1100" dirty="0">
                <a:solidFill>
                  <a:srgbClr val="6D6E71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ENTREPRISE XXX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r>
              <a:rPr sz="1000" dirty="0">
                <a:solidFill>
                  <a:srgbClr val="B676B2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08/2008 - 08/2010 | PARIS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 marL="127000">
              <a:lnSpc>
                <a:spcPct val="100000"/>
              </a:lnSpc>
              <a:spcBef>
                <a:spcPts val="300"/>
              </a:spcBef>
            </a:pPr>
            <a:r>
              <a:rPr sz="10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Gérer le portefeuille client et assurer la prospection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 marL="127000" marR="5080">
              <a:lnSpc>
                <a:spcPts val="1000"/>
              </a:lnSpc>
              <a:spcBef>
                <a:spcPts val="500"/>
              </a:spcBef>
            </a:pPr>
            <a:r>
              <a:rPr sz="1000" b="1" i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 Lt"/>
              </a:rPr>
              <a:t>Réussites : </a:t>
            </a:r>
            <a:r>
              <a:rPr sz="1000" i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Atteinte des objectifs avec 500 k€ de CA de vente  en ligne, forte croissance sur la vente de consommables et  d’instruments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4500" y="8403440"/>
            <a:ext cx="3011170" cy="115316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R="991869">
              <a:lnSpc>
                <a:spcPts val="1400"/>
              </a:lnSpc>
              <a:spcBef>
                <a:spcPts val="180"/>
              </a:spcBef>
            </a:pPr>
            <a:r>
              <a:rPr sz="1200" b="1" dirty="0"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RESPONSABLE EXPORT EU /  PRODUITS VÉTÉRINAIRES</a:t>
            </a:r>
            <a:endParaRPr sz="12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1100" dirty="0">
                <a:solidFill>
                  <a:srgbClr val="6D6E71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ENTREPRISE XXX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r>
              <a:rPr sz="1000" dirty="0">
                <a:solidFill>
                  <a:srgbClr val="B676B2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09/2004 - 04/2008 | LONDRES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 marL="127000" marR="5080">
              <a:lnSpc>
                <a:spcPct val="125000"/>
              </a:lnSpc>
            </a:pPr>
            <a:r>
              <a:rPr sz="10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Gérer le portefeuille client existant (Royaume-Uni)  Prospecter de nouveaux marchés (Italie et Irlande)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11905" y="2660714"/>
            <a:ext cx="502920" cy="1645920"/>
          </a:xfrm>
          <a:custGeom>
            <a:avLst/>
            <a:gdLst/>
            <a:ahLst/>
            <a:cxnLst/>
            <a:rect l="l" t="t" r="r" b="b"/>
            <a:pathLst>
              <a:path w="502920" h="1645920">
                <a:moveTo>
                  <a:pt x="502678" y="0"/>
                </a:moveTo>
                <a:lnTo>
                  <a:pt x="0" y="762749"/>
                </a:lnTo>
                <a:lnTo>
                  <a:pt x="502678" y="1645920"/>
                </a:lnTo>
                <a:lnTo>
                  <a:pt x="502678" y="0"/>
                </a:lnTo>
                <a:close/>
              </a:path>
            </a:pathLst>
          </a:custGeom>
          <a:solidFill>
            <a:srgbClr val="E9E9E9"/>
          </a:solidFill>
        </p:spPr>
        <p:txBody>
          <a:bodyPr wrap="square" lIns="0" tIns="0" rIns="0" bIns="0" rtlCol="0"/>
          <a:lstStyle/>
          <a:p>
            <a:endParaRPr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440391" y="4542346"/>
            <a:ext cx="0" cy="5302885"/>
          </a:xfrm>
          <a:custGeom>
            <a:avLst/>
            <a:gdLst/>
            <a:ahLst/>
            <a:cxnLst/>
            <a:rect l="l" t="t" r="r" b="b"/>
            <a:pathLst>
              <a:path h="5302884">
                <a:moveTo>
                  <a:pt x="0" y="5302504"/>
                </a:moveTo>
                <a:lnTo>
                  <a:pt x="0" y="0"/>
                </a:lnTo>
              </a:path>
            </a:pathLst>
          </a:custGeom>
          <a:ln w="25400">
            <a:solidFill>
              <a:srgbClr val="B676B2"/>
            </a:solidFill>
          </a:ln>
        </p:spPr>
        <p:txBody>
          <a:bodyPr wrap="square" lIns="0" tIns="0" rIns="0" bIns="0" rtlCol="0"/>
          <a:lstStyle/>
          <a:p>
            <a:endParaRPr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5" name="object 16">
            <a:extLst>
              <a:ext uri="{FF2B5EF4-FFF2-40B4-BE49-F238E27FC236}">
                <a16:creationId xmlns:a16="http://schemas.microsoft.com/office/drawing/2014/main" id="{45CCBB66-DAD2-433E-99AB-C64DF94ECCF3}"/>
              </a:ext>
            </a:extLst>
          </p:cNvPr>
          <p:cNvSpPr txBox="1">
            <a:spLocks/>
          </p:cNvSpPr>
          <p:nvPr/>
        </p:nvSpPr>
        <p:spPr>
          <a:xfrm>
            <a:off x="444499" y="482324"/>
            <a:ext cx="2931517" cy="12956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sz="5800" b="1" i="0">
                <a:solidFill>
                  <a:srgbClr val="B676B2"/>
                </a:solidFill>
                <a:latin typeface="Arial"/>
                <a:ea typeface="+mj-ea"/>
                <a:cs typeface="Arial"/>
              </a:defRPr>
            </a:lvl1pPr>
          </a:lstStyle>
          <a:p>
            <a:pPr marR="21590">
              <a:lnSpc>
                <a:spcPct val="71800"/>
              </a:lnSpc>
              <a:spcBef>
                <a:spcPts val="2060"/>
              </a:spcBef>
            </a:pPr>
            <a:r>
              <a:rPr lang="en-US" b="0" kern="0" dirty="0">
                <a:latin typeface="Franklin Gothic Heavy" panose="020B0903020102020204" pitchFamily="34" charset="0"/>
                <a:ea typeface="Roboto" panose="02000000000000000000" pitchFamily="2" charset="0"/>
              </a:rPr>
              <a:t>MARINE  </a:t>
            </a:r>
            <a:r>
              <a:rPr lang="en-US" b="0" kern="0" dirty="0">
                <a:solidFill>
                  <a:srgbClr val="58595B"/>
                </a:solidFill>
                <a:latin typeface="Franklin Gothic Heavy" panose="020B0903020102020204" pitchFamily="34" charset="0"/>
                <a:ea typeface="Roboto" panose="02000000000000000000" pitchFamily="2" charset="0"/>
              </a:rPr>
              <a:t>DUPONT</a:t>
            </a:r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A3600980-8406-4DCD-B3F0-CF7CD729D0B6}"/>
              </a:ext>
            </a:extLst>
          </p:cNvPr>
          <p:cNvSpPr txBox="1"/>
          <p:nvPr/>
        </p:nvSpPr>
        <p:spPr>
          <a:xfrm>
            <a:off x="444500" y="2208048"/>
            <a:ext cx="3542029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880"/>
              </a:spcBef>
            </a:pPr>
            <a:r>
              <a:rPr sz="1100" dirty="0">
                <a:solidFill>
                  <a:srgbClr val="6D6E71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DYNAMIQUE, ORGANISÉE, GOÛT DE LA PERFORMANCE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27" name="object 8">
            <a:extLst>
              <a:ext uri="{FF2B5EF4-FFF2-40B4-BE49-F238E27FC236}">
                <a16:creationId xmlns:a16="http://schemas.microsoft.com/office/drawing/2014/main" id="{A479E913-4B6B-4C93-8E4D-E5BC899F7053}"/>
              </a:ext>
            </a:extLst>
          </p:cNvPr>
          <p:cNvSpPr txBox="1"/>
          <p:nvPr/>
        </p:nvSpPr>
        <p:spPr>
          <a:xfrm>
            <a:off x="444402" y="3473738"/>
            <a:ext cx="3333847" cy="1299202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1097915">
              <a:lnSpc>
                <a:spcPct val="102499"/>
              </a:lnSpc>
              <a:spcBef>
                <a:spcPts val="1620"/>
              </a:spcBef>
            </a:pPr>
            <a:r>
              <a:rPr sz="1200" b="1" dirty="0"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INGÉNIEURE D’AFFAIRES  FRANCE / EUROPE DU SUD  </a:t>
            </a:r>
            <a:r>
              <a:rPr sz="1100" dirty="0">
                <a:solidFill>
                  <a:srgbClr val="6D6E71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DIVISION IBIS BIOSCIENCES  ENTREPRISE XXX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r>
              <a:rPr sz="1000" dirty="0">
                <a:solidFill>
                  <a:srgbClr val="B676B2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01/2015 - PRÉSENT | PARIS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 marL="127000" marR="5080">
              <a:lnSpc>
                <a:spcPts val="1000"/>
              </a:lnSpc>
              <a:spcBef>
                <a:spcPts val="500"/>
              </a:spcBef>
            </a:pPr>
            <a:r>
              <a:rPr sz="10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Assurer les présentations aux KOL français, belges  italiens (biologistes et réanimateurs)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30" name="object 18">
            <a:extLst>
              <a:ext uri="{FF2B5EF4-FFF2-40B4-BE49-F238E27FC236}">
                <a16:creationId xmlns:a16="http://schemas.microsoft.com/office/drawing/2014/main" id="{5088B125-DB12-48AF-8812-37EEAA2BDE4C}"/>
              </a:ext>
            </a:extLst>
          </p:cNvPr>
          <p:cNvSpPr txBox="1"/>
          <p:nvPr/>
        </p:nvSpPr>
        <p:spPr>
          <a:xfrm>
            <a:off x="3653393" y="2729329"/>
            <a:ext cx="810657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95"/>
              </a:spcBef>
            </a:pPr>
            <a:r>
              <a:rPr sz="21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Trebuchet MS"/>
              </a:rPr>
              <a:t>PROFIL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32" name="object 18">
            <a:extLst>
              <a:ext uri="{FF2B5EF4-FFF2-40B4-BE49-F238E27FC236}">
                <a16:creationId xmlns:a16="http://schemas.microsoft.com/office/drawing/2014/main" id="{B272B430-1BD1-448C-9830-E4D9B5B58DBB}"/>
              </a:ext>
            </a:extLst>
          </p:cNvPr>
          <p:cNvSpPr txBox="1"/>
          <p:nvPr/>
        </p:nvSpPr>
        <p:spPr>
          <a:xfrm>
            <a:off x="3653393" y="3171152"/>
            <a:ext cx="3490455" cy="9874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marR="223520">
              <a:lnSpc>
                <a:spcPts val="1100"/>
              </a:lnSpc>
              <a:spcBef>
                <a:spcPts val="765"/>
              </a:spcBef>
            </a:pPr>
            <a:r>
              <a:rPr sz="1100" dirty="0" err="1">
                <a:solidFill>
                  <a:srgbClr val="6D6E71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Responsable</a:t>
            </a:r>
            <a:r>
              <a:rPr sz="1100" dirty="0">
                <a:solidFill>
                  <a:srgbClr val="6D6E71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 commerciale expérimentée et  technicienne qualifiée, mes différentes expériences  dans le secteur de la santé m’ont appris à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 marR="224154">
              <a:lnSpc>
                <a:spcPts val="1100"/>
              </a:lnSpc>
            </a:pPr>
            <a:r>
              <a:rPr sz="1100" dirty="0">
                <a:solidFill>
                  <a:srgbClr val="6D6E71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faire preuve d’une grande rigueur. Je suis à la  recherche d’un nouveau défi et saurai valoriser mes  compétences et faire preuve d’innovation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ts val="1100"/>
              </a:lnSpc>
            </a:pPr>
            <a:r>
              <a:rPr sz="1100" dirty="0">
                <a:solidFill>
                  <a:srgbClr val="6D6E71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pour conquérir de nouveaux marchés.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33" name="object 2">
            <a:extLst>
              <a:ext uri="{FF2B5EF4-FFF2-40B4-BE49-F238E27FC236}">
                <a16:creationId xmlns:a16="http://schemas.microsoft.com/office/drawing/2014/main" id="{208D13C7-F25B-427A-BC01-D3038EB419CF}"/>
              </a:ext>
            </a:extLst>
          </p:cNvPr>
          <p:cNvSpPr txBox="1"/>
          <p:nvPr/>
        </p:nvSpPr>
        <p:spPr>
          <a:xfrm>
            <a:off x="4621755" y="4880774"/>
            <a:ext cx="236982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30225">
              <a:lnSpc>
                <a:spcPts val="1100"/>
              </a:lnSpc>
              <a:spcBef>
                <a:spcPts val="994"/>
              </a:spcBef>
            </a:pPr>
            <a:r>
              <a:rPr sz="1100" b="1" dirty="0"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MASTER EN MARKETING ET  GESTION DES ENTREPRISES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 marR="922655">
              <a:lnSpc>
                <a:spcPts val="1000"/>
              </a:lnSpc>
              <a:spcBef>
                <a:spcPts val="220"/>
              </a:spcBef>
            </a:pPr>
            <a:r>
              <a:rPr sz="1000" dirty="0">
                <a:solidFill>
                  <a:srgbClr val="6D6E71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Ecole XXX  </a:t>
            </a:r>
            <a:r>
              <a:rPr sz="1000" dirty="0">
                <a:solidFill>
                  <a:srgbClr val="B676B2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| 2008  STAGE DE FIN D’ÉTUDES  EN CHINE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34" name="object 2">
            <a:extLst>
              <a:ext uri="{FF2B5EF4-FFF2-40B4-BE49-F238E27FC236}">
                <a16:creationId xmlns:a16="http://schemas.microsoft.com/office/drawing/2014/main" id="{6D3E0D58-D03B-4221-8C81-9856E2E97151}"/>
              </a:ext>
            </a:extLst>
          </p:cNvPr>
          <p:cNvSpPr txBox="1"/>
          <p:nvPr/>
        </p:nvSpPr>
        <p:spPr>
          <a:xfrm>
            <a:off x="4621755" y="5693909"/>
            <a:ext cx="2369820" cy="461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ts val="1100"/>
              </a:lnSpc>
              <a:spcBef>
                <a:spcPts val="1000"/>
              </a:spcBef>
            </a:pPr>
            <a:r>
              <a:rPr sz="1100" b="1" dirty="0"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BREVET DE TECHNICIEN SUPÉRIEUR  COMMERCE INTERNATIONAL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r>
              <a:rPr sz="1000" dirty="0">
                <a:solidFill>
                  <a:srgbClr val="6D6E71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Ecole XXX </a:t>
            </a:r>
            <a:r>
              <a:rPr sz="1000" dirty="0">
                <a:solidFill>
                  <a:srgbClr val="B676B2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| 2005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36" name="object 5">
            <a:extLst>
              <a:ext uri="{FF2B5EF4-FFF2-40B4-BE49-F238E27FC236}">
                <a16:creationId xmlns:a16="http://schemas.microsoft.com/office/drawing/2014/main" id="{8E18462F-EEFC-4ED5-A533-3312717573D5}"/>
              </a:ext>
            </a:extLst>
          </p:cNvPr>
          <p:cNvSpPr txBox="1"/>
          <p:nvPr/>
        </p:nvSpPr>
        <p:spPr>
          <a:xfrm>
            <a:off x="4621755" y="6346096"/>
            <a:ext cx="880872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50"/>
              </a:spcBef>
            </a:pPr>
            <a:r>
              <a:rPr sz="1800" b="1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Trebuchet MS"/>
              </a:rPr>
              <a:t>ATOUTS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37" name="object 5">
            <a:extLst>
              <a:ext uri="{FF2B5EF4-FFF2-40B4-BE49-F238E27FC236}">
                <a16:creationId xmlns:a16="http://schemas.microsoft.com/office/drawing/2014/main" id="{9394BEA8-5A73-434C-944F-7AF7CB9FAE98}"/>
              </a:ext>
            </a:extLst>
          </p:cNvPr>
          <p:cNvSpPr txBox="1"/>
          <p:nvPr/>
        </p:nvSpPr>
        <p:spPr>
          <a:xfrm>
            <a:off x="4621755" y="6674391"/>
            <a:ext cx="880872" cy="5606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90170">
              <a:lnSpc>
                <a:spcPct val="125000"/>
              </a:lnSpc>
              <a:spcBef>
                <a:spcPts val="395"/>
              </a:spcBef>
            </a:pPr>
            <a:r>
              <a:rPr sz="10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ANGLAIS  ITALIEN  ESPAGNOL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38" name="object 7">
            <a:extLst>
              <a:ext uri="{FF2B5EF4-FFF2-40B4-BE49-F238E27FC236}">
                <a16:creationId xmlns:a16="http://schemas.microsoft.com/office/drawing/2014/main" id="{BD25FCF0-3AF0-4F6B-8F3F-1B45090AAEA0}"/>
              </a:ext>
            </a:extLst>
          </p:cNvPr>
          <p:cNvSpPr txBox="1"/>
          <p:nvPr/>
        </p:nvSpPr>
        <p:spPr>
          <a:xfrm>
            <a:off x="4621755" y="7859954"/>
            <a:ext cx="2284730" cy="6796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55"/>
              </a:spcBef>
            </a:pPr>
            <a:r>
              <a:rPr sz="10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Certification SalesForce.com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sz="10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Strategic Selling : Miller Heiman Alumni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 marR="52705">
              <a:lnSpc>
                <a:spcPts val="1000"/>
              </a:lnSpc>
              <a:spcBef>
                <a:spcPts val="500"/>
              </a:spcBef>
            </a:pPr>
            <a:r>
              <a:rPr sz="10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Certification Ethics &amp; Compliance : The  Legal Knowledge Co.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39" name="object 6">
            <a:extLst>
              <a:ext uri="{FF2B5EF4-FFF2-40B4-BE49-F238E27FC236}">
                <a16:creationId xmlns:a16="http://schemas.microsoft.com/office/drawing/2014/main" id="{D9E9799F-C32A-4397-80AB-28FFD5D0469C}"/>
              </a:ext>
            </a:extLst>
          </p:cNvPr>
          <p:cNvSpPr txBox="1"/>
          <p:nvPr/>
        </p:nvSpPr>
        <p:spPr>
          <a:xfrm>
            <a:off x="4621754" y="9058644"/>
            <a:ext cx="1061493" cy="5734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24180">
              <a:lnSpc>
                <a:spcPct val="125000"/>
              </a:lnSpc>
              <a:spcBef>
                <a:spcPts val="455"/>
              </a:spcBef>
            </a:pPr>
            <a:r>
              <a:rPr sz="1000" dirty="0">
                <a:solidFill>
                  <a:srgbClr val="58595B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Fitness  Voyages  Théâtre</a:t>
            </a:r>
            <a:endParaRPr sz="10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42" name="object 17">
            <a:extLst>
              <a:ext uri="{FF2B5EF4-FFF2-40B4-BE49-F238E27FC236}">
                <a16:creationId xmlns:a16="http://schemas.microsoft.com/office/drawing/2014/main" id="{2588E0C6-D484-444F-B9C6-EC10C4524B89}"/>
              </a:ext>
            </a:extLst>
          </p:cNvPr>
          <p:cNvSpPr txBox="1"/>
          <p:nvPr/>
        </p:nvSpPr>
        <p:spPr>
          <a:xfrm>
            <a:off x="4692650" y="9918093"/>
            <a:ext cx="2410304" cy="64120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60"/>
              </a:lnSpc>
              <a:spcBef>
                <a:spcPts val="630"/>
              </a:spcBef>
            </a:pPr>
            <a:r>
              <a:rPr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+336 74 11 36 35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  <a:p>
            <a:pPr marR="400050">
              <a:lnSpc>
                <a:spcPts val="1200"/>
              </a:lnSpc>
              <a:spcBef>
                <a:spcPts val="80"/>
              </a:spcBef>
            </a:pPr>
            <a:r>
              <a:rPr sz="1100" dirty="0">
                <a:solidFill>
                  <a:srgbClr val="FFFFFF"/>
                </a:solidFill>
                <a:latin typeface="Roboto" panose="02000000000000000000" pitchFamily="2" charset="0"/>
                <a:ea typeface="Roboto" panose="02000000000000000000" pitchFamily="2" charset="0"/>
                <a:cs typeface="Roboto"/>
              </a:rPr>
              <a:t>marine.dupont@gmail.com  Basée à Paris (75) France  Mobilité : France &amp; International</a:t>
            </a:r>
            <a:endParaRPr sz="1100" dirty="0"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C165C11-5756-4E68-B252-43E138804EF2}"/>
              </a:ext>
            </a:extLst>
          </p:cNvPr>
          <p:cNvSpPr/>
          <p:nvPr/>
        </p:nvSpPr>
        <p:spPr>
          <a:xfrm>
            <a:off x="4802726" y="643070"/>
            <a:ext cx="1691640" cy="1691640"/>
          </a:xfrm>
          <a:prstGeom prst="ellipse">
            <a:avLst/>
          </a:prstGeom>
          <a:noFill/>
          <a:ln w="38100">
            <a:solidFill>
              <a:srgbClr val="B676B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352</Words>
  <Application>Microsoft Office PowerPoint</Application>
  <PresentationFormat>Personnalisé</PresentationFormat>
  <Paragraphs>45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9" baseType="lpstr">
      <vt:lpstr>Arial</vt:lpstr>
      <vt:lpstr>Calibri</vt:lpstr>
      <vt:lpstr>Franklin Gothic Heavy</vt:lpstr>
      <vt:lpstr>Roboto</vt:lpstr>
      <vt:lpstr>Roboto Condensed</vt:lpstr>
      <vt:lpstr>Roboto Lt</vt:lpstr>
      <vt:lpstr>Trebuchet MS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MARINE  DUPONT</dc:title>
  <dc:creator>Estelle</dc:creator>
  <cp:lastModifiedBy>Estelle</cp:lastModifiedBy>
  <cp:revision>34</cp:revision>
  <dcterms:created xsi:type="dcterms:W3CDTF">2021-06-09T23:32:41Z</dcterms:created>
  <dcterms:modified xsi:type="dcterms:W3CDTF">2021-10-22T13:19:59Z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2021-06-10T00:00:00Z</vt:filetime>
  </property>
  <property fmtid="{D5CDD505-2E9C-101B-9397-08002B2CF9AE}" pid="3" name="Creator">
    <vt:lpwstr>Adobe InDesign 15.1 (Windows)</vt:lpwstr>
  </property>
  <property fmtid="{D5CDD505-2E9C-101B-9397-08002B2CF9AE}" pid="4" name="LastSaved">
    <vt:filetime>2021-06-09T00:00:00Z</vt:filetime>
  </property>
</Properties>
</file>