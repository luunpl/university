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BE41"/>
    <a:srgbClr val="00AEEF"/>
    <a:srgbClr val="5DC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457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550" y="2694241"/>
            <a:ext cx="298450" cy="7540625"/>
          </a:xfrm>
          <a:custGeom>
            <a:avLst/>
            <a:gdLst/>
            <a:ahLst/>
            <a:cxnLst/>
            <a:rect l="l" t="t" r="r" b="b"/>
            <a:pathLst>
              <a:path w="298450" h="7540625">
                <a:moveTo>
                  <a:pt x="298450" y="0"/>
                </a:moveTo>
                <a:lnTo>
                  <a:pt x="0" y="0"/>
                </a:lnTo>
                <a:lnTo>
                  <a:pt x="0" y="7540561"/>
                </a:lnTo>
                <a:lnTo>
                  <a:pt x="298450" y="7540561"/>
                </a:lnTo>
                <a:lnTo>
                  <a:pt x="298450" y="0"/>
                </a:lnTo>
                <a:close/>
              </a:path>
            </a:pathLst>
          </a:custGeom>
          <a:solidFill>
            <a:srgbClr val="ABBE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781800" y="456501"/>
            <a:ext cx="321310" cy="9765665"/>
          </a:xfrm>
          <a:custGeom>
            <a:avLst/>
            <a:gdLst/>
            <a:ahLst/>
            <a:cxnLst/>
            <a:rect l="l" t="t" r="r" b="b"/>
            <a:pathLst>
              <a:path w="321309" h="9765665">
                <a:moveTo>
                  <a:pt x="321005" y="0"/>
                </a:moveTo>
                <a:lnTo>
                  <a:pt x="0" y="0"/>
                </a:lnTo>
                <a:lnTo>
                  <a:pt x="0" y="9765601"/>
                </a:lnTo>
                <a:lnTo>
                  <a:pt x="321005" y="9765601"/>
                </a:lnTo>
                <a:lnTo>
                  <a:pt x="321005" y="0"/>
                </a:lnTo>
                <a:close/>
              </a:path>
            </a:pathLst>
          </a:custGeom>
          <a:solidFill>
            <a:srgbClr val="09A9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211127"/>
            <a:ext cx="354774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11127"/>
            <a:ext cx="35477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aleway" panose="020B0503030101060003" pitchFamily="34" charset="0"/>
              </a:rPr>
              <a:t>MARINE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972822"/>
            <a:ext cx="388366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Raleway Thin" panose="020B0203030101060003" pitchFamily="34" charset="0"/>
                <a:cs typeface="Trebuchet MS"/>
              </a:rPr>
              <a:t>DUPONT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949766"/>
            <a:ext cx="4668411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20"/>
              </a:lnSpc>
              <a:spcBef>
                <a:spcPts val="100"/>
              </a:spcBef>
            </a:pPr>
            <a:r>
              <a:rPr sz="1700" b="1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  <a:cs typeface="Trebuchet MS"/>
              </a:rPr>
              <a:t>Ingénieure d’Affaires - Key Account Manager</a:t>
            </a:r>
            <a:endParaRPr sz="1700" dirty="0">
              <a:solidFill>
                <a:schemeClr val="bg1">
                  <a:lumMod val="50000"/>
                </a:schemeClr>
              </a:solidFill>
              <a:latin typeface="Raleway" panose="020B0503030101060003" pitchFamily="34" charset="0"/>
              <a:cs typeface="Trebuchet MS"/>
            </a:endParaRPr>
          </a:p>
          <a:p>
            <a:pPr>
              <a:lnSpc>
                <a:spcPts val="1920"/>
              </a:lnSpc>
            </a:pPr>
            <a:r>
              <a:rPr sz="1700" b="1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  <a:cs typeface="Trebuchet MS"/>
              </a:rPr>
              <a:t>+12 ans d’expérience</a:t>
            </a:r>
            <a:endParaRPr sz="1700" dirty="0">
              <a:solidFill>
                <a:schemeClr val="bg1">
                  <a:lumMod val="50000"/>
                </a:schemeClr>
              </a:solidFill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4239" y="4892929"/>
            <a:ext cx="1136530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BBE41"/>
                </a:solidFill>
                <a:latin typeface="Raleway" panose="020B0503030101060003" pitchFamily="34" charset="0"/>
                <a:cs typeface="Trebuchet MS"/>
              </a:rPr>
              <a:t>Formation</a:t>
            </a:r>
            <a:endParaRPr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>
            <a:off x="3888261" y="3894009"/>
            <a:ext cx="29097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56005">
              <a:lnSpc>
                <a:spcPts val="1800"/>
              </a:lnSpc>
            </a:pPr>
            <a:r>
              <a:rPr sz="1800" b="1" kern="0" dirty="0" err="1">
                <a:solidFill>
                  <a:srgbClr val="00AEEF"/>
                </a:solidFill>
                <a:latin typeface="Raleway" panose="020B0503030101060003" pitchFamily="34" charset="0"/>
                <a:cs typeface="Trebuchet MS"/>
              </a:rPr>
              <a:t>Expériences</a:t>
            </a:r>
            <a:endParaRPr lang="en-GB" sz="1800" b="1" kern="0" dirty="0">
              <a:solidFill>
                <a:srgbClr val="00AEEF"/>
              </a:solidFill>
              <a:latin typeface="Raleway" panose="020B0503030101060003" pitchFamily="34" charset="0"/>
              <a:cs typeface="Trebuchet MS"/>
            </a:endParaRPr>
          </a:p>
          <a:p>
            <a:pPr marR="1056005">
              <a:lnSpc>
                <a:spcPts val="1800"/>
              </a:lnSpc>
            </a:pPr>
            <a:r>
              <a:rPr sz="1800" b="1" kern="0" dirty="0" err="1">
                <a:solidFill>
                  <a:srgbClr val="00AEEF"/>
                </a:solidFill>
                <a:latin typeface="Raleway" panose="020B0503030101060003" pitchFamily="34" charset="0"/>
                <a:cs typeface="Trebuchet MS"/>
              </a:rPr>
              <a:t>Profession</a:t>
            </a:r>
            <a:r>
              <a:rPr lang="en-US" sz="1800" b="1" kern="0" dirty="0" err="1">
                <a:solidFill>
                  <a:srgbClr val="00AEEF"/>
                </a:solidFill>
                <a:latin typeface="Raleway" panose="020B0503030101060003" pitchFamily="34" charset="0"/>
                <a:cs typeface="Trebuchet MS"/>
              </a:rPr>
              <a:t>n</a:t>
            </a:r>
            <a:r>
              <a:rPr sz="1800" b="1" kern="0" dirty="0" err="1">
                <a:solidFill>
                  <a:srgbClr val="00AEEF"/>
                </a:solidFill>
                <a:latin typeface="Raleway" panose="020B0503030101060003" pitchFamily="34" charset="0"/>
                <a:cs typeface="Trebuchet MS"/>
              </a:rPr>
              <a:t>elles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239" y="2704084"/>
            <a:ext cx="591509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solidFill>
                  <a:srgbClr val="ABBE41"/>
                </a:solidFill>
                <a:latin typeface="Raleway" panose="020B0503030101060003" pitchFamily="34" charset="0"/>
                <a:cs typeface="Trebuchet MS"/>
              </a:rPr>
              <a:t>Profil</a:t>
            </a:r>
            <a:endParaRPr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4239" y="7092660"/>
            <a:ext cx="1502411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BBE41"/>
                </a:solidFill>
                <a:latin typeface="Raleway" panose="020B0503030101060003" pitchFamily="34" charset="0"/>
                <a:cs typeface="Trebuchet MS"/>
              </a:rPr>
              <a:t>Certifications</a:t>
            </a:r>
            <a:endParaRPr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7720" y="2704084"/>
            <a:ext cx="741680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solidFill>
                  <a:srgbClr val="09A9E5"/>
                </a:solidFill>
                <a:latin typeface="Raleway" panose="020B0503030101060003" pitchFamily="34" charset="0"/>
                <a:cs typeface="Trebuchet MS"/>
              </a:rPr>
              <a:t>Atouts</a:t>
            </a:r>
            <a:endParaRPr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0750" y="8940895"/>
            <a:ext cx="869950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solidFill>
                  <a:srgbClr val="ABBE41"/>
                </a:solidFill>
                <a:latin typeface="Raleway" panose="020B0503030101060003" pitchFamily="34" charset="0"/>
                <a:cs typeface="Trebuchet MS"/>
              </a:rPr>
              <a:t>Intérêts</a:t>
            </a:r>
            <a:endParaRPr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8879" y="3016669"/>
            <a:ext cx="1138555" cy="71045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Pack Office</a:t>
            </a: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CRM ACT! (SAGE)</a:t>
            </a:r>
          </a:p>
          <a:p>
            <a:pPr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SalesForce.com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7080" y="7875576"/>
            <a:ext cx="2037080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Strategic Selling : Miller Heiman  Alumni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7080" y="8332814"/>
            <a:ext cx="22263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60"/>
              </a:lnSpc>
              <a:spcBef>
                <a:spcPts val="10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Certification Ethics &amp; Compliance :</a:t>
            </a:r>
          </a:p>
          <a:p>
            <a:pPr>
              <a:lnSpc>
                <a:spcPts val="1260"/>
              </a:lnSpc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The Legal Knowledge Co.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88259" y="9119396"/>
            <a:ext cx="2909773" cy="9346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R="483234">
              <a:lnSpc>
                <a:spcPts val="1100"/>
              </a:lnSpc>
              <a:spcBef>
                <a:spcPts val="220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RESPONSABLE EXPORT EU /</a:t>
            </a:r>
            <a:r>
              <a:rPr lang="en-GB" sz="1000" dirty="0">
                <a:latin typeface="Raleway Light" panose="020B0403030101060003" pitchFamily="34" charset="0"/>
                <a:cs typeface="Trebuchet MS"/>
              </a:rPr>
              <a:t> </a:t>
            </a:r>
            <a:r>
              <a:rPr sz="1000" dirty="0">
                <a:latin typeface="Raleway Light" panose="020B0403030101060003" pitchFamily="34" charset="0"/>
                <a:cs typeface="Trebuchet MS"/>
              </a:rPr>
              <a:t>PRODUITS  VÉTÉRINAIRES</a:t>
            </a:r>
          </a:p>
          <a:p>
            <a:pPr>
              <a:lnSpc>
                <a:spcPts val="1080"/>
              </a:lnSpc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ENTREPRISE XXX /  Londres</a:t>
            </a:r>
          </a:p>
          <a:p>
            <a:pPr marR="5080">
              <a:lnSpc>
                <a:spcPct val="88000"/>
              </a:lnSpc>
              <a:spcBef>
                <a:spcPts val="250"/>
              </a:spcBef>
            </a:pPr>
            <a:r>
              <a:rPr sz="1000" spc="-20" dirty="0">
                <a:latin typeface="Raleway Light" panose="020B0403030101060003" pitchFamily="34" charset="0"/>
                <a:cs typeface="Trebuchet MS"/>
              </a:rPr>
              <a:t>Gérer le portefeuille client existant (Royaume-Uni)  Prospecter de nouveaux marchés (Italie et Irlande)  </a:t>
            </a:r>
            <a:endParaRPr lang="en-GB" sz="1000" spc="-20" dirty="0">
              <a:latin typeface="Raleway Light" panose="020B0403030101060003" pitchFamily="34" charset="0"/>
              <a:cs typeface="Trebuchet MS"/>
            </a:endParaRPr>
          </a:p>
          <a:p>
            <a:pPr marR="5080">
              <a:lnSpc>
                <a:spcPct val="88000"/>
              </a:lnSpc>
              <a:spcBef>
                <a:spcPts val="250"/>
              </a:spcBef>
            </a:pPr>
            <a:r>
              <a:rPr sz="1000" dirty="0">
                <a:solidFill>
                  <a:srgbClr val="09A9E5"/>
                </a:solidFill>
                <a:latin typeface="Raleway SemiBold" panose="020B0703030101060003" pitchFamily="34" charset="0"/>
                <a:cs typeface="Trebuchet MS"/>
              </a:rPr>
              <a:t>01/2015-PRÉSENT</a:t>
            </a:r>
            <a:endParaRPr sz="10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8258" y="6215794"/>
            <a:ext cx="2909773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RESPONSABLE RÉGIONALE</a:t>
            </a:r>
          </a:p>
          <a:p>
            <a:pPr>
              <a:lnSpc>
                <a:spcPts val="1150"/>
              </a:lnSpc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ENTREPRISE XXX /  Paris</a:t>
            </a:r>
          </a:p>
          <a:p>
            <a:pPr marR="5080">
              <a:lnSpc>
                <a:spcPts val="1100"/>
              </a:lnSpc>
              <a:spcBef>
                <a:spcPts val="175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Développer les ventes (Instruments &amp; Réactfs  PCR) pour une  clientèle de biologistes publiques  et privées</a:t>
            </a:r>
          </a:p>
          <a:p>
            <a:pPr marR="94615">
              <a:lnSpc>
                <a:spcPts val="1100"/>
              </a:lnSpc>
            </a:pPr>
            <a:r>
              <a:rPr sz="1000" dirty="0">
                <a:latin typeface="Raleway SemiBold" panose="020B0703030101060003" pitchFamily="34" charset="0"/>
                <a:cs typeface="Trebuchet MS"/>
              </a:rPr>
              <a:t>Réussite : </a:t>
            </a:r>
            <a:r>
              <a:rPr sz="1000" dirty="0">
                <a:latin typeface="Raleway Light" panose="020B0403030101060003" pitchFamily="34" charset="0"/>
                <a:cs typeface="Trebuchet MS"/>
              </a:rPr>
              <a:t>Évolution de 100 k€ de vente en  2010 et 900 k€ en 2014, 21 nouveaux clients en  portefeuille, augmentation du nombre de tests  différents utilisés par compte</a:t>
            </a:r>
          </a:p>
          <a:p>
            <a:pPr>
              <a:lnSpc>
                <a:spcPts val="1030"/>
              </a:lnSpc>
            </a:pPr>
            <a:r>
              <a:rPr sz="1000" dirty="0">
                <a:solidFill>
                  <a:srgbClr val="09A9E5"/>
                </a:solidFill>
                <a:latin typeface="Raleway SemiBold" panose="020B0703030101060003" pitchFamily="34" charset="0"/>
                <a:cs typeface="Trebuchet MS"/>
              </a:rPr>
              <a:t>08/2010-01/2015</a:t>
            </a:r>
            <a:endParaRPr sz="10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8259" y="7802151"/>
            <a:ext cx="2842260" cy="1192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RESPONSABLE COMMERCIALE OUEST</a:t>
            </a:r>
          </a:p>
          <a:p>
            <a:pPr>
              <a:lnSpc>
                <a:spcPts val="1150"/>
              </a:lnSpc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ENTREPRISE XXX /  Paris</a:t>
            </a:r>
          </a:p>
          <a:p>
            <a:pPr marR="641985">
              <a:lnSpc>
                <a:spcPts val="1100"/>
              </a:lnSpc>
              <a:spcBef>
                <a:spcPts val="275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Gérer le portefeuille client et assurer la  prospection</a:t>
            </a:r>
          </a:p>
          <a:p>
            <a:pPr marR="5080">
              <a:lnSpc>
                <a:spcPts val="1100"/>
              </a:lnSpc>
            </a:pPr>
            <a:r>
              <a:rPr sz="1000" dirty="0">
                <a:latin typeface="Raleway SemiBold" panose="020B0703030101060003" pitchFamily="34" charset="0"/>
                <a:cs typeface="Trebuchet MS"/>
              </a:rPr>
              <a:t>Réussite : </a:t>
            </a:r>
            <a:r>
              <a:rPr sz="1000" dirty="0">
                <a:latin typeface="Raleway Light" panose="020B0403030101060003" pitchFamily="34" charset="0"/>
                <a:cs typeface="Trebuchet MS"/>
              </a:rPr>
              <a:t>Atteinte des objectifs avec 500 k€ de  CA de vente en ligne, forte croissance sur la vente  de consommables et d’instruments</a:t>
            </a:r>
          </a:p>
          <a:p>
            <a:pPr>
              <a:lnSpc>
                <a:spcPts val="965"/>
              </a:lnSpc>
            </a:pPr>
            <a:r>
              <a:rPr sz="1000" dirty="0">
                <a:solidFill>
                  <a:srgbClr val="09A9E5"/>
                </a:solidFill>
                <a:latin typeface="Raleway SemiBold" panose="020B0703030101060003" pitchFamily="34" charset="0"/>
                <a:cs typeface="Trebuchet MS"/>
              </a:rPr>
              <a:t>08/2008-08/2010</a:t>
            </a:r>
            <a:endParaRPr sz="10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391F09F0-F9F5-40CF-961D-B58B0DB9FB03}"/>
              </a:ext>
            </a:extLst>
          </p:cNvPr>
          <p:cNvSpPr txBox="1"/>
          <p:nvPr/>
        </p:nvSpPr>
        <p:spPr>
          <a:xfrm>
            <a:off x="920750" y="9302406"/>
            <a:ext cx="869950" cy="67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3210">
              <a:lnSpc>
                <a:spcPct val="136300"/>
              </a:lnSpc>
              <a:spcBef>
                <a:spcPts val="56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Fitness  Voyages  Théâtre</a:t>
            </a:r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34549B24-E577-48E0-9EF7-D03F3F8AE125}"/>
              </a:ext>
            </a:extLst>
          </p:cNvPr>
          <p:cNvSpPr txBox="1"/>
          <p:nvPr/>
        </p:nvSpPr>
        <p:spPr>
          <a:xfrm>
            <a:off x="904239" y="7559452"/>
            <a:ext cx="18548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5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Certification SalesForce.com</a:t>
            </a: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7CE95A16-3831-49C6-A65F-3AD201EFB705}"/>
              </a:ext>
            </a:extLst>
          </p:cNvPr>
          <p:cNvSpPr txBox="1"/>
          <p:nvPr/>
        </p:nvSpPr>
        <p:spPr>
          <a:xfrm>
            <a:off x="904239" y="5265673"/>
            <a:ext cx="228790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5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ECOLE XXX</a:t>
            </a:r>
          </a:p>
          <a:p>
            <a:pPr marR="5080">
              <a:lnSpc>
                <a:spcPts val="1100"/>
              </a:lnSpc>
              <a:spcBef>
                <a:spcPts val="34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Master en Marketing et Gestion des  Entreprises</a:t>
            </a:r>
          </a:p>
          <a:p>
            <a:pPr>
              <a:lnSpc>
                <a:spcPts val="1100"/>
              </a:lnSpc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Stage de fin d’études en Chine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ABBE41"/>
                </a:solidFill>
                <a:latin typeface="Raleway SemiBold" panose="020B0703030101060003" pitchFamily="34" charset="0"/>
                <a:cs typeface="Trebuchet MS"/>
              </a:rPr>
              <a:t>2008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651F5737-F283-4642-99E6-0645E2939AFF}"/>
              </a:ext>
            </a:extLst>
          </p:cNvPr>
          <p:cNvSpPr txBox="1"/>
          <p:nvPr/>
        </p:nvSpPr>
        <p:spPr>
          <a:xfrm>
            <a:off x="904239" y="3076171"/>
            <a:ext cx="2256155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780"/>
              </a:spcBef>
            </a:pPr>
            <a:r>
              <a:rPr sz="1100" dirty="0" err="1">
                <a:latin typeface="Raleway Light" panose="020B0403030101060003" pitchFamily="34" charset="0"/>
                <a:cs typeface="Trebuchet MS"/>
              </a:rPr>
              <a:t>Responsable</a:t>
            </a:r>
            <a:r>
              <a:rPr sz="1100" dirty="0">
                <a:latin typeface="Raleway Light" panose="020B0403030101060003" pitchFamily="34" charset="0"/>
                <a:cs typeface="Trebuchet MS"/>
              </a:rPr>
              <a:t> commerciale  expérimentée et technicienne  qualifiée, mes différentes  expériences dans le secteur de la  santé m’ont appris à faire preuve  d’une grande rigueur. Je suis à la  recherche d’un nouveau défi et  saurai  valoriser mes compétences  et faire preuve d’innovation pour  conquérir de  nouveaux marchés.</a:t>
            </a:r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46469267-39D6-46E2-BEDF-E6F6930F3051}"/>
              </a:ext>
            </a:extLst>
          </p:cNvPr>
          <p:cNvSpPr txBox="1"/>
          <p:nvPr/>
        </p:nvSpPr>
        <p:spPr>
          <a:xfrm>
            <a:off x="3907720" y="3013835"/>
            <a:ext cx="741680" cy="67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3825">
              <a:lnSpc>
                <a:spcPct val="136300"/>
              </a:lnSpc>
              <a:spcBef>
                <a:spcPts val="300"/>
              </a:spcBef>
            </a:pPr>
            <a:r>
              <a:rPr sz="1100" dirty="0" err="1">
                <a:latin typeface="Raleway Light" panose="020B0403030101060003" pitchFamily="34" charset="0"/>
                <a:cs typeface="Trebuchet MS"/>
              </a:rPr>
              <a:t>Anglais</a:t>
            </a:r>
            <a:r>
              <a:rPr sz="1100" dirty="0">
                <a:latin typeface="Raleway Light" panose="020B0403030101060003" pitchFamily="34" charset="0"/>
                <a:cs typeface="Trebuchet MS"/>
              </a:rPr>
              <a:t>  Italien  Espagnol</a:t>
            </a: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A0BA0CBE-4BB8-40CD-914D-D9DDC2DC8A31}"/>
              </a:ext>
            </a:extLst>
          </p:cNvPr>
          <p:cNvSpPr txBox="1"/>
          <p:nvPr/>
        </p:nvSpPr>
        <p:spPr>
          <a:xfrm>
            <a:off x="3888259" y="4395325"/>
            <a:ext cx="2909771" cy="16876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445"/>
              </a:spcBef>
            </a:pPr>
            <a:r>
              <a:rPr sz="1000" spc="-20" dirty="0">
                <a:latin typeface="Raleway Light" panose="020B0403030101060003" pitchFamily="34" charset="0"/>
                <a:cs typeface="Trebuchet MS"/>
              </a:rPr>
              <a:t>INGÉNIEURE D’AFFAIRES FRANCE /</a:t>
            </a:r>
          </a:p>
          <a:p>
            <a:pPr>
              <a:lnSpc>
                <a:spcPts val="1100"/>
              </a:lnSpc>
            </a:pPr>
            <a:r>
              <a:rPr sz="1000" spc="-20" dirty="0">
                <a:latin typeface="Raleway Light" panose="020B0403030101060003" pitchFamily="34" charset="0"/>
                <a:cs typeface="Trebuchet MS"/>
              </a:rPr>
              <a:t>EUROPE DU SUD / DIVISION IBIS BIOSCIENCES</a:t>
            </a:r>
          </a:p>
          <a:p>
            <a:pPr>
              <a:lnSpc>
                <a:spcPts val="1150"/>
              </a:lnSpc>
            </a:pPr>
            <a:r>
              <a:rPr sz="1000" spc="-20" dirty="0">
                <a:latin typeface="Raleway Light" panose="020B0403030101060003" pitchFamily="34" charset="0"/>
                <a:cs typeface="Trebuchet MS"/>
              </a:rPr>
              <a:t>ENTREPRISE XXX /  Paris</a:t>
            </a:r>
          </a:p>
          <a:p>
            <a:pPr marR="55880">
              <a:lnSpc>
                <a:spcPts val="1100"/>
              </a:lnSpc>
              <a:spcBef>
                <a:spcPts val="310"/>
              </a:spcBef>
            </a:pPr>
            <a:r>
              <a:rPr sz="1000" spc="-20" dirty="0">
                <a:latin typeface="Raleway Light" panose="020B0403030101060003" pitchFamily="34" charset="0"/>
                <a:cs typeface="Trebuchet MS"/>
              </a:rPr>
              <a:t>Lancer une nouvelle plateforme (instruments &amp;  réactifs) associant  PCR &amp; Spectométrie de masse  à destination des laboratoires de bactériologie,  virologie &amp; mycologie</a:t>
            </a:r>
          </a:p>
          <a:p>
            <a:pPr marR="5080">
              <a:lnSpc>
                <a:spcPts val="1100"/>
              </a:lnSpc>
            </a:pPr>
            <a:r>
              <a:rPr sz="1000" spc="-20" dirty="0">
                <a:latin typeface="Raleway SemiBold" panose="020B0703030101060003" pitchFamily="34" charset="0"/>
                <a:cs typeface="Trebuchet MS"/>
              </a:rPr>
              <a:t>Réussite : </a:t>
            </a:r>
            <a:r>
              <a:rPr sz="1000" spc="-20" dirty="0">
                <a:latin typeface="Raleway Light" panose="020B0403030101060003" pitchFamily="34" charset="0"/>
                <a:cs typeface="Trebuchet MS"/>
              </a:rPr>
              <a:t>Installation de 4 plateformes (1 FR, 1 BEL  et 2 ITA), construction d’un modèle économie,  mise en place d’une nouvelle stratégie marketing</a:t>
            </a:r>
          </a:p>
          <a:p>
            <a:pPr>
              <a:lnSpc>
                <a:spcPct val="100000"/>
              </a:lnSpc>
            </a:pPr>
            <a:r>
              <a:rPr sz="1000" spc="-20" dirty="0">
                <a:solidFill>
                  <a:srgbClr val="09A9E5"/>
                </a:solidFill>
                <a:latin typeface="Raleway SemiBold" panose="020B0703030101060003" pitchFamily="34" charset="0"/>
                <a:cs typeface="Trebuchet MS"/>
              </a:rPr>
              <a:t>01/2015-PRÉSENT</a:t>
            </a:r>
            <a:endParaRPr sz="1000" spc="-2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94A41ACF-A2E6-49B8-9F0D-9BBE5F62A9D3}"/>
              </a:ext>
            </a:extLst>
          </p:cNvPr>
          <p:cNvSpPr txBox="1"/>
          <p:nvPr/>
        </p:nvSpPr>
        <p:spPr>
          <a:xfrm>
            <a:off x="5915637" y="582122"/>
            <a:ext cx="779059" cy="24622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925"/>
              </a:spcBef>
            </a:pPr>
            <a:r>
              <a:rPr sz="1600" b="1" dirty="0">
                <a:solidFill>
                  <a:srgbClr val="09A9E5"/>
                </a:solidFill>
                <a:latin typeface="Raleway" panose="020B0503030101060003" pitchFamily="34" charset="0"/>
                <a:cs typeface="Trebuchet MS"/>
              </a:rPr>
              <a:t>Contact</a:t>
            </a:r>
            <a:endParaRPr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376FE741-51B2-4350-BA8B-854A7082034B}"/>
              </a:ext>
            </a:extLst>
          </p:cNvPr>
          <p:cNvSpPr txBox="1"/>
          <p:nvPr/>
        </p:nvSpPr>
        <p:spPr>
          <a:xfrm>
            <a:off x="5112911" y="892463"/>
            <a:ext cx="1581785" cy="819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515"/>
              </a:spcBef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+336 74 11 36 35</a:t>
            </a:r>
          </a:p>
          <a:p>
            <a:pPr marR="5080" algn="r">
              <a:lnSpc>
                <a:spcPct val="150000"/>
              </a:lnSpc>
            </a:pPr>
            <a:r>
              <a:rPr sz="1000" dirty="0">
                <a:latin typeface="Raleway Light" panose="020B0403030101060003" pitchFamily="34" charset="0"/>
                <a:cs typeface="Trebuchet MS"/>
              </a:rPr>
              <a:t>marine.dupont@gmail.com  Basée à Paris (75) France  France &amp; International</a:t>
            </a: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530BBCD9-87FB-45D5-9F79-26310AC74A81}"/>
              </a:ext>
            </a:extLst>
          </p:cNvPr>
          <p:cNvSpPr txBox="1"/>
          <p:nvPr/>
        </p:nvSpPr>
        <p:spPr>
          <a:xfrm>
            <a:off x="904239" y="6218461"/>
            <a:ext cx="228790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95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ECOLE XXX</a:t>
            </a:r>
          </a:p>
          <a:p>
            <a:pPr marR="268605">
              <a:lnSpc>
                <a:spcPts val="1100"/>
              </a:lnSpc>
              <a:spcBef>
                <a:spcPts val="24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Brevet de Technicien Supérieur  Commerce International</a:t>
            </a:r>
          </a:p>
          <a:p>
            <a:pPr>
              <a:lnSpc>
                <a:spcPts val="1315"/>
              </a:lnSpc>
            </a:pPr>
            <a:r>
              <a:rPr sz="1100" dirty="0">
                <a:solidFill>
                  <a:srgbClr val="ABBE41"/>
                </a:solidFill>
                <a:latin typeface="Raleway SemiBold" panose="020B0703030101060003" pitchFamily="34" charset="0"/>
                <a:cs typeface="Trebuchet MS"/>
              </a:rPr>
              <a:t>2005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B48AD-BF85-464A-87B5-ED8AD0BBE27D}"/>
              </a:ext>
            </a:extLst>
          </p:cNvPr>
          <p:cNvSpPr/>
          <p:nvPr/>
        </p:nvSpPr>
        <p:spPr>
          <a:xfrm>
            <a:off x="444500" y="2704084"/>
            <a:ext cx="313968" cy="7519416"/>
          </a:xfrm>
          <a:prstGeom prst="rect">
            <a:avLst/>
          </a:prstGeom>
          <a:solidFill>
            <a:srgbClr val="ABB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FB2B32-EBBD-4C14-8493-C302F667DCA0}"/>
              </a:ext>
            </a:extLst>
          </p:cNvPr>
          <p:cNvSpPr/>
          <p:nvPr/>
        </p:nvSpPr>
        <p:spPr>
          <a:xfrm>
            <a:off x="6791325" y="469900"/>
            <a:ext cx="313968" cy="97536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340</Words>
  <Application>Microsoft Office PowerPoint</Application>
  <PresentationFormat>Personnalisé</PresentationFormat>
  <Paragraphs>51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Calibri</vt:lpstr>
      <vt:lpstr>Raleway</vt:lpstr>
      <vt:lpstr>Raleway Light</vt:lpstr>
      <vt:lpstr>Raleway SemiBold</vt:lpstr>
      <vt:lpstr>Raleway Thin</vt:lpstr>
      <vt:lpstr>Trebuchet MS</vt:lpstr>
      <vt:lpstr>Office Theme</vt:lpstr>
      <vt:lpstr>MARINE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</dc:title>
  <dc:creator>Estelle</dc:creator>
  <cp:lastModifiedBy>Estelle</cp:lastModifiedBy>
  <cp:revision>34</cp:revision>
  <dcterms:created xsi:type="dcterms:W3CDTF">2021-06-09T23:34:38Z</dcterms:created>
  <dcterms:modified xsi:type="dcterms:W3CDTF">2021-10-22T13:28:35Z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2021-06-10T00:00:00Z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2021-06-09T00:00:00Z</vt:filetime>
  </property>
</Properties>
</file>