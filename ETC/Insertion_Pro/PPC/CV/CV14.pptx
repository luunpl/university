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232A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64" autoAdjust="0"/>
    <p:restoredTop sz="96149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6D75-F578-4DBA-A76E-36EDD11E6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AE2FF-4D62-4023-987F-984389080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FB005-6EFF-488C-9F29-4D452CB4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954DE-AF7B-44E7-8037-FA2D6F09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7197B-7165-4750-9A4C-A1A64F39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17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3D937-1AF1-43B4-9FCE-E4436799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716F6-189A-4A52-8957-F8434F019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6257D-09EC-486B-9194-938FD379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AF42-BB68-4EBE-8F55-AD0CA11C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12979-461E-4F51-B03A-C8AB503F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3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77AC-39F8-4A44-8B4C-3F1A395E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843F8-6777-4E0D-AF88-85BFBA0F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E6711-B33A-486B-A228-11069794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A79C2-C123-45D1-8C5E-0848507A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5D259-F4AF-408D-A25B-3B16A9AD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16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3AFD-53CF-4453-981A-DAEF58BE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1711-1CBA-4024-8FAC-8B1428AB6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11FBE-B103-4948-BFA5-6FFAB1AE0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997D7-A62A-4CA9-9BE7-843CD79B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C8ED5-6FEF-4105-8EB0-FF783BC0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724D9-1505-49AF-9BB9-68195962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4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EB92-60FA-423E-87D3-C42F6053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A692A-BFA6-401C-927F-97D9EE005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C44B9-A56F-44DD-A140-5704D0466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E05187-16D4-4F42-A911-C0EE08901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031FA-D0EB-4360-BE3E-1F46541AE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757C36-43CE-4F9A-BDA5-F961D63A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FB347-58E9-48A2-86C5-2B2A21EF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3343-07A3-45DB-9F79-9C8B0470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13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FB2F-6463-4608-B91A-873AF772C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FF846-935B-4904-8884-983CA54E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06D2F-5DC1-484D-A595-BD110734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15930-DD6A-4DDF-81F2-C735D853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5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15B7C-1574-42A8-9DE0-F54E22F6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258020-338E-4E4E-9B93-739800011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4E5D8-3E4B-4020-BEA5-A2B4F4D5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9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23C5-1648-4014-A938-CED69F18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3F41A-9491-4DD2-BD34-593F2C21C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9F780-A665-4ADA-B189-265CFBFA3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C771F-C6AB-40AC-84E3-3F7E28D61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6BC61-4E19-42FB-97D5-7F2A025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71671-2797-4164-B202-06A4BF32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5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709A-FD2F-460D-8DEA-96C755CDC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749E27-0556-4814-B169-ECAF9BAC4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D3597-1330-4202-BEE5-2785B0F21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EF79-4209-454B-A504-B4D5F596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56310-2CDF-4B6A-89E0-920712DFD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98476-F9B8-4AE2-A349-1906A010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3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FB71-67D9-4C38-B11B-CDE0DF8E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AA5DA-3CDC-47A6-AD3B-39E5FEF73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22119-68A8-4CE0-8B01-D209C017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10376-4DBB-4441-91B2-AD47DE62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66A14-7B0C-4599-837C-AF7E3466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85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E49CD1-67B1-4E66-8B12-49B2253C4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1318B-C99A-4CD1-85DE-CB76BA21D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F6A31-910A-4776-AFBB-076C2E26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37896-F56E-4381-A0C7-746AE9A9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B89C9-0B3A-4B29-BBF7-3FEDC612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5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03E83-089C-4661-994E-1061B4F0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727A1-24C6-442B-BC58-7F4D184FF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7771D-93E7-4482-8837-010D9ED79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47FD4-2F50-4E56-BC82-B8C8840D4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A958E-F806-49B1-8678-0FB0AAC5E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9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40">
            <a:extLst>
              <a:ext uri="{FF2B5EF4-FFF2-40B4-BE49-F238E27FC236}">
                <a16:creationId xmlns:a16="http://schemas.microsoft.com/office/drawing/2014/main" id="{514260A1-2162-4830-B145-614A986D41CB}"/>
              </a:ext>
            </a:extLst>
          </p:cNvPr>
          <p:cNvSpPr/>
          <p:nvPr/>
        </p:nvSpPr>
        <p:spPr>
          <a:xfrm>
            <a:off x="310600" y="469081"/>
            <a:ext cx="3239050" cy="1168298"/>
          </a:xfrm>
          <a:custGeom>
            <a:avLst/>
            <a:gdLst/>
            <a:ahLst/>
            <a:cxnLst/>
            <a:rect l="l" t="t" r="r" b="b"/>
            <a:pathLst>
              <a:path w="3684904" h="119379">
                <a:moveTo>
                  <a:pt x="3684752" y="0"/>
                </a:moveTo>
                <a:lnTo>
                  <a:pt x="0" y="0"/>
                </a:lnTo>
                <a:lnTo>
                  <a:pt x="0" y="119379"/>
                </a:lnTo>
                <a:lnTo>
                  <a:pt x="3684752" y="119379"/>
                </a:lnTo>
                <a:lnTo>
                  <a:pt x="3684752" y="0"/>
                </a:lnTo>
                <a:close/>
              </a:path>
            </a:pathLst>
          </a:custGeom>
          <a:solidFill>
            <a:srgbClr val="E6E7E9"/>
          </a:solidFill>
        </p:spPr>
        <p:txBody>
          <a:bodyPr wrap="square" lIns="0" tIns="0" rIns="0" bIns="0" rtlCol="0"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24320EB-55E7-4BF6-8DA9-52E5E604141B}"/>
              </a:ext>
            </a:extLst>
          </p:cNvPr>
          <p:cNvSpPr/>
          <p:nvPr/>
        </p:nvSpPr>
        <p:spPr>
          <a:xfrm>
            <a:off x="883145" y="2226659"/>
            <a:ext cx="2421890" cy="347472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17E2E05-54A5-4042-8586-96C5BB496DC2}"/>
              </a:ext>
            </a:extLst>
          </p:cNvPr>
          <p:cNvSpPr/>
          <p:nvPr/>
        </p:nvSpPr>
        <p:spPr>
          <a:xfrm>
            <a:off x="883145" y="4217385"/>
            <a:ext cx="2421890" cy="347472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ED47D9-BCAC-4848-A665-C158075314E9}"/>
              </a:ext>
            </a:extLst>
          </p:cNvPr>
          <p:cNvSpPr/>
          <p:nvPr/>
        </p:nvSpPr>
        <p:spPr>
          <a:xfrm>
            <a:off x="883145" y="5804885"/>
            <a:ext cx="2421890" cy="347472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8757B3-0D53-42B0-81CA-FBCB35991C69}"/>
              </a:ext>
            </a:extLst>
          </p:cNvPr>
          <p:cNvSpPr/>
          <p:nvPr/>
        </p:nvSpPr>
        <p:spPr>
          <a:xfrm>
            <a:off x="883145" y="7520178"/>
            <a:ext cx="2421890" cy="347472"/>
          </a:xfrm>
          <a:prstGeom prst="rect">
            <a:avLst/>
          </a:prstGeom>
          <a:solidFill>
            <a:srgbClr val="D223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3843499" y="5624185"/>
            <a:ext cx="94932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Formations</a:t>
            </a:r>
            <a:endParaRPr sz="13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3499" y="7298600"/>
            <a:ext cx="53657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 err="1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Atouts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3500" y="8677404"/>
            <a:ext cx="69675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 err="1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Intérêts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1" y="9034233"/>
            <a:ext cx="120015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Certifications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100" y="1817820"/>
            <a:ext cx="242443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Expériences Professionnelles</a:t>
            </a:r>
            <a:endParaRPr sz="13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1448" y="2670817"/>
            <a:ext cx="2466975" cy="14478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739140">
              <a:lnSpc>
                <a:spcPts val="1000"/>
              </a:lnSpc>
              <a:spcBef>
                <a:spcPts val="300"/>
              </a:spcBef>
            </a:pPr>
            <a:r>
              <a:rPr sz="1000" b="1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Ingénieur d’Affaires France /  Europe du Sud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169545">
              <a:lnSpc>
                <a:spcPts val="1000"/>
              </a:lnSpc>
              <a:buChar char="•"/>
              <a:tabLst>
                <a:tab pos="125095" algn="l"/>
              </a:tabLst>
            </a:pPr>
            <a:r>
              <a:rPr lang="en-GB"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Lancer une nouvelle plateforme  (instruments&amp;réactifs) associant PCR &amp;  Spectométrie de masse à destination des  laboratoires de bactériologie, virologie &amp;  mycologie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5080">
              <a:lnSpc>
                <a:spcPts val="1000"/>
              </a:lnSpc>
            </a:pPr>
            <a:r>
              <a:rPr sz="1000" b="1" dirty="0">
                <a:solidFill>
                  <a:srgbClr val="D223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Réussite : </a:t>
            </a:r>
            <a:r>
              <a:rPr sz="1000" i="1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Installation de 4 plateformes (1  FR, 1 BEL et 2 ITA), construction d’un modèle  économie, mise en place d’une nouvelle  stratégie marketing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1449" y="4659213"/>
            <a:ext cx="2545080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1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Responsable Régionale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26034">
              <a:lnSpc>
                <a:spcPts val="1000"/>
              </a:lnSpc>
              <a:spcBef>
                <a:spcPts val="100"/>
              </a:spcBef>
              <a:buChar char="•"/>
              <a:tabLst>
                <a:tab pos="125095" algn="l"/>
              </a:tabLst>
            </a:pPr>
            <a:r>
              <a:rPr lang="en-GB"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1000" dirty="0" err="1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Développer</a:t>
            </a: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les ventes (Instruments &amp;  Réactfs PCR) pour une clientèle de biologistes  publiques et privées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5080">
              <a:lnSpc>
                <a:spcPts val="1000"/>
              </a:lnSpc>
            </a:pPr>
            <a:r>
              <a:rPr sz="1000" b="1" dirty="0">
                <a:solidFill>
                  <a:srgbClr val="D223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Réussites : </a:t>
            </a:r>
            <a:r>
              <a:rPr sz="1000" i="1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Évolution de 100 k€ de vente en  2010 et 900 k€ en 2014, 21 nouveaux clients en  portefeuille, augmentation du nombre de tests  différents utilisés par compte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1449" y="6240627"/>
            <a:ext cx="2466975" cy="119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1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Responsable Commercial Ouest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226060">
              <a:lnSpc>
                <a:spcPts val="1000"/>
              </a:lnSpc>
              <a:spcBef>
                <a:spcPts val="100"/>
              </a:spcBef>
              <a:buChar char="•"/>
              <a:tabLst>
                <a:tab pos="125095" algn="l"/>
              </a:tabLst>
            </a:pPr>
            <a:r>
              <a:rPr lang="en-GB"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1000" dirty="0" err="1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Gérer</a:t>
            </a: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le portefeuille client et assurer la  prospection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329565">
              <a:lnSpc>
                <a:spcPts val="1000"/>
              </a:lnSpc>
              <a:buChar char="•"/>
              <a:tabLst>
                <a:tab pos="125095" algn="l"/>
              </a:tabLst>
            </a:pPr>
            <a:r>
              <a:rPr lang="en-GB"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Dispenser les formations pratiques  et théoriques des équipes médicales et  paramédicales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5080">
              <a:lnSpc>
                <a:spcPts val="1000"/>
              </a:lnSpc>
            </a:pPr>
            <a:r>
              <a:rPr sz="1000" b="1" dirty="0">
                <a:solidFill>
                  <a:srgbClr val="D223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Réussites : </a:t>
            </a:r>
            <a:r>
              <a:rPr sz="1000" i="1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Atteinte des objectifs avec 500 k€  de CA de vente en ligne, forte croissance sur la  vente de consommables et d’instruments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1449" y="7961741"/>
            <a:ext cx="2282825" cy="8128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288925">
              <a:lnSpc>
                <a:spcPts val="1000"/>
              </a:lnSpc>
              <a:spcBef>
                <a:spcPts val="300"/>
              </a:spcBef>
            </a:pPr>
            <a:r>
              <a:rPr sz="1000" b="1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Responsable Export EU / Produits  Vétérinaires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275590">
              <a:lnSpc>
                <a:spcPts val="1000"/>
              </a:lnSpc>
              <a:buChar char="•"/>
              <a:tabLst>
                <a:tab pos="125095" algn="l"/>
              </a:tabLst>
            </a:pPr>
            <a:r>
              <a:rPr lang="en-GB"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1000" dirty="0" err="1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Gérer</a:t>
            </a: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le portefeuille client existant  (Royaume-Uni)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5080">
              <a:lnSpc>
                <a:spcPts val="1000"/>
              </a:lnSpc>
              <a:buChar char="•"/>
              <a:tabLst>
                <a:tab pos="125095" algn="l"/>
              </a:tabLst>
            </a:pPr>
            <a:r>
              <a:rPr lang="en-GB"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1000" dirty="0" err="1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Prospecter</a:t>
            </a: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de nouveaux marchés (Italie  et Irlande)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1449" y="2279764"/>
            <a:ext cx="2317711" cy="2564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R="863600">
              <a:lnSpc>
                <a:spcPts val="1000"/>
              </a:lnSpc>
              <a:spcBef>
                <a:spcPts val="425"/>
              </a:spcBef>
            </a:pPr>
            <a:r>
              <a:rPr sz="1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Division Ibis Biosciences  Entreprise XXX (Paris)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1449" y="4268165"/>
            <a:ext cx="2317711" cy="2564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R="1414780">
              <a:lnSpc>
                <a:spcPts val="1000"/>
              </a:lnSpc>
              <a:spcBef>
                <a:spcPts val="425"/>
              </a:spcBef>
            </a:pPr>
            <a:r>
              <a:rPr sz="1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Entreprise XXX  (Paris)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1449" y="5849569"/>
            <a:ext cx="2317711" cy="2564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R="1414780">
              <a:lnSpc>
                <a:spcPts val="1000"/>
              </a:lnSpc>
              <a:spcBef>
                <a:spcPts val="425"/>
              </a:spcBef>
            </a:pPr>
            <a:r>
              <a:rPr sz="1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Entreprise XXX  (Paris)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1449" y="7570685"/>
            <a:ext cx="2317711" cy="2564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R="1414780">
              <a:lnSpc>
                <a:spcPts val="1000"/>
              </a:lnSpc>
              <a:spcBef>
                <a:spcPts val="425"/>
              </a:spcBef>
            </a:pPr>
            <a:r>
              <a:rPr sz="1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Entreprise XXX  (Londres)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83299" y="7611288"/>
            <a:ext cx="982980" cy="5588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Pack Office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dirty="0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CRM ACT! (SAGE)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dirty="0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SalesForce.com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43499" y="5986950"/>
            <a:ext cx="2590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2008 : Ecole XXX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Master en Marketing et Gestion des Entreprises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Stage de fin d’études en Chine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3499" y="6596550"/>
            <a:ext cx="307086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2005 : Ecole XXX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Brevet de Technicien Supérieur Commerce International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36262" y="535088"/>
            <a:ext cx="3086735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Ingénieur d’Affaires - Key Account Manager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algn="ctr">
              <a:lnSpc>
                <a:spcPts val="1100"/>
              </a:lnSpc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+12 ans d’expérience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Dynamique, Organisé, Goût de la performance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97699" y="723975"/>
            <a:ext cx="53975" cy="600075"/>
          </a:xfrm>
          <a:custGeom>
            <a:avLst/>
            <a:gdLst/>
            <a:ahLst/>
            <a:cxnLst/>
            <a:rect l="l" t="t" r="r" b="b"/>
            <a:pathLst>
              <a:path w="53975" h="600075">
                <a:moveTo>
                  <a:pt x="52120" y="0"/>
                </a:moveTo>
                <a:lnTo>
                  <a:pt x="0" y="0"/>
                </a:lnTo>
                <a:lnTo>
                  <a:pt x="0" y="51206"/>
                </a:lnTo>
                <a:lnTo>
                  <a:pt x="52120" y="51206"/>
                </a:lnTo>
                <a:lnTo>
                  <a:pt x="52120" y="0"/>
                </a:lnTo>
                <a:close/>
              </a:path>
              <a:path w="53975" h="600075">
                <a:moveTo>
                  <a:pt x="53035" y="366572"/>
                </a:moveTo>
                <a:lnTo>
                  <a:pt x="914" y="366572"/>
                </a:lnTo>
                <a:lnTo>
                  <a:pt x="914" y="417779"/>
                </a:lnTo>
                <a:lnTo>
                  <a:pt x="53035" y="417779"/>
                </a:lnTo>
                <a:lnTo>
                  <a:pt x="53035" y="366572"/>
                </a:lnTo>
                <a:close/>
              </a:path>
              <a:path w="53975" h="600075">
                <a:moveTo>
                  <a:pt x="53047" y="181965"/>
                </a:moveTo>
                <a:lnTo>
                  <a:pt x="927" y="181965"/>
                </a:lnTo>
                <a:lnTo>
                  <a:pt x="927" y="233172"/>
                </a:lnTo>
                <a:lnTo>
                  <a:pt x="53047" y="233172"/>
                </a:lnTo>
                <a:lnTo>
                  <a:pt x="53047" y="181965"/>
                </a:lnTo>
                <a:close/>
              </a:path>
              <a:path w="53975" h="600075">
                <a:moveTo>
                  <a:pt x="53962" y="548538"/>
                </a:moveTo>
                <a:lnTo>
                  <a:pt x="1841" y="548538"/>
                </a:lnTo>
                <a:lnTo>
                  <a:pt x="1841" y="599744"/>
                </a:lnTo>
                <a:lnTo>
                  <a:pt x="53962" y="599744"/>
                </a:lnTo>
                <a:lnTo>
                  <a:pt x="53962" y="54853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8850" y="2240680"/>
            <a:ext cx="5549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01/2015-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  <a:p>
            <a:pPr algn="r">
              <a:lnSpc>
                <a:spcPct val="100000"/>
              </a:lnSpc>
            </a:pPr>
            <a:r>
              <a:rPr sz="10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Présent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9485" y="4229075"/>
            <a:ext cx="5543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08/2010-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  <a:p>
            <a:pPr algn="r">
              <a:lnSpc>
                <a:spcPct val="100000"/>
              </a:lnSpc>
            </a:pPr>
            <a:r>
              <a:rPr sz="10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01/2015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9485" y="5810490"/>
            <a:ext cx="5543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08/2008-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  <a:p>
            <a:pPr algn="r">
              <a:lnSpc>
                <a:spcPct val="100000"/>
              </a:lnSpc>
            </a:pPr>
            <a:r>
              <a:rPr sz="10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08/2010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9485" y="7531604"/>
            <a:ext cx="5543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09/2004-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  <a:p>
            <a:pPr algn="r">
              <a:lnSpc>
                <a:spcPct val="100000"/>
              </a:lnSpc>
            </a:pPr>
            <a:r>
              <a:rPr sz="10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04/2008</a:t>
            </a:r>
            <a:endParaRPr sz="1000" dirty="0"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60002" y="3481583"/>
            <a:ext cx="0" cy="1270"/>
          </a:xfrm>
          <a:custGeom>
            <a:avLst/>
            <a:gdLst/>
            <a:ahLst/>
            <a:cxnLst/>
            <a:rect l="l" t="t" r="r" b="b"/>
            <a:pathLst>
              <a:path h="1270">
                <a:moveTo>
                  <a:pt x="-6350" y="381"/>
                </a:moveTo>
                <a:lnTo>
                  <a:pt x="6352" y="381"/>
                </a:lnTo>
              </a:path>
            </a:pathLst>
          </a:custGeom>
          <a:ln w="12700">
            <a:solidFill>
              <a:srgbClr val="CE2F2C"/>
            </a:solidFill>
          </a:ln>
        </p:spPr>
        <p:txBody>
          <a:bodyPr wrap="square" lIns="0" tIns="0" rIns="0" bIns="0" rtlCol="0"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143924" y="3475232"/>
            <a:ext cx="2421890" cy="2378349"/>
          </a:xfrm>
          <a:custGeom>
            <a:avLst/>
            <a:gdLst/>
            <a:ahLst/>
            <a:cxnLst/>
            <a:rect l="l" t="t" r="r" b="b"/>
            <a:pathLst>
              <a:path w="2416175" h="2413000">
                <a:moveTo>
                  <a:pt x="335572" y="0"/>
                </a:moveTo>
                <a:lnTo>
                  <a:pt x="0" y="1763814"/>
                </a:lnTo>
                <a:lnTo>
                  <a:pt x="2416073" y="2412415"/>
                </a:lnTo>
                <a:lnTo>
                  <a:pt x="2416073" y="549656"/>
                </a:lnTo>
                <a:lnTo>
                  <a:pt x="335572" y="0"/>
                </a:lnTo>
                <a:close/>
              </a:path>
            </a:pathLst>
          </a:custGeom>
          <a:solidFill>
            <a:srgbClr val="D2232A"/>
          </a:solidFill>
        </p:spPr>
        <p:txBody>
          <a:bodyPr wrap="square" lIns="0" tIns="0" rIns="0" bIns="0" rtlCol="0"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2251" y="3446932"/>
            <a:ext cx="1859305" cy="1793468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3856199" y="7062842"/>
            <a:ext cx="3187065" cy="38100"/>
            <a:chOff x="3856199" y="7062842"/>
            <a:chExt cx="3187065" cy="38100"/>
          </a:xfrm>
        </p:grpSpPr>
        <p:sp>
          <p:nvSpPr>
            <p:cNvPr id="31" name="object 31"/>
            <p:cNvSpPr/>
            <p:nvPr/>
          </p:nvSpPr>
          <p:spPr>
            <a:xfrm>
              <a:off x="3856199" y="7072367"/>
              <a:ext cx="3187065" cy="0"/>
            </a:xfrm>
            <a:custGeom>
              <a:avLst/>
              <a:gdLst/>
              <a:ahLst/>
              <a:cxnLst/>
              <a:rect l="l" t="t" r="r" b="b"/>
              <a:pathLst>
                <a:path w="3187065">
                  <a:moveTo>
                    <a:pt x="0" y="0"/>
                  </a:moveTo>
                  <a:lnTo>
                    <a:pt x="3186544" y="0"/>
                  </a:lnTo>
                </a:path>
              </a:pathLst>
            </a:custGeom>
            <a:ln w="19050">
              <a:solidFill>
                <a:srgbClr val="CE2F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856199" y="7097761"/>
              <a:ext cx="3187065" cy="0"/>
            </a:xfrm>
            <a:custGeom>
              <a:avLst/>
              <a:gdLst/>
              <a:ahLst/>
              <a:cxnLst/>
              <a:rect l="l" t="t" r="r" b="b"/>
              <a:pathLst>
                <a:path w="3187065">
                  <a:moveTo>
                    <a:pt x="0" y="0"/>
                  </a:moveTo>
                  <a:lnTo>
                    <a:pt x="3186544" y="0"/>
                  </a:lnTo>
                </a:path>
              </a:pathLst>
            </a:custGeom>
            <a:ln w="6362">
              <a:solidFill>
                <a:srgbClr val="CE2F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3856199" y="8417511"/>
            <a:ext cx="3187065" cy="38100"/>
            <a:chOff x="3856199" y="8417511"/>
            <a:chExt cx="3187065" cy="38100"/>
          </a:xfrm>
        </p:grpSpPr>
        <p:sp>
          <p:nvSpPr>
            <p:cNvPr id="34" name="object 34"/>
            <p:cNvSpPr/>
            <p:nvPr/>
          </p:nvSpPr>
          <p:spPr>
            <a:xfrm>
              <a:off x="3856199" y="8427036"/>
              <a:ext cx="3187065" cy="0"/>
            </a:xfrm>
            <a:custGeom>
              <a:avLst/>
              <a:gdLst/>
              <a:ahLst/>
              <a:cxnLst/>
              <a:rect l="l" t="t" r="r" b="b"/>
              <a:pathLst>
                <a:path w="3187065">
                  <a:moveTo>
                    <a:pt x="0" y="0"/>
                  </a:moveTo>
                  <a:lnTo>
                    <a:pt x="3186544" y="0"/>
                  </a:lnTo>
                </a:path>
              </a:pathLst>
            </a:custGeom>
            <a:ln w="19050">
              <a:solidFill>
                <a:srgbClr val="CE2F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3856199" y="8452430"/>
              <a:ext cx="3187065" cy="0"/>
            </a:xfrm>
            <a:custGeom>
              <a:avLst/>
              <a:gdLst/>
              <a:ahLst/>
              <a:cxnLst/>
              <a:rect l="l" t="t" r="r" b="b"/>
              <a:pathLst>
                <a:path w="3187065">
                  <a:moveTo>
                    <a:pt x="0" y="0"/>
                  </a:moveTo>
                  <a:lnTo>
                    <a:pt x="3186544" y="0"/>
                  </a:lnTo>
                </a:path>
              </a:pathLst>
            </a:custGeom>
            <a:ln w="6362">
              <a:solidFill>
                <a:srgbClr val="CE2F2C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0" y="10383710"/>
            <a:ext cx="7560309" cy="119380"/>
            <a:chOff x="0" y="10383710"/>
            <a:chExt cx="7560309" cy="119380"/>
          </a:xfrm>
        </p:grpSpPr>
        <p:sp>
          <p:nvSpPr>
            <p:cNvPr id="37" name="object 37"/>
            <p:cNvSpPr/>
            <p:nvPr/>
          </p:nvSpPr>
          <p:spPr>
            <a:xfrm>
              <a:off x="0" y="10383710"/>
              <a:ext cx="3686810" cy="119380"/>
            </a:xfrm>
            <a:custGeom>
              <a:avLst/>
              <a:gdLst/>
              <a:ahLst/>
              <a:cxnLst/>
              <a:rect l="l" t="t" r="r" b="b"/>
              <a:pathLst>
                <a:path w="3686810" h="119379">
                  <a:moveTo>
                    <a:pt x="3686403" y="0"/>
                  </a:moveTo>
                  <a:lnTo>
                    <a:pt x="0" y="0"/>
                  </a:lnTo>
                  <a:lnTo>
                    <a:pt x="0" y="119379"/>
                  </a:lnTo>
                  <a:lnTo>
                    <a:pt x="3686403" y="119379"/>
                  </a:lnTo>
                  <a:lnTo>
                    <a:pt x="3686403" y="0"/>
                  </a:lnTo>
                  <a:close/>
                </a:path>
              </a:pathLst>
            </a:custGeom>
            <a:solidFill>
              <a:srgbClr val="E6E7E9"/>
            </a:solidFill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3686403" y="10383710"/>
              <a:ext cx="3874135" cy="119380"/>
            </a:xfrm>
            <a:custGeom>
              <a:avLst/>
              <a:gdLst/>
              <a:ahLst/>
              <a:cxnLst/>
              <a:rect l="l" t="t" r="r" b="b"/>
              <a:pathLst>
                <a:path w="3874134" h="119379">
                  <a:moveTo>
                    <a:pt x="3873588" y="0"/>
                  </a:moveTo>
                  <a:lnTo>
                    <a:pt x="0" y="0"/>
                  </a:lnTo>
                  <a:lnTo>
                    <a:pt x="0" y="119379"/>
                  </a:lnTo>
                  <a:lnTo>
                    <a:pt x="3873588" y="119379"/>
                  </a:lnTo>
                  <a:lnTo>
                    <a:pt x="3873588" y="0"/>
                  </a:lnTo>
                  <a:close/>
                </a:path>
              </a:pathLst>
            </a:custGeom>
            <a:solidFill>
              <a:srgbClr val="CE2F2C"/>
            </a:solidFill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12700" y="129946"/>
            <a:ext cx="7547609" cy="119380"/>
            <a:chOff x="12700" y="129946"/>
            <a:chExt cx="7547609" cy="119380"/>
          </a:xfrm>
        </p:grpSpPr>
        <p:sp>
          <p:nvSpPr>
            <p:cNvPr id="40" name="object 40"/>
            <p:cNvSpPr/>
            <p:nvPr/>
          </p:nvSpPr>
          <p:spPr>
            <a:xfrm>
              <a:off x="12700" y="129946"/>
              <a:ext cx="3684904" cy="119380"/>
            </a:xfrm>
            <a:custGeom>
              <a:avLst/>
              <a:gdLst/>
              <a:ahLst/>
              <a:cxnLst/>
              <a:rect l="l" t="t" r="r" b="b"/>
              <a:pathLst>
                <a:path w="3684904" h="119379">
                  <a:moveTo>
                    <a:pt x="3684752" y="0"/>
                  </a:moveTo>
                  <a:lnTo>
                    <a:pt x="0" y="0"/>
                  </a:lnTo>
                  <a:lnTo>
                    <a:pt x="0" y="119379"/>
                  </a:lnTo>
                  <a:lnTo>
                    <a:pt x="3684752" y="119379"/>
                  </a:lnTo>
                  <a:lnTo>
                    <a:pt x="3684752" y="0"/>
                  </a:lnTo>
                  <a:close/>
                </a:path>
              </a:pathLst>
            </a:custGeom>
            <a:solidFill>
              <a:srgbClr val="E6E7E9"/>
            </a:solidFill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3697439" y="129946"/>
              <a:ext cx="3862704" cy="119380"/>
            </a:xfrm>
            <a:custGeom>
              <a:avLst/>
              <a:gdLst/>
              <a:ahLst/>
              <a:cxnLst/>
              <a:rect l="l" t="t" r="r" b="b"/>
              <a:pathLst>
                <a:path w="3862704" h="119379">
                  <a:moveTo>
                    <a:pt x="3862552" y="0"/>
                  </a:moveTo>
                  <a:lnTo>
                    <a:pt x="0" y="0"/>
                  </a:lnTo>
                  <a:lnTo>
                    <a:pt x="0" y="119379"/>
                  </a:lnTo>
                  <a:lnTo>
                    <a:pt x="3862552" y="119379"/>
                  </a:lnTo>
                  <a:lnTo>
                    <a:pt x="3862552" y="0"/>
                  </a:lnTo>
                  <a:close/>
                </a:path>
              </a:pathLst>
            </a:custGeom>
            <a:solidFill>
              <a:srgbClr val="CE2F2C"/>
            </a:solidFill>
          </p:spPr>
          <p:txBody>
            <a:bodyPr wrap="square" lIns="0" tIns="0" rIns="0" bIns="0" rtlCol="0"/>
            <a:lstStyle/>
            <a:p>
              <a:endParaRPr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42" name="object 19">
            <a:extLst>
              <a:ext uri="{FF2B5EF4-FFF2-40B4-BE49-F238E27FC236}">
                <a16:creationId xmlns:a16="http://schemas.microsoft.com/office/drawing/2014/main" id="{990FBD44-7F4B-4E30-89D8-FA0F01B4EB9C}"/>
              </a:ext>
            </a:extLst>
          </p:cNvPr>
          <p:cNvSpPr txBox="1"/>
          <p:nvPr/>
        </p:nvSpPr>
        <p:spPr>
          <a:xfrm>
            <a:off x="864955" y="685147"/>
            <a:ext cx="2821448" cy="69480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+336 74 11 36 35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R="1224915">
              <a:lnSpc>
                <a:spcPct val="116700"/>
              </a:lnSpc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adrien.mercier@gmail.com  Basé à Paris (75) France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Mobilité : France &amp; International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43" name="object 4">
            <a:extLst>
              <a:ext uri="{FF2B5EF4-FFF2-40B4-BE49-F238E27FC236}">
                <a16:creationId xmlns:a16="http://schemas.microsoft.com/office/drawing/2014/main" id="{44F5B884-8030-4884-9094-873077AB7123}"/>
              </a:ext>
            </a:extLst>
          </p:cNvPr>
          <p:cNvSpPr txBox="1"/>
          <p:nvPr/>
        </p:nvSpPr>
        <p:spPr>
          <a:xfrm>
            <a:off x="3843499" y="8980051"/>
            <a:ext cx="1429385" cy="53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72819">
              <a:lnSpc>
                <a:spcPct val="116700"/>
              </a:lnSpc>
              <a:spcBef>
                <a:spcPts val="790"/>
              </a:spcBef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Fitness  Voyages  Théâtre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44" name="object 3">
            <a:extLst>
              <a:ext uri="{FF2B5EF4-FFF2-40B4-BE49-F238E27FC236}">
                <a16:creationId xmlns:a16="http://schemas.microsoft.com/office/drawing/2014/main" id="{E6A65CAA-B3D2-4D15-9205-248EC5DBA1D6}"/>
              </a:ext>
            </a:extLst>
          </p:cNvPr>
          <p:cNvSpPr txBox="1"/>
          <p:nvPr/>
        </p:nvSpPr>
        <p:spPr>
          <a:xfrm>
            <a:off x="3843499" y="7611288"/>
            <a:ext cx="536575" cy="53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685">
              <a:lnSpc>
                <a:spcPct val="116700"/>
              </a:lnSpc>
              <a:spcBef>
                <a:spcPts val="900"/>
              </a:spcBef>
            </a:pPr>
            <a:r>
              <a:rPr sz="1000" dirty="0" err="1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Anglais</a:t>
            </a:r>
            <a:r>
              <a:rPr sz="1000" dirty="0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Italien  Espagnol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45" name="object 5">
            <a:extLst>
              <a:ext uri="{FF2B5EF4-FFF2-40B4-BE49-F238E27FC236}">
                <a16:creationId xmlns:a16="http://schemas.microsoft.com/office/drawing/2014/main" id="{5B5162D2-3E60-4C90-B6D1-D091C2EDAEC2}"/>
              </a:ext>
            </a:extLst>
          </p:cNvPr>
          <p:cNvSpPr txBox="1"/>
          <p:nvPr/>
        </p:nvSpPr>
        <p:spPr>
          <a:xfrm>
            <a:off x="292100" y="9363821"/>
            <a:ext cx="21786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90"/>
              </a:spcBef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Certification SalesForce.com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Strategic Selling : Miller Heiman Alumni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Certification Ethics &amp; Compliance :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 Legal Knowledge Co.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46" name="object 4">
            <a:extLst>
              <a:ext uri="{FF2B5EF4-FFF2-40B4-BE49-F238E27FC236}">
                <a16:creationId xmlns:a16="http://schemas.microsoft.com/office/drawing/2014/main" id="{338F4747-A58F-44B5-AF9C-A63B12CEFB4E}"/>
              </a:ext>
            </a:extLst>
          </p:cNvPr>
          <p:cNvSpPr txBox="1"/>
          <p:nvPr/>
        </p:nvSpPr>
        <p:spPr>
          <a:xfrm>
            <a:off x="3843499" y="9666392"/>
            <a:ext cx="142938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8930">
              <a:lnSpc>
                <a:spcPts val="1000"/>
              </a:lnSpc>
              <a:spcBef>
                <a:spcPts val="5"/>
              </a:spcBef>
            </a:pPr>
            <a:r>
              <a:rPr sz="1000" dirty="0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Expertise technique  Trilingue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ts val="1000"/>
              </a:lnSpc>
            </a:pPr>
            <a:r>
              <a:rPr sz="1000" dirty="0">
                <a:solidFill>
                  <a:srgbClr val="CE2F2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Expérience internationale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50" name="object 6">
            <a:extLst>
              <a:ext uri="{FF2B5EF4-FFF2-40B4-BE49-F238E27FC236}">
                <a16:creationId xmlns:a16="http://schemas.microsoft.com/office/drawing/2014/main" id="{2D366BC9-C580-4658-9F2B-E8AB5711678F}"/>
              </a:ext>
            </a:extLst>
          </p:cNvPr>
          <p:cNvSpPr txBox="1"/>
          <p:nvPr/>
        </p:nvSpPr>
        <p:spPr>
          <a:xfrm>
            <a:off x="4692650" y="1242889"/>
            <a:ext cx="1618906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3000" b="1" dirty="0">
                <a:solidFill>
                  <a:srgbClr val="231F20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Adrien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3000" b="1" dirty="0">
                <a:solidFill>
                  <a:srgbClr val="D2232A"/>
                </a:solidFill>
                <a:latin typeface="Rockwell" panose="02060603020205020403" pitchFamily="18" charset="0"/>
                <a:ea typeface="Cambria" panose="02040503050406030204" pitchFamily="18" charset="0"/>
                <a:cs typeface="Cambria"/>
              </a:rPr>
              <a:t>Mercier</a:t>
            </a:r>
            <a:endParaRPr sz="3000" dirty="0">
              <a:solidFill>
                <a:srgbClr val="D2232A"/>
              </a:solidFill>
              <a:latin typeface="Rockwell" panose="02060603020205020403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52" name="object 18">
            <a:extLst>
              <a:ext uri="{FF2B5EF4-FFF2-40B4-BE49-F238E27FC236}">
                <a16:creationId xmlns:a16="http://schemas.microsoft.com/office/drawing/2014/main" id="{3B690D32-57A4-43C6-8B41-9D7CFFAF13A5}"/>
              </a:ext>
            </a:extLst>
          </p:cNvPr>
          <p:cNvSpPr txBox="1"/>
          <p:nvPr/>
        </p:nvSpPr>
        <p:spPr>
          <a:xfrm>
            <a:off x="3936262" y="2280408"/>
            <a:ext cx="3086735" cy="872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ts val="1100"/>
              </a:lnSpc>
              <a:spcBef>
                <a:spcPts val="100"/>
              </a:spcBef>
              <a:tabLst>
                <a:tab pos="571500" algn="l"/>
              </a:tabLst>
            </a:pPr>
            <a:r>
              <a:rPr lang="fr-FR" sz="1000" dirty="0">
                <a:solidFill>
                  <a:srgbClr val="231F2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Responsable commercial expérimenté et technicien qualifié, mes différentes expériences dans le secteur de la santé m’ont appris à faire preuve d’une grande rigueur. Je suis à la recherche d’un nouveau défi et saurai  valoriser mes compétences et faire preuve d’innovation  	pour conquérir de nouveaux marchés.</a:t>
            </a:r>
            <a:endParaRPr sz="10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369</Words>
  <Application>Microsoft Office PowerPoint</Application>
  <PresentationFormat>Personnalisé</PresentationFormat>
  <Paragraphs>55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Rockwell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Estelle</dc:creator>
  <cp:lastModifiedBy>Estelle</cp:lastModifiedBy>
  <cp:revision>46</cp:revision>
  <dcterms:created xsi:type="dcterms:W3CDTF">2021-06-10T18:53:05Z</dcterms:created>
  <dcterms:modified xsi:type="dcterms:W3CDTF">2021-10-22T13:30:35Z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2021-06-11T00:00:00Z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2021-06-10T00:00:00Z</vt:filetime>
  </property>
</Properties>
</file>