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51" d="100"/>
          <a:sy n="51" d="100"/>
        </p:scale>
        <p:origin x="254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59040" cy="283210"/>
          </a:xfrm>
          <a:custGeom>
            <a:avLst/>
            <a:gdLst/>
            <a:ahLst/>
            <a:cxnLst/>
            <a:rect l="l" t="t" r="r" b="b"/>
            <a:pathLst>
              <a:path w="7559040" h="283210">
                <a:moveTo>
                  <a:pt x="7558493" y="0"/>
                </a:moveTo>
                <a:lnTo>
                  <a:pt x="0" y="0"/>
                </a:lnTo>
                <a:lnTo>
                  <a:pt x="0" y="283019"/>
                </a:lnTo>
                <a:lnTo>
                  <a:pt x="7558493" y="283019"/>
                </a:lnTo>
                <a:lnTo>
                  <a:pt x="7558493" y="0"/>
                </a:lnTo>
                <a:close/>
              </a:path>
            </a:pathLst>
          </a:custGeom>
          <a:solidFill>
            <a:srgbClr val="3934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205801"/>
            <a:ext cx="4800600" cy="2844800"/>
          </a:xfrm>
          <a:custGeom>
            <a:avLst/>
            <a:gdLst/>
            <a:ahLst/>
            <a:cxnLst/>
            <a:rect l="l" t="t" r="r" b="b"/>
            <a:pathLst>
              <a:path w="4800600" h="2844800">
                <a:moveTo>
                  <a:pt x="0" y="0"/>
                </a:moveTo>
                <a:lnTo>
                  <a:pt x="0" y="2844800"/>
                </a:lnTo>
                <a:lnTo>
                  <a:pt x="4800600" y="1859280"/>
                </a:lnTo>
                <a:lnTo>
                  <a:pt x="0" y="0"/>
                </a:lnTo>
                <a:close/>
              </a:path>
            </a:pathLst>
          </a:custGeom>
          <a:solidFill>
            <a:srgbClr val="0085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63239" y="1072460"/>
            <a:ext cx="4497070" cy="3067050"/>
          </a:xfrm>
          <a:custGeom>
            <a:avLst/>
            <a:gdLst/>
            <a:ahLst/>
            <a:cxnLst/>
            <a:rect l="l" t="t" r="r" b="b"/>
            <a:pathLst>
              <a:path w="4497070" h="3067050">
                <a:moveTo>
                  <a:pt x="4496752" y="0"/>
                </a:moveTo>
                <a:lnTo>
                  <a:pt x="0" y="1317967"/>
                </a:lnTo>
                <a:lnTo>
                  <a:pt x="4496752" y="3067050"/>
                </a:lnTo>
                <a:lnTo>
                  <a:pt x="4496752" y="0"/>
                </a:lnTo>
                <a:close/>
              </a:path>
            </a:pathLst>
          </a:custGeom>
          <a:solidFill>
            <a:srgbClr val="3934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31426" y="710767"/>
            <a:ext cx="2299997" cy="710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231F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damienmoreau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88217" y="6087163"/>
            <a:ext cx="10877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75" dirty="0">
                <a:solidFill>
                  <a:srgbClr val="231F20"/>
                </a:solidFill>
                <a:latin typeface="Arial"/>
                <a:cs typeface="Arial"/>
              </a:rPr>
              <a:t>PROFIL</a:t>
            </a:r>
            <a:r>
              <a:rPr sz="1200" spc="-37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120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spc="-390" dirty="0">
                <a:solidFill>
                  <a:srgbClr val="231F20"/>
                </a:solidFill>
                <a:latin typeface="Arial"/>
                <a:cs typeface="Arial"/>
              </a:rPr>
              <a:t>&amp;</a:t>
            </a:r>
            <a:r>
              <a:rPr sz="120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spc="-275" dirty="0">
                <a:solidFill>
                  <a:srgbClr val="231F20"/>
                </a:solidFill>
                <a:latin typeface="Arial"/>
                <a:cs typeface="Arial"/>
              </a:rPr>
              <a:t>OBJECTIVE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22332" y="2174849"/>
            <a:ext cx="1883410" cy="731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CONTACT</a:t>
            </a:r>
            <a:endParaRPr sz="1200">
              <a:latin typeface="Arial"/>
              <a:cs typeface="Arial"/>
            </a:endParaRPr>
          </a:p>
          <a:p>
            <a:pPr marR="285750" algn="r">
              <a:lnSpc>
                <a:spcPct val="100000"/>
              </a:lnSpc>
              <a:spcBef>
                <a:spcPts val="920"/>
              </a:spcBef>
            </a:pP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+1 (704) 698 2903</a:t>
            </a:r>
            <a:endParaRPr sz="1000">
              <a:latin typeface="Raleway-ExtraLight"/>
              <a:cs typeface="Raleway-ExtraLight"/>
            </a:endParaRPr>
          </a:p>
          <a:p>
            <a:pPr marR="285750" algn="r">
              <a:lnSpc>
                <a:spcPct val="100000"/>
              </a:lnSpc>
              <a:spcBef>
                <a:spcPts val="800"/>
              </a:spcBef>
            </a:pP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  <a:hlinkClick r:id="rId2"/>
              </a:rPr>
              <a:t>damienmoreau@gmail.com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2003143"/>
            <a:ext cx="1875789" cy="595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LANGUAGE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Spanish: professional proficiency</a:t>
            </a:r>
            <a:endParaRPr sz="1000" dirty="0">
              <a:latin typeface="Raleway-ExtraLight"/>
              <a:cs typeface="Raleway-Extra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2857982"/>
            <a:ext cx="944244" cy="6073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SKILLS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530"/>
              </a:spcBef>
            </a:pPr>
            <a:r>
              <a:rPr sz="1000" dirty="0">
                <a:solidFill>
                  <a:srgbClr val="FFFFFF"/>
                </a:solidFill>
                <a:latin typeface="Raleway-ExtraLight"/>
                <a:cs typeface="Raleway-ExtraLight"/>
              </a:rPr>
              <a:t>PC &amp; Mac Office  Internet</a:t>
            </a:r>
            <a:endParaRPr sz="1000">
              <a:latin typeface="Raleway-ExtraLight"/>
              <a:cs typeface="Raleway-ExtraLigh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800917" y="9087218"/>
            <a:ext cx="1062355" cy="45720"/>
            <a:chOff x="4800917" y="9087218"/>
            <a:chExt cx="1062355" cy="45720"/>
          </a:xfrm>
        </p:grpSpPr>
        <p:sp>
          <p:nvSpPr>
            <p:cNvPr id="7" name="object 7"/>
            <p:cNvSpPr/>
            <p:nvPr/>
          </p:nvSpPr>
          <p:spPr>
            <a:xfrm>
              <a:off x="4800917" y="9087218"/>
              <a:ext cx="1062355" cy="45720"/>
            </a:xfrm>
            <a:custGeom>
              <a:avLst/>
              <a:gdLst/>
              <a:ahLst/>
              <a:cxnLst/>
              <a:rect l="l" t="t" r="r" b="b"/>
              <a:pathLst>
                <a:path w="1062354" h="45720">
                  <a:moveTo>
                    <a:pt x="1062126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1062126" y="45719"/>
                  </a:lnTo>
                  <a:lnTo>
                    <a:pt x="1062126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00917" y="9087218"/>
              <a:ext cx="988694" cy="45720"/>
            </a:xfrm>
            <a:custGeom>
              <a:avLst/>
              <a:gdLst/>
              <a:ahLst/>
              <a:cxnLst/>
              <a:rect l="l" t="t" r="r" b="b"/>
              <a:pathLst>
                <a:path w="988695" h="45720">
                  <a:moveTo>
                    <a:pt x="988085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988085" y="45719"/>
                  </a:lnTo>
                  <a:lnTo>
                    <a:pt x="988085" y="0"/>
                  </a:lnTo>
                  <a:close/>
                </a:path>
              </a:pathLst>
            </a:custGeom>
            <a:solidFill>
              <a:srgbClr val="0085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800917" y="8632558"/>
            <a:ext cx="1062355" cy="45720"/>
            <a:chOff x="4800917" y="8632558"/>
            <a:chExt cx="1062355" cy="45720"/>
          </a:xfrm>
        </p:grpSpPr>
        <p:sp>
          <p:nvSpPr>
            <p:cNvPr id="10" name="object 10"/>
            <p:cNvSpPr/>
            <p:nvPr/>
          </p:nvSpPr>
          <p:spPr>
            <a:xfrm>
              <a:off x="4800917" y="8632558"/>
              <a:ext cx="1062355" cy="45720"/>
            </a:xfrm>
            <a:custGeom>
              <a:avLst/>
              <a:gdLst/>
              <a:ahLst/>
              <a:cxnLst/>
              <a:rect l="l" t="t" r="r" b="b"/>
              <a:pathLst>
                <a:path w="1062354" h="45720">
                  <a:moveTo>
                    <a:pt x="106212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062126" y="45720"/>
                  </a:lnTo>
                  <a:lnTo>
                    <a:pt x="1062126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00917" y="8632558"/>
              <a:ext cx="988694" cy="45720"/>
            </a:xfrm>
            <a:custGeom>
              <a:avLst/>
              <a:gdLst/>
              <a:ahLst/>
              <a:cxnLst/>
              <a:rect l="l" t="t" r="r" b="b"/>
              <a:pathLst>
                <a:path w="988695" h="45720">
                  <a:moveTo>
                    <a:pt x="988085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88085" y="45720"/>
                  </a:lnTo>
                  <a:lnTo>
                    <a:pt x="988085" y="0"/>
                  </a:lnTo>
                  <a:close/>
                </a:path>
              </a:pathLst>
            </a:custGeom>
            <a:solidFill>
              <a:srgbClr val="0085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800917" y="8392528"/>
            <a:ext cx="1062355" cy="45720"/>
            <a:chOff x="4800917" y="8392528"/>
            <a:chExt cx="1062355" cy="45720"/>
          </a:xfrm>
        </p:grpSpPr>
        <p:sp>
          <p:nvSpPr>
            <p:cNvPr id="13" name="object 13"/>
            <p:cNvSpPr/>
            <p:nvPr/>
          </p:nvSpPr>
          <p:spPr>
            <a:xfrm>
              <a:off x="4800917" y="8392528"/>
              <a:ext cx="1062355" cy="45720"/>
            </a:xfrm>
            <a:custGeom>
              <a:avLst/>
              <a:gdLst/>
              <a:ahLst/>
              <a:cxnLst/>
              <a:rect l="l" t="t" r="r" b="b"/>
              <a:pathLst>
                <a:path w="1062354" h="45720">
                  <a:moveTo>
                    <a:pt x="106212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062126" y="45720"/>
                  </a:lnTo>
                  <a:lnTo>
                    <a:pt x="1062126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00917" y="8392528"/>
              <a:ext cx="988694" cy="45720"/>
            </a:xfrm>
            <a:custGeom>
              <a:avLst/>
              <a:gdLst/>
              <a:ahLst/>
              <a:cxnLst/>
              <a:rect l="l" t="t" r="r" b="b"/>
              <a:pathLst>
                <a:path w="988695" h="45720">
                  <a:moveTo>
                    <a:pt x="988085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88085" y="45720"/>
                  </a:lnTo>
                  <a:lnTo>
                    <a:pt x="988085" y="0"/>
                  </a:lnTo>
                  <a:close/>
                </a:path>
              </a:pathLst>
            </a:custGeom>
            <a:solidFill>
              <a:srgbClr val="0085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800917" y="8872588"/>
            <a:ext cx="1062355" cy="45720"/>
            <a:chOff x="4800917" y="8872588"/>
            <a:chExt cx="1062355" cy="45720"/>
          </a:xfrm>
        </p:grpSpPr>
        <p:sp>
          <p:nvSpPr>
            <p:cNvPr id="16" name="object 16"/>
            <p:cNvSpPr/>
            <p:nvPr/>
          </p:nvSpPr>
          <p:spPr>
            <a:xfrm>
              <a:off x="4800917" y="8872588"/>
              <a:ext cx="1062355" cy="45720"/>
            </a:xfrm>
            <a:custGeom>
              <a:avLst/>
              <a:gdLst/>
              <a:ahLst/>
              <a:cxnLst/>
              <a:rect l="l" t="t" r="r" b="b"/>
              <a:pathLst>
                <a:path w="1062354" h="45720">
                  <a:moveTo>
                    <a:pt x="1062126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1062126" y="45719"/>
                  </a:lnTo>
                  <a:lnTo>
                    <a:pt x="1062126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00917" y="8872588"/>
              <a:ext cx="854075" cy="45720"/>
            </a:xfrm>
            <a:custGeom>
              <a:avLst/>
              <a:gdLst/>
              <a:ahLst/>
              <a:cxnLst/>
              <a:rect l="l" t="t" r="r" b="b"/>
              <a:pathLst>
                <a:path w="854075" h="45720">
                  <a:moveTo>
                    <a:pt x="853871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853871" y="45719"/>
                  </a:lnTo>
                  <a:lnTo>
                    <a:pt x="853871" y="0"/>
                  </a:lnTo>
                  <a:close/>
                </a:path>
              </a:pathLst>
            </a:custGeom>
            <a:solidFill>
              <a:srgbClr val="0085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05193" y="2531275"/>
            <a:ext cx="6680200" cy="7462520"/>
            <a:chOff x="405193" y="2531275"/>
            <a:chExt cx="6680200" cy="7462520"/>
          </a:xfrm>
        </p:grpSpPr>
        <p:sp>
          <p:nvSpPr>
            <p:cNvPr id="19" name="object 19"/>
            <p:cNvSpPr/>
            <p:nvPr/>
          </p:nvSpPr>
          <p:spPr>
            <a:xfrm>
              <a:off x="1553044" y="2539301"/>
              <a:ext cx="1144905" cy="887094"/>
            </a:xfrm>
            <a:custGeom>
              <a:avLst/>
              <a:gdLst/>
              <a:ahLst/>
              <a:cxnLst/>
              <a:rect l="l" t="t" r="r" b="b"/>
              <a:pathLst>
                <a:path w="1144905" h="887095">
                  <a:moveTo>
                    <a:pt x="1144435" y="670560"/>
                  </a:moveTo>
                  <a:lnTo>
                    <a:pt x="0" y="670560"/>
                  </a:lnTo>
                  <a:lnTo>
                    <a:pt x="0" y="716280"/>
                  </a:lnTo>
                  <a:lnTo>
                    <a:pt x="1144435" y="716280"/>
                  </a:lnTo>
                  <a:lnTo>
                    <a:pt x="1144435" y="670560"/>
                  </a:lnTo>
                  <a:close/>
                </a:path>
                <a:path w="1144905" h="887095">
                  <a:moveTo>
                    <a:pt x="1144435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144435" y="45720"/>
                  </a:lnTo>
                  <a:lnTo>
                    <a:pt x="1144435" y="0"/>
                  </a:lnTo>
                  <a:close/>
                </a:path>
                <a:path w="1144905" h="887095">
                  <a:moveTo>
                    <a:pt x="1144447" y="841121"/>
                  </a:moveTo>
                  <a:lnTo>
                    <a:pt x="12" y="841121"/>
                  </a:lnTo>
                  <a:lnTo>
                    <a:pt x="12" y="886841"/>
                  </a:lnTo>
                  <a:lnTo>
                    <a:pt x="1144447" y="886841"/>
                  </a:lnTo>
                  <a:lnTo>
                    <a:pt x="1144447" y="841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53044" y="2539301"/>
              <a:ext cx="1064895" cy="887094"/>
            </a:xfrm>
            <a:custGeom>
              <a:avLst/>
              <a:gdLst/>
              <a:ahLst/>
              <a:cxnLst/>
              <a:rect l="l" t="t" r="r" b="b"/>
              <a:pathLst>
                <a:path w="1064895" h="887095">
                  <a:moveTo>
                    <a:pt x="646188" y="0"/>
                  </a:moveTo>
                  <a:lnTo>
                    <a:pt x="12" y="0"/>
                  </a:lnTo>
                  <a:lnTo>
                    <a:pt x="12" y="45720"/>
                  </a:lnTo>
                  <a:lnTo>
                    <a:pt x="646188" y="45720"/>
                  </a:lnTo>
                  <a:lnTo>
                    <a:pt x="646188" y="0"/>
                  </a:lnTo>
                  <a:close/>
                </a:path>
                <a:path w="1064895" h="887095">
                  <a:moveTo>
                    <a:pt x="920051" y="841121"/>
                  </a:moveTo>
                  <a:lnTo>
                    <a:pt x="12" y="841121"/>
                  </a:lnTo>
                  <a:lnTo>
                    <a:pt x="12" y="886841"/>
                  </a:lnTo>
                  <a:lnTo>
                    <a:pt x="920051" y="886841"/>
                  </a:lnTo>
                  <a:lnTo>
                    <a:pt x="920051" y="841121"/>
                  </a:lnTo>
                  <a:close/>
                </a:path>
                <a:path w="1064895" h="887095">
                  <a:moveTo>
                    <a:pt x="1064653" y="670560"/>
                  </a:moveTo>
                  <a:lnTo>
                    <a:pt x="0" y="670560"/>
                  </a:lnTo>
                  <a:lnTo>
                    <a:pt x="0" y="716280"/>
                  </a:lnTo>
                  <a:lnTo>
                    <a:pt x="1064653" y="716280"/>
                  </a:lnTo>
                  <a:lnTo>
                    <a:pt x="1064653" y="67056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59959" y="3999293"/>
              <a:ext cx="151130" cy="154305"/>
            </a:xfrm>
            <a:custGeom>
              <a:avLst/>
              <a:gdLst/>
              <a:ahLst/>
              <a:cxnLst/>
              <a:rect l="l" t="t" r="r" b="b"/>
              <a:pathLst>
                <a:path w="151129" h="154304">
                  <a:moveTo>
                    <a:pt x="150622" y="0"/>
                  </a:moveTo>
                  <a:lnTo>
                    <a:pt x="0" y="0"/>
                  </a:lnTo>
                  <a:lnTo>
                    <a:pt x="0" y="153987"/>
                  </a:lnTo>
                  <a:lnTo>
                    <a:pt x="150622" y="153987"/>
                  </a:lnTo>
                  <a:lnTo>
                    <a:pt x="150622" y="0"/>
                  </a:lnTo>
                  <a:close/>
                </a:path>
              </a:pathLst>
            </a:custGeom>
            <a:solidFill>
              <a:srgbClr val="0085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03775" y="4302760"/>
              <a:ext cx="45085" cy="45720"/>
            </a:xfrm>
            <a:custGeom>
              <a:avLst/>
              <a:gdLst/>
              <a:ahLst/>
              <a:cxnLst/>
              <a:rect l="l" t="t" r="r" b="b"/>
              <a:pathLst>
                <a:path w="45085" h="45720">
                  <a:moveTo>
                    <a:pt x="45085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45085" y="45720"/>
                  </a:lnTo>
                  <a:lnTo>
                    <a:pt x="4508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27270" y="4183380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10439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03775" y="5102860"/>
              <a:ext cx="45085" cy="45720"/>
            </a:xfrm>
            <a:custGeom>
              <a:avLst/>
              <a:gdLst/>
              <a:ahLst/>
              <a:cxnLst/>
              <a:rect l="l" t="t" r="r" b="b"/>
              <a:pathLst>
                <a:path w="45085" h="45720">
                  <a:moveTo>
                    <a:pt x="45085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45085" y="45720"/>
                  </a:lnTo>
                  <a:lnTo>
                    <a:pt x="4508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27270" y="4367086"/>
              <a:ext cx="0" cy="721360"/>
            </a:xfrm>
            <a:custGeom>
              <a:avLst/>
              <a:gdLst/>
              <a:ahLst/>
              <a:cxnLst/>
              <a:rect l="l" t="t" r="r" b="b"/>
              <a:pathLst>
                <a:path h="721360">
                  <a:moveTo>
                    <a:pt x="0" y="72136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25301" y="5165383"/>
              <a:ext cx="0" cy="539115"/>
            </a:xfrm>
            <a:custGeom>
              <a:avLst/>
              <a:gdLst/>
              <a:ahLst/>
              <a:cxnLst/>
              <a:rect l="l" t="t" r="r" b="b"/>
              <a:pathLst>
                <a:path h="539114">
                  <a:moveTo>
                    <a:pt x="0" y="53875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5193" y="4363123"/>
              <a:ext cx="151130" cy="154305"/>
            </a:xfrm>
            <a:custGeom>
              <a:avLst/>
              <a:gdLst/>
              <a:ahLst/>
              <a:cxnLst/>
              <a:rect l="l" t="t" r="r" b="b"/>
              <a:pathLst>
                <a:path w="151129" h="154304">
                  <a:moveTo>
                    <a:pt x="150622" y="0"/>
                  </a:moveTo>
                  <a:lnTo>
                    <a:pt x="0" y="0"/>
                  </a:lnTo>
                  <a:lnTo>
                    <a:pt x="0" y="153987"/>
                  </a:lnTo>
                  <a:lnTo>
                    <a:pt x="150622" y="153987"/>
                  </a:lnTo>
                  <a:lnTo>
                    <a:pt x="150622" y="0"/>
                  </a:lnTo>
                  <a:close/>
                </a:path>
              </a:pathLst>
            </a:custGeom>
            <a:solidFill>
              <a:srgbClr val="0085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6568" y="4547274"/>
              <a:ext cx="0" cy="120650"/>
            </a:xfrm>
            <a:custGeom>
              <a:avLst/>
              <a:gdLst/>
              <a:ahLst/>
              <a:cxnLst/>
              <a:rect l="l" t="t" r="r" b="b"/>
              <a:pathLst>
                <a:path h="120650">
                  <a:moveTo>
                    <a:pt x="0" y="12054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945" y="4870615"/>
              <a:ext cx="46990" cy="2232660"/>
            </a:xfrm>
            <a:custGeom>
              <a:avLst/>
              <a:gdLst/>
              <a:ahLst/>
              <a:cxnLst/>
              <a:rect l="l" t="t" r="r" b="b"/>
              <a:pathLst>
                <a:path w="46990" h="2232659">
                  <a:moveTo>
                    <a:pt x="45072" y="2186940"/>
                  </a:moveTo>
                  <a:lnTo>
                    <a:pt x="0" y="2186940"/>
                  </a:lnTo>
                  <a:lnTo>
                    <a:pt x="0" y="2232660"/>
                  </a:lnTo>
                  <a:lnTo>
                    <a:pt x="45072" y="2232660"/>
                  </a:lnTo>
                  <a:lnTo>
                    <a:pt x="45072" y="2186940"/>
                  </a:lnTo>
                  <a:close/>
                </a:path>
                <a:path w="46990" h="2232659">
                  <a:moveTo>
                    <a:pt x="46469" y="0"/>
                  </a:moveTo>
                  <a:lnTo>
                    <a:pt x="1397" y="0"/>
                  </a:lnTo>
                  <a:lnTo>
                    <a:pt x="1397" y="45720"/>
                  </a:lnTo>
                  <a:lnTo>
                    <a:pt x="46469" y="45720"/>
                  </a:lnTo>
                  <a:lnTo>
                    <a:pt x="4646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6568" y="4639374"/>
              <a:ext cx="0" cy="2379345"/>
            </a:xfrm>
            <a:custGeom>
              <a:avLst/>
              <a:gdLst/>
              <a:ahLst/>
              <a:cxnLst/>
              <a:rect l="l" t="t" r="r" b="b"/>
              <a:pathLst>
                <a:path h="2379345">
                  <a:moveTo>
                    <a:pt x="0" y="237896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81414" y="4804572"/>
              <a:ext cx="0" cy="175895"/>
            </a:xfrm>
            <a:custGeom>
              <a:avLst/>
              <a:gdLst/>
              <a:ahLst/>
              <a:cxnLst/>
              <a:rect l="l" t="t" r="r" b="b"/>
              <a:pathLst>
                <a:path h="175895">
                  <a:moveTo>
                    <a:pt x="0" y="17576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808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17914" y="6992527"/>
              <a:ext cx="0" cy="175895"/>
            </a:xfrm>
            <a:custGeom>
              <a:avLst/>
              <a:gdLst/>
              <a:ahLst/>
              <a:cxnLst/>
              <a:rect l="l" t="t" r="r" b="b"/>
              <a:pathLst>
                <a:path h="175895">
                  <a:moveTo>
                    <a:pt x="0" y="175767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8082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99998" y="2531274"/>
              <a:ext cx="85725" cy="337820"/>
            </a:xfrm>
            <a:custGeom>
              <a:avLst/>
              <a:gdLst/>
              <a:ahLst/>
              <a:cxnLst/>
              <a:rect l="l" t="t" r="r" b="b"/>
              <a:pathLst>
                <a:path w="85725" h="337819">
                  <a:moveTo>
                    <a:pt x="85344" y="249110"/>
                  </a:moveTo>
                  <a:lnTo>
                    <a:pt x="0" y="249110"/>
                  </a:lnTo>
                  <a:lnTo>
                    <a:pt x="0" y="337502"/>
                  </a:lnTo>
                  <a:lnTo>
                    <a:pt x="85344" y="337502"/>
                  </a:lnTo>
                  <a:lnTo>
                    <a:pt x="85344" y="249110"/>
                  </a:lnTo>
                  <a:close/>
                </a:path>
                <a:path w="85725" h="337819">
                  <a:moveTo>
                    <a:pt x="85344" y="0"/>
                  </a:moveTo>
                  <a:lnTo>
                    <a:pt x="0" y="0"/>
                  </a:lnTo>
                  <a:lnTo>
                    <a:pt x="0" y="88392"/>
                  </a:lnTo>
                  <a:lnTo>
                    <a:pt x="85344" y="88392"/>
                  </a:lnTo>
                  <a:lnTo>
                    <a:pt x="85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02479" y="3550223"/>
              <a:ext cx="0" cy="6443345"/>
            </a:xfrm>
            <a:custGeom>
              <a:avLst/>
              <a:gdLst/>
              <a:ahLst/>
              <a:cxnLst/>
              <a:rect l="l" t="t" r="r" b="b"/>
              <a:pathLst>
                <a:path h="6443345">
                  <a:moveTo>
                    <a:pt x="0" y="0"/>
                  </a:moveTo>
                  <a:lnTo>
                    <a:pt x="0" y="6443281"/>
                  </a:lnTo>
                </a:path>
              </a:pathLst>
            </a:custGeom>
            <a:ln w="12700">
              <a:solidFill>
                <a:srgbClr val="032C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788217" y="8222022"/>
            <a:ext cx="20523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Traveling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: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India,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Indonesia,</a:t>
            </a:r>
            <a:r>
              <a:rPr sz="1000" spc="-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Vietnam</a:t>
            </a:r>
            <a:endParaRPr sz="1000" dirty="0">
              <a:latin typeface="Raleway-ExtraLight"/>
              <a:cs typeface="Raleway-ExtraLigh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88217" y="8450622"/>
            <a:ext cx="4997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R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unning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88217" y="8679222"/>
            <a:ext cx="3822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Diving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88217" y="8907822"/>
            <a:ext cx="9448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Economic</a:t>
            </a:r>
            <a:r>
              <a:rPr sz="1000" spc="-5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Press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3418" y="4327340"/>
            <a:ext cx="1368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15" dirty="0">
                <a:solidFill>
                  <a:srgbClr val="231F20"/>
                </a:solidFill>
                <a:latin typeface="Arial"/>
                <a:cs typeface="Arial"/>
              </a:rPr>
              <a:t>PROFESSIONA</a:t>
            </a:r>
            <a:r>
              <a:rPr sz="1200" spc="-320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r>
              <a:rPr sz="120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spc="-305" dirty="0">
                <a:solidFill>
                  <a:srgbClr val="231F20"/>
                </a:solidFill>
                <a:latin typeface="Arial"/>
                <a:cs typeface="Arial"/>
              </a:rPr>
              <a:t>EXPERIENCE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19594" y="4803300"/>
            <a:ext cx="1693545" cy="4318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algn="just">
              <a:lnSpc>
                <a:spcPts val="1000"/>
              </a:lnSpc>
              <a:spcBef>
                <a:spcPts val="300"/>
              </a:spcBef>
            </a:pPr>
            <a:r>
              <a:rPr sz="1000" b="1" spc="-5" dirty="0">
                <a:solidFill>
                  <a:srgbClr val="0085C6"/>
                </a:solidFill>
                <a:latin typeface="Raleway-SemiBold"/>
                <a:cs typeface="Raleway-SemiBold"/>
              </a:rPr>
              <a:t>BANKING SERVICES 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BUYER </a:t>
            </a:r>
            <a:r>
              <a:rPr sz="1000" b="1" spc="-235" dirty="0">
                <a:solidFill>
                  <a:srgbClr val="0085C6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(FINAL</a:t>
            </a:r>
            <a:r>
              <a:rPr sz="1000" b="1" spc="-65" dirty="0">
                <a:solidFill>
                  <a:srgbClr val="0085C6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YEAR INTERNSHI</a:t>
            </a:r>
            <a:r>
              <a:rPr sz="1000" b="1" spc="-80" dirty="0">
                <a:solidFill>
                  <a:srgbClr val="0085C6"/>
                </a:solidFill>
                <a:latin typeface="Raleway-SemiBold"/>
                <a:cs typeface="Raleway-SemiBold"/>
              </a:rPr>
              <a:t>P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, 6  MONTHS)</a:t>
            </a:r>
            <a:endParaRPr sz="1000">
              <a:latin typeface="Raleway-SemiBold"/>
              <a:cs typeface="Raleway-SemiBold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19594" y="6931854"/>
            <a:ext cx="1691639" cy="3048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1000"/>
              </a:lnSpc>
              <a:spcBef>
                <a:spcPts val="300"/>
              </a:spcBef>
            </a:pP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JUNIOR BUYER </a:t>
            </a:r>
            <a:r>
              <a:rPr sz="1000" b="1" spc="5" dirty="0">
                <a:solidFill>
                  <a:srgbClr val="0085C6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(PL</a:t>
            </a:r>
            <a:r>
              <a:rPr sz="1000" b="1" spc="-30" dirty="0">
                <a:solidFill>
                  <a:srgbClr val="0085C6"/>
                </a:solidFill>
                <a:latin typeface="Raleway-SemiBold"/>
                <a:cs typeface="Raleway-SemiBold"/>
              </a:rPr>
              <a:t>A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CEMENT</a:t>
            </a:r>
            <a:r>
              <a:rPr sz="1000" b="1" spc="-65" dirty="0">
                <a:solidFill>
                  <a:srgbClr val="0085C6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YEAR, 1</a:t>
            </a:r>
            <a:r>
              <a:rPr sz="1000" b="1" spc="-35" dirty="0">
                <a:solidFill>
                  <a:srgbClr val="0085C6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YEAR)</a:t>
            </a:r>
            <a:endParaRPr sz="1000">
              <a:latin typeface="Raleway-SemiBold"/>
              <a:cs typeface="Raleway-SemiBold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31211" y="4795680"/>
            <a:ext cx="9556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808285"/>
                </a:solidFill>
                <a:latin typeface="Raleway-ExtraLight"/>
                <a:cs typeface="Raleway-ExtraLight"/>
              </a:rPr>
              <a:t>Post</a:t>
            </a:r>
            <a:r>
              <a:rPr sz="1000" spc="-35" dirty="0">
                <a:solidFill>
                  <a:srgbClr val="808285"/>
                </a:solidFill>
                <a:latin typeface="Raleway-ExtraLight"/>
                <a:cs typeface="Raleway-ExtraLight"/>
              </a:rPr>
              <a:t> </a:t>
            </a:r>
            <a:r>
              <a:rPr sz="1000" spc="-25" dirty="0">
                <a:solidFill>
                  <a:srgbClr val="808285"/>
                </a:solidFill>
                <a:latin typeface="Raleway-ExtraLight"/>
                <a:cs typeface="Raleway-ExtraLight"/>
              </a:rPr>
              <a:t>Office</a:t>
            </a:r>
            <a:r>
              <a:rPr sz="1000" spc="-30" dirty="0">
                <a:solidFill>
                  <a:srgbClr val="808285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808285"/>
                </a:solidFill>
                <a:latin typeface="Raleway-ExtraLight"/>
                <a:cs typeface="Raleway-ExtraLight"/>
              </a:rPr>
              <a:t>Bank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167711" y="6983635"/>
            <a:ext cx="5626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808285"/>
                </a:solidFill>
                <a:latin typeface="Raleway-ExtraLight"/>
                <a:cs typeface="Raleway-ExtraLight"/>
              </a:rPr>
              <a:t>SN</a:t>
            </a:r>
            <a:r>
              <a:rPr sz="1000" spc="-15" dirty="0">
                <a:solidFill>
                  <a:srgbClr val="808285"/>
                </a:solidFill>
                <a:latin typeface="Raleway-ExtraLight"/>
                <a:cs typeface="Raleway-ExtraLight"/>
              </a:rPr>
              <a:t>E</a:t>
            </a:r>
            <a:r>
              <a:rPr sz="1000" dirty="0">
                <a:solidFill>
                  <a:srgbClr val="808285"/>
                </a:solidFill>
                <a:latin typeface="Raleway-ExtraLight"/>
                <a:cs typeface="Raleway-ExtraLight"/>
              </a:rPr>
              <a:t>CMA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73418" y="4823367"/>
            <a:ext cx="2914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2016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73418" y="6991765"/>
            <a:ext cx="2838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2015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76568" y="7192176"/>
            <a:ext cx="0" cy="3137535"/>
          </a:xfrm>
          <a:custGeom>
            <a:avLst/>
            <a:gdLst/>
            <a:ahLst/>
            <a:cxnLst/>
            <a:rect l="l" t="t" r="r" b="b"/>
            <a:pathLst>
              <a:path h="3137534">
                <a:moveTo>
                  <a:pt x="0" y="3137306"/>
                </a:moveTo>
                <a:lnTo>
                  <a:pt x="0" y="0"/>
                </a:lnTo>
              </a:path>
            </a:pathLst>
          </a:custGeom>
          <a:ln w="1270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319594" y="5383564"/>
            <a:ext cx="29616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Char char="•"/>
              <a:tabLst>
                <a:tab pos="89535" algn="l"/>
              </a:tabLst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Carrying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out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continued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market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intelligence: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detect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strategic information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for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the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Post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Office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Bank.</a:t>
            </a:r>
            <a:endParaRPr sz="1000">
              <a:latin typeface="Raleway-ExtraLight"/>
              <a:cs typeface="Raleway-ExtraLight"/>
            </a:endParaRPr>
          </a:p>
          <a:p>
            <a:pPr marL="85090" indent="-73025">
              <a:lnSpc>
                <a:spcPct val="100000"/>
              </a:lnSpc>
              <a:buChar char="•"/>
              <a:tabLst>
                <a:tab pos="85725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Analyse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the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key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banking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market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evolution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factors.</a:t>
            </a:r>
            <a:endParaRPr sz="1000">
              <a:latin typeface="Raleway-ExtraLight"/>
              <a:cs typeface="Raleway-ExtraLight"/>
            </a:endParaRPr>
          </a:p>
          <a:p>
            <a:pPr marL="12700" marR="243204">
              <a:lnSpc>
                <a:spcPct val="100000"/>
              </a:lnSpc>
              <a:buChar char="•"/>
              <a:tabLst>
                <a:tab pos="89535" algn="l"/>
              </a:tabLst>
            </a:pP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Evaluating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suppliers based on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defined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quality,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cost,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and deadline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objectives.</a:t>
            </a:r>
            <a:endParaRPr sz="1000">
              <a:latin typeface="Raleway-ExtraLight"/>
              <a:cs typeface="Raleway-ExtraLight"/>
            </a:endParaRPr>
          </a:p>
          <a:p>
            <a:pPr marL="84455" indent="-72390">
              <a:lnSpc>
                <a:spcPct val="100000"/>
              </a:lnSpc>
              <a:buChar char="•"/>
              <a:tabLst>
                <a:tab pos="85090" algn="l"/>
              </a:tabLst>
            </a:pP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Writing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proposal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requests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and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specifications.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19594" y="7402993"/>
            <a:ext cx="2856865" cy="200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indent="-76835">
              <a:lnSpc>
                <a:spcPct val="100000"/>
              </a:lnSpc>
              <a:spcBef>
                <a:spcPts val="100"/>
              </a:spcBef>
              <a:buChar char="•"/>
              <a:tabLst>
                <a:tab pos="89535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Purchased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rotating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aviation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engine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components.</a:t>
            </a:r>
            <a:endParaRPr sz="1000" dirty="0">
              <a:latin typeface="Raleway-ExtraLight"/>
              <a:cs typeface="Raleway-ExtraLight"/>
            </a:endParaRPr>
          </a:p>
          <a:p>
            <a:pPr marL="88900" indent="-76835">
              <a:lnSpc>
                <a:spcPct val="100000"/>
              </a:lnSpc>
              <a:buChar char="•"/>
              <a:tabLst>
                <a:tab pos="89535" algn="l"/>
              </a:tabLst>
            </a:pP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Defined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the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service purchasing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strategy.</a:t>
            </a:r>
            <a:endParaRPr sz="1000" dirty="0">
              <a:latin typeface="Raleway-ExtraLight"/>
              <a:cs typeface="Raleway-ExtraLight"/>
            </a:endParaRPr>
          </a:p>
          <a:p>
            <a:pPr marL="12700" marR="24130">
              <a:lnSpc>
                <a:spcPct val="100000"/>
              </a:lnSpc>
              <a:buChar char="•"/>
              <a:tabLst>
                <a:tab pos="89535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Set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up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score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cards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for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project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management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and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monitoring strategic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orientation.</a:t>
            </a:r>
            <a:endParaRPr sz="1000" dirty="0">
              <a:latin typeface="Raleway-ExtraLight"/>
              <a:cs typeface="Raleway-ExtraLight"/>
            </a:endParaRPr>
          </a:p>
          <a:p>
            <a:pPr marL="12700" marR="373380">
              <a:lnSpc>
                <a:spcPct val="100000"/>
              </a:lnSpc>
              <a:buChar char="•"/>
              <a:tabLst>
                <a:tab pos="89535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Setting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up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measuring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tools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for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purchasing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performance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and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continued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improvement.</a:t>
            </a:r>
            <a:endParaRPr sz="1000" dirty="0">
              <a:latin typeface="Raleway-ExtraLight"/>
              <a:cs typeface="Raleway-ExtraLight"/>
            </a:endParaRPr>
          </a:p>
          <a:p>
            <a:pPr marL="12700" marR="5080">
              <a:lnSpc>
                <a:spcPct val="100000"/>
              </a:lnSpc>
              <a:buChar char="•"/>
              <a:tabLst>
                <a:tab pos="89535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Established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PowerPoint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presentation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support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for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senior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management.</a:t>
            </a:r>
            <a:endParaRPr sz="1000" dirty="0">
              <a:latin typeface="Raleway-ExtraLight"/>
              <a:cs typeface="Raleway-ExtraLight"/>
            </a:endParaRPr>
          </a:p>
          <a:p>
            <a:pPr marL="12700" marR="17780">
              <a:lnSpc>
                <a:spcPct val="100000"/>
              </a:lnSpc>
              <a:buChar char="•"/>
              <a:tabLst>
                <a:tab pos="89535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Supported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the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project buyer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with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developing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proposal</a:t>
            </a:r>
            <a:r>
              <a:rPr sz="1000" spc="-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requests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(evaluation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grid,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specifications).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b="1" spc="-5" dirty="0">
                <a:solidFill>
                  <a:srgbClr val="231F20"/>
                </a:solidFill>
                <a:latin typeface="Raleway"/>
                <a:cs typeface="Raleway"/>
              </a:rPr>
              <a:t>Achievements:</a:t>
            </a:r>
            <a:endParaRPr sz="1000" dirty="0">
              <a:latin typeface="Raleway"/>
              <a:cs typeface="Raleway"/>
            </a:endParaRPr>
          </a:p>
          <a:p>
            <a:pPr marL="12700" marR="381635">
              <a:lnSpc>
                <a:spcPct val="100000"/>
              </a:lnSpc>
              <a:buChar char="•"/>
              <a:tabLst>
                <a:tab pos="89535" algn="l"/>
              </a:tabLst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Established new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purchasing performance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measuring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tools.</a:t>
            </a:r>
            <a:endParaRPr sz="1000" dirty="0">
              <a:latin typeface="Raleway-ExtraLight"/>
              <a:cs typeface="Raleway-ExtraLigh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788217" y="6468844"/>
            <a:ext cx="22371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Specialized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in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international</a:t>
            </a:r>
            <a:r>
              <a:rPr sz="1000" spc="-3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purchasing, </a:t>
            </a:r>
            <a:r>
              <a:rPr sz="1000" spc="-24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n</a:t>
            </a: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o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w</a:t>
            </a:r>
            <a:r>
              <a:rPr sz="1000" spc="-5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wishing 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t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o join a la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r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ge g</a:t>
            </a:r>
            <a:r>
              <a:rPr sz="1000" spc="-30" dirty="0">
                <a:solidFill>
                  <a:srgbClr val="231F20"/>
                </a:solidFill>
                <a:latin typeface="Raleway-ExtraLight"/>
                <a:cs typeface="Raleway-ExtraLight"/>
              </a:rPr>
              <a:t>r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oup as a  </a:t>
            </a:r>
            <a:r>
              <a:rPr sz="1000" spc="-15" dirty="0">
                <a:solidFill>
                  <a:srgbClr val="231F20"/>
                </a:solidFill>
                <a:latin typeface="Raleway-ExtraLight"/>
                <a:cs typeface="Raleway-ExtraLight"/>
              </a:rPr>
              <a:t>buyer,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bringing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diligence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and a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strong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sense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of initiative.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Motivated,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dynamic 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and able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to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easily adapt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and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work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in </a:t>
            </a:r>
            <a:r>
              <a:rPr sz="1000" spc="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teams </a:t>
            </a: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to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 achieve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all</a:t>
            </a:r>
            <a:r>
              <a:rPr sz="1000" spc="-4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set objectives.</a:t>
            </a:r>
            <a:endParaRPr sz="1000" dirty="0">
              <a:latin typeface="Raleway-ExtraLight"/>
              <a:cs typeface="Raleway-ExtraLight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1625288" y="728671"/>
            <a:ext cx="4281481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 algn="ctr">
              <a:lnSpc>
                <a:spcPts val="3835"/>
              </a:lnSpc>
              <a:spcBef>
                <a:spcPts val="100"/>
              </a:spcBef>
            </a:pPr>
            <a:r>
              <a:rPr dirty="0">
                <a:latin typeface="Seattle Sans" pitchFamily="2" charset="0"/>
              </a:rPr>
              <a:t>DAMIEN</a:t>
            </a:r>
            <a:r>
              <a:rPr lang="fr-FR" dirty="0">
                <a:latin typeface="Seattle Sans" pitchFamily="2" charset="0"/>
              </a:rPr>
              <a:t> </a:t>
            </a:r>
            <a:r>
              <a:rPr dirty="0">
                <a:latin typeface="Seattle Sans" pitchFamily="2" charset="0"/>
              </a:rPr>
              <a:t>MOREAU</a:t>
            </a:r>
          </a:p>
          <a:p>
            <a:pPr marL="70485" algn="ctr">
              <a:lnSpc>
                <a:spcPts val="1555"/>
              </a:lnSpc>
            </a:pPr>
            <a:r>
              <a:rPr sz="1400" u="sng" dirty="0">
                <a:solidFill>
                  <a:srgbClr val="032C2B"/>
                </a:solidFill>
                <a:uFill>
                  <a:solidFill>
                    <a:srgbClr val="032C2B"/>
                  </a:solidFill>
                </a:uFill>
                <a:latin typeface="Raleway"/>
                <a:cs typeface="Raleway"/>
              </a:rPr>
              <a:t>PURCHASER</a:t>
            </a:r>
            <a:endParaRPr sz="1400" dirty="0">
              <a:latin typeface="Raleway"/>
              <a:cs typeface="Raleway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978717" y="3862060"/>
            <a:ext cx="2129155" cy="184150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200" spc="-330" dirty="0">
                <a:solidFill>
                  <a:srgbClr val="231F20"/>
                </a:solidFill>
                <a:latin typeface="Arial"/>
                <a:cs typeface="Arial"/>
              </a:rPr>
              <a:t>EDUCATION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9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2016-2019</a:t>
            </a:r>
            <a:r>
              <a:rPr sz="900" spc="1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XXX</a:t>
            </a:r>
            <a:r>
              <a:rPr sz="1000" b="1" spc="-25" dirty="0">
                <a:solidFill>
                  <a:srgbClr val="0085C6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Business</a:t>
            </a:r>
            <a:r>
              <a:rPr sz="1000" b="1" spc="-10" dirty="0">
                <a:solidFill>
                  <a:srgbClr val="0085C6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School</a:t>
            </a:r>
            <a:endParaRPr sz="1000">
              <a:latin typeface="Raleway-SemiBold"/>
              <a:cs typeface="Raleway-SemiBold"/>
            </a:endParaRPr>
          </a:p>
          <a:p>
            <a:pPr marL="615315">
              <a:lnSpc>
                <a:spcPct val="100000"/>
              </a:lnSpc>
            </a:pPr>
            <a:r>
              <a:rPr sz="1000" b="1" spc="-5" dirty="0">
                <a:solidFill>
                  <a:srgbClr val="0085C6"/>
                </a:solidFill>
                <a:latin typeface="Raleway-SemiBold"/>
                <a:cs typeface="Raleway-SemiBold"/>
              </a:rPr>
              <a:t>Paris</a:t>
            </a:r>
            <a:r>
              <a:rPr sz="1000" b="1" spc="-20" dirty="0">
                <a:solidFill>
                  <a:srgbClr val="0085C6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Campus</a:t>
            </a:r>
            <a:endParaRPr sz="1000">
              <a:latin typeface="Raleway-SemiBold"/>
              <a:cs typeface="Raleway-SemiBold"/>
            </a:endParaRPr>
          </a:p>
          <a:p>
            <a:pPr marL="615315" marR="24765">
              <a:lnSpc>
                <a:spcPct val="100000"/>
              </a:lnSpc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2nd 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Year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Master’s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International</a:t>
            </a:r>
            <a:r>
              <a:rPr sz="1000" spc="-5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Purchasing</a:t>
            </a: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&amp; </a:t>
            </a:r>
            <a:r>
              <a:rPr sz="1000" spc="-2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Logistics</a:t>
            </a:r>
            <a:endParaRPr sz="1000">
              <a:latin typeface="Raleway-ExtraLight"/>
              <a:cs typeface="Raleway-ExtraLight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9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2016-2019</a:t>
            </a:r>
            <a:r>
              <a:rPr sz="900" spc="14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XXX</a:t>
            </a:r>
            <a:r>
              <a:rPr sz="1000" b="1" spc="-25" dirty="0">
                <a:solidFill>
                  <a:srgbClr val="0085C6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Business</a:t>
            </a:r>
            <a:r>
              <a:rPr sz="1000" b="1" spc="-10" dirty="0">
                <a:solidFill>
                  <a:srgbClr val="0085C6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School</a:t>
            </a:r>
            <a:endParaRPr sz="1000">
              <a:latin typeface="Raleway-SemiBold"/>
              <a:cs typeface="Raleway-SemiBold"/>
            </a:endParaRPr>
          </a:p>
          <a:p>
            <a:pPr marL="615315">
              <a:lnSpc>
                <a:spcPct val="100000"/>
              </a:lnSpc>
            </a:pPr>
            <a:r>
              <a:rPr sz="1000" b="1" spc="-5" dirty="0">
                <a:solidFill>
                  <a:srgbClr val="0085C6"/>
                </a:solidFill>
                <a:latin typeface="Raleway-SemiBold"/>
                <a:cs typeface="Raleway-SemiBold"/>
              </a:rPr>
              <a:t>Paris</a:t>
            </a:r>
            <a:r>
              <a:rPr sz="1000" b="1" spc="-20" dirty="0">
                <a:solidFill>
                  <a:srgbClr val="0085C6"/>
                </a:solidFill>
                <a:latin typeface="Raleway-SemiBold"/>
                <a:cs typeface="Raleway-SemiBold"/>
              </a:rPr>
              <a:t> </a:t>
            </a:r>
            <a:r>
              <a:rPr sz="1000" b="1" dirty="0">
                <a:solidFill>
                  <a:srgbClr val="0085C6"/>
                </a:solidFill>
                <a:latin typeface="Raleway-SemiBold"/>
                <a:cs typeface="Raleway-SemiBold"/>
              </a:rPr>
              <a:t>Campus</a:t>
            </a:r>
            <a:endParaRPr sz="1000">
              <a:latin typeface="Raleway-SemiBold"/>
              <a:cs typeface="Raleway-SemiBold"/>
            </a:endParaRPr>
          </a:p>
          <a:p>
            <a:pPr marL="615315" marR="5080">
              <a:lnSpc>
                <a:spcPct val="100000"/>
              </a:lnSpc>
            </a:pP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1st 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Year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Master’s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International</a:t>
            </a:r>
            <a:r>
              <a:rPr sz="1000" spc="-5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Management</a:t>
            </a:r>
            <a:endParaRPr sz="1000">
              <a:latin typeface="Raleway-ExtraLight"/>
              <a:cs typeface="Raleway-ExtraLigh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0" y="10442753"/>
            <a:ext cx="7560309" cy="249554"/>
          </a:xfrm>
          <a:custGeom>
            <a:avLst/>
            <a:gdLst/>
            <a:ahLst/>
            <a:cxnLst/>
            <a:rect l="l" t="t" r="r" b="b"/>
            <a:pathLst>
              <a:path w="7560309" h="249554">
                <a:moveTo>
                  <a:pt x="7559992" y="0"/>
                </a:moveTo>
                <a:lnTo>
                  <a:pt x="0" y="0"/>
                </a:lnTo>
                <a:lnTo>
                  <a:pt x="0" y="249250"/>
                </a:lnTo>
                <a:lnTo>
                  <a:pt x="7559992" y="249250"/>
                </a:lnTo>
                <a:lnTo>
                  <a:pt x="7559992" y="0"/>
                </a:lnTo>
                <a:close/>
              </a:path>
            </a:pathLst>
          </a:custGeom>
          <a:solidFill>
            <a:srgbClr val="0085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788217" y="7811647"/>
            <a:ext cx="551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95" dirty="0">
                <a:solidFill>
                  <a:srgbClr val="231F20"/>
                </a:solidFill>
                <a:latin typeface="Arial"/>
                <a:cs typeface="Arial"/>
              </a:rPr>
              <a:t>INTERESTS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88217" y="9351289"/>
            <a:ext cx="1366520" cy="54483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200" spc="-350" dirty="0">
                <a:solidFill>
                  <a:srgbClr val="231F20"/>
                </a:solidFill>
                <a:latin typeface="Arial"/>
                <a:cs typeface="Arial"/>
              </a:rPr>
              <a:t>REFERENCES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000" spc="-10" dirty="0">
                <a:solidFill>
                  <a:srgbClr val="231F20"/>
                </a:solidFill>
                <a:latin typeface="Raleway-ExtraLight"/>
                <a:cs typeface="Raleway-ExtraLight"/>
              </a:rPr>
              <a:t>Available</a:t>
            </a:r>
            <a:r>
              <a:rPr sz="1000" spc="-25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-ExtraLight"/>
                <a:cs typeface="Raleway-ExtraLight"/>
              </a:rPr>
              <a:t>upon</a:t>
            </a:r>
            <a:r>
              <a:rPr sz="1000" spc="-20" dirty="0">
                <a:solidFill>
                  <a:srgbClr val="231F20"/>
                </a:solidFill>
                <a:latin typeface="Raleway-ExtraLight"/>
                <a:cs typeface="Raleway-ExtraLight"/>
              </a:rPr>
              <a:t> </a:t>
            </a:r>
            <a:r>
              <a:rPr sz="1000" spc="-5" dirty="0">
                <a:solidFill>
                  <a:srgbClr val="231F20"/>
                </a:solidFill>
                <a:latin typeface="Raleway-ExtraLight"/>
                <a:cs typeface="Raleway-ExtraLight"/>
              </a:rPr>
              <a:t>request.</a:t>
            </a:r>
            <a:endParaRPr sz="1000">
              <a:latin typeface="Raleway-ExtraLight"/>
              <a:cs typeface="Raleway-Extra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247</Words>
  <Application>Microsoft Office PowerPoint</Application>
  <PresentationFormat>Personnalisé</PresentationFormat>
  <Paragraphs>43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Calibri</vt:lpstr>
      <vt:lpstr>Raleway</vt:lpstr>
      <vt:lpstr>Raleway-ExtraLight</vt:lpstr>
      <vt:lpstr>Raleway-SemiBold</vt:lpstr>
      <vt:lpstr>Seattle Sans</vt:lpstr>
      <vt:lpstr>Office Theme</vt:lpstr>
      <vt:lpstr>DAMIEN MOREAU PURCHASER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DAMIEN MOREAU PURCHASER</dc:title>
  <dc:creator>Estelle</dc:creator>
  <cp:lastModifiedBy>Estelle</cp:lastModifiedBy>
  <cp:revision>3</cp:revision>
  <dcterms:created xsi:type="dcterms:W3CDTF">2021-06-21T08:07:17Z</dcterms:created>
  <dcterms:modified xsi:type="dcterms:W3CDTF">2021-10-22T13:14:40Z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2021-06-21T00:00:00Z</vt:filetime>
  </property>
  <property fmtid="{D5CDD505-2E9C-101B-9397-08002B2CF9AE}" pid="3" name="Creator">
    <vt:lpwstr>Adobe InDesign 16.1 (Macintosh)</vt:lpwstr>
  </property>
  <property fmtid="{D5CDD505-2E9C-101B-9397-08002B2CF9AE}" pid="4" name="LastSaved">
    <vt:filetime>2021-06-21T00:00:00Z</vt:filetime>
  </property>
</Properties>
</file>