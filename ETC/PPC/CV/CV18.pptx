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7556500" cy="10693400"/>
  <p:notesSz cx="7556500" cy="10693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51" d="100"/>
          <a:sy n="51" d="100"/>
        </p:scale>
        <p:origin x="2544"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805402" y="7063460"/>
            <a:ext cx="2373630" cy="2502598"/>
          </a:xfrm>
          <a:prstGeom prst="rect">
            <a:avLst/>
          </a:prstGeom>
        </p:spPr>
      </p:pic>
      <p:sp>
        <p:nvSpPr>
          <p:cNvPr id="17" name="bg object 17"/>
          <p:cNvSpPr/>
          <p:nvPr/>
        </p:nvSpPr>
        <p:spPr>
          <a:xfrm>
            <a:off x="3805399" y="7063458"/>
            <a:ext cx="2373630" cy="2503170"/>
          </a:xfrm>
          <a:custGeom>
            <a:avLst/>
            <a:gdLst/>
            <a:ahLst/>
            <a:cxnLst/>
            <a:rect l="l" t="t" r="r" b="b"/>
            <a:pathLst>
              <a:path w="2373629" h="2503170">
                <a:moveTo>
                  <a:pt x="1186814" y="2502598"/>
                </a:moveTo>
                <a:lnTo>
                  <a:pt x="1233416" y="2501651"/>
                </a:lnTo>
                <a:lnTo>
                  <a:pt x="1279563" y="2498833"/>
                </a:lnTo>
                <a:lnTo>
                  <a:pt x="1325222" y="2494180"/>
                </a:lnTo>
                <a:lnTo>
                  <a:pt x="1370360" y="2487725"/>
                </a:lnTo>
                <a:lnTo>
                  <a:pt x="1414944" y="2479503"/>
                </a:lnTo>
                <a:lnTo>
                  <a:pt x="1458940" y="2469550"/>
                </a:lnTo>
                <a:lnTo>
                  <a:pt x="1502317" y="2457901"/>
                </a:lnTo>
                <a:lnTo>
                  <a:pt x="1545041" y="2444589"/>
                </a:lnTo>
                <a:lnTo>
                  <a:pt x="1587078" y="2429649"/>
                </a:lnTo>
                <a:lnTo>
                  <a:pt x="1628397" y="2413117"/>
                </a:lnTo>
                <a:lnTo>
                  <a:pt x="1668964" y="2395028"/>
                </a:lnTo>
                <a:lnTo>
                  <a:pt x="1708746" y="2375415"/>
                </a:lnTo>
                <a:lnTo>
                  <a:pt x="1747710" y="2354314"/>
                </a:lnTo>
                <a:lnTo>
                  <a:pt x="1785823" y="2331759"/>
                </a:lnTo>
                <a:lnTo>
                  <a:pt x="1823052" y="2307786"/>
                </a:lnTo>
                <a:lnTo>
                  <a:pt x="1859364" y="2282429"/>
                </a:lnTo>
                <a:lnTo>
                  <a:pt x="1894727" y="2255723"/>
                </a:lnTo>
                <a:lnTo>
                  <a:pt x="1929107" y="2227702"/>
                </a:lnTo>
                <a:lnTo>
                  <a:pt x="1962471" y="2198402"/>
                </a:lnTo>
                <a:lnTo>
                  <a:pt x="1994786" y="2167857"/>
                </a:lnTo>
                <a:lnTo>
                  <a:pt x="2026019" y="2136101"/>
                </a:lnTo>
                <a:lnTo>
                  <a:pt x="2056138" y="2103171"/>
                </a:lnTo>
                <a:lnTo>
                  <a:pt x="2085109" y="2069100"/>
                </a:lnTo>
                <a:lnTo>
                  <a:pt x="2112900" y="2033923"/>
                </a:lnTo>
                <a:lnTo>
                  <a:pt x="2139476" y="1997675"/>
                </a:lnTo>
                <a:lnTo>
                  <a:pt x="2164806" y="1960391"/>
                </a:lnTo>
                <a:lnTo>
                  <a:pt x="2188857" y="1922105"/>
                </a:lnTo>
                <a:lnTo>
                  <a:pt x="2211594" y="1882853"/>
                </a:lnTo>
                <a:lnTo>
                  <a:pt x="2232987" y="1842669"/>
                </a:lnTo>
                <a:lnTo>
                  <a:pt x="2253000" y="1801588"/>
                </a:lnTo>
                <a:lnTo>
                  <a:pt x="2271602" y="1759644"/>
                </a:lnTo>
                <a:lnTo>
                  <a:pt x="2288760" y="1716873"/>
                </a:lnTo>
                <a:lnTo>
                  <a:pt x="2304440" y="1673309"/>
                </a:lnTo>
                <a:lnTo>
                  <a:pt x="2318609" y="1628987"/>
                </a:lnTo>
                <a:lnTo>
                  <a:pt x="2331235" y="1583941"/>
                </a:lnTo>
                <a:lnTo>
                  <a:pt x="2342285" y="1538207"/>
                </a:lnTo>
                <a:lnTo>
                  <a:pt x="2351725" y="1491820"/>
                </a:lnTo>
                <a:lnTo>
                  <a:pt x="2359523" y="1444813"/>
                </a:lnTo>
                <a:lnTo>
                  <a:pt x="2365645" y="1397222"/>
                </a:lnTo>
                <a:lnTo>
                  <a:pt x="2370059" y="1349082"/>
                </a:lnTo>
                <a:lnTo>
                  <a:pt x="2372731" y="1300427"/>
                </a:lnTo>
                <a:lnTo>
                  <a:pt x="2373629" y="1251292"/>
                </a:lnTo>
                <a:lnTo>
                  <a:pt x="2372731" y="1202159"/>
                </a:lnTo>
                <a:lnTo>
                  <a:pt x="2370059" y="1153505"/>
                </a:lnTo>
                <a:lnTo>
                  <a:pt x="2365645" y="1105365"/>
                </a:lnTo>
                <a:lnTo>
                  <a:pt x="2359523" y="1057775"/>
                </a:lnTo>
                <a:lnTo>
                  <a:pt x="2351725" y="1010769"/>
                </a:lnTo>
                <a:lnTo>
                  <a:pt x="2342285" y="964382"/>
                </a:lnTo>
                <a:lnTo>
                  <a:pt x="2331235" y="918649"/>
                </a:lnTo>
                <a:lnTo>
                  <a:pt x="2318609" y="873604"/>
                </a:lnTo>
                <a:lnTo>
                  <a:pt x="2304440" y="829283"/>
                </a:lnTo>
                <a:lnTo>
                  <a:pt x="2288760" y="785719"/>
                </a:lnTo>
                <a:lnTo>
                  <a:pt x="2271602" y="742948"/>
                </a:lnTo>
                <a:lnTo>
                  <a:pt x="2253000" y="701005"/>
                </a:lnTo>
                <a:lnTo>
                  <a:pt x="2232987" y="659924"/>
                </a:lnTo>
                <a:lnTo>
                  <a:pt x="2211594" y="619741"/>
                </a:lnTo>
                <a:lnTo>
                  <a:pt x="2188857" y="580489"/>
                </a:lnTo>
                <a:lnTo>
                  <a:pt x="2164806" y="542204"/>
                </a:lnTo>
                <a:lnTo>
                  <a:pt x="2139476" y="504920"/>
                </a:lnTo>
                <a:lnTo>
                  <a:pt x="2112900" y="468672"/>
                </a:lnTo>
                <a:lnTo>
                  <a:pt x="2085109" y="433496"/>
                </a:lnTo>
                <a:lnTo>
                  <a:pt x="2056138" y="399425"/>
                </a:lnTo>
                <a:lnTo>
                  <a:pt x="2026019" y="366495"/>
                </a:lnTo>
                <a:lnTo>
                  <a:pt x="1994786" y="334739"/>
                </a:lnTo>
                <a:lnTo>
                  <a:pt x="1962471" y="304194"/>
                </a:lnTo>
                <a:lnTo>
                  <a:pt x="1929107" y="274894"/>
                </a:lnTo>
                <a:lnTo>
                  <a:pt x="1894727" y="246874"/>
                </a:lnTo>
                <a:lnTo>
                  <a:pt x="1859364" y="220168"/>
                </a:lnTo>
                <a:lnTo>
                  <a:pt x="1823052" y="194811"/>
                </a:lnTo>
                <a:lnTo>
                  <a:pt x="1785823" y="170838"/>
                </a:lnTo>
                <a:lnTo>
                  <a:pt x="1747710" y="148283"/>
                </a:lnTo>
                <a:lnTo>
                  <a:pt x="1708746" y="127182"/>
                </a:lnTo>
                <a:lnTo>
                  <a:pt x="1668964" y="107570"/>
                </a:lnTo>
                <a:lnTo>
                  <a:pt x="1628397" y="89480"/>
                </a:lnTo>
                <a:lnTo>
                  <a:pt x="1587078" y="72948"/>
                </a:lnTo>
                <a:lnTo>
                  <a:pt x="1545041" y="58009"/>
                </a:lnTo>
                <a:lnTo>
                  <a:pt x="1502317" y="44697"/>
                </a:lnTo>
                <a:lnTo>
                  <a:pt x="1458940" y="33047"/>
                </a:lnTo>
                <a:lnTo>
                  <a:pt x="1414944" y="23094"/>
                </a:lnTo>
                <a:lnTo>
                  <a:pt x="1370360" y="14873"/>
                </a:lnTo>
                <a:lnTo>
                  <a:pt x="1325222" y="8418"/>
                </a:lnTo>
                <a:lnTo>
                  <a:pt x="1279563" y="3764"/>
                </a:lnTo>
                <a:lnTo>
                  <a:pt x="1233416" y="946"/>
                </a:lnTo>
                <a:lnTo>
                  <a:pt x="1186814" y="0"/>
                </a:lnTo>
                <a:lnTo>
                  <a:pt x="1140213" y="946"/>
                </a:lnTo>
                <a:lnTo>
                  <a:pt x="1094066" y="3764"/>
                </a:lnTo>
                <a:lnTo>
                  <a:pt x="1048407" y="8418"/>
                </a:lnTo>
                <a:lnTo>
                  <a:pt x="1003269" y="14873"/>
                </a:lnTo>
                <a:lnTo>
                  <a:pt x="958685" y="23094"/>
                </a:lnTo>
                <a:lnTo>
                  <a:pt x="914689" y="33047"/>
                </a:lnTo>
                <a:lnTo>
                  <a:pt x="871312" y="44697"/>
                </a:lnTo>
                <a:lnTo>
                  <a:pt x="828588" y="58009"/>
                </a:lnTo>
                <a:lnTo>
                  <a:pt x="786551" y="72948"/>
                </a:lnTo>
                <a:lnTo>
                  <a:pt x="745232" y="89480"/>
                </a:lnTo>
                <a:lnTo>
                  <a:pt x="704665" y="107570"/>
                </a:lnTo>
                <a:lnTo>
                  <a:pt x="664883" y="127182"/>
                </a:lnTo>
                <a:lnTo>
                  <a:pt x="625919" y="148283"/>
                </a:lnTo>
                <a:lnTo>
                  <a:pt x="587806" y="170838"/>
                </a:lnTo>
                <a:lnTo>
                  <a:pt x="550577" y="194811"/>
                </a:lnTo>
                <a:lnTo>
                  <a:pt x="514265" y="220168"/>
                </a:lnTo>
                <a:lnTo>
                  <a:pt x="478902" y="246874"/>
                </a:lnTo>
                <a:lnTo>
                  <a:pt x="444522" y="274894"/>
                </a:lnTo>
                <a:lnTo>
                  <a:pt x="411158" y="304194"/>
                </a:lnTo>
                <a:lnTo>
                  <a:pt x="378843" y="334739"/>
                </a:lnTo>
                <a:lnTo>
                  <a:pt x="347610" y="366495"/>
                </a:lnTo>
                <a:lnTo>
                  <a:pt x="317491" y="399425"/>
                </a:lnTo>
                <a:lnTo>
                  <a:pt x="288520" y="433496"/>
                </a:lnTo>
                <a:lnTo>
                  <a:pt x="260729" y="468672"/>
                </a:lnTo>
                <a:lnTo>
                  <a:pt x="234153" y="504920"/>
                </a:lnTo>
                <a:lnTo>
                  <a:pt x="208823" y="542204"/>
                </a:lnTo>
                <a:lnTo>
                  <a:pt x="184772" y="580489"/>
                </a:lnTo>
                <a:lnTo>
                  <a:pt x="162035" y="619741"/>
                </a:lnTo>
                <a:lnTo>
                  <a:pt x="140642" y="659924"/>
                </a:lnTo>
                <a:lnTo>
                  <a:pt x="120629" y="701005"/>
                </a:lnTo>
                <a:lnTo>
                  <a:pt x="102027" y="742948"/>
                </a:lnTo>
                <a:lnTo>
                  <a:pt x="84869" y="785719"/>
                </a:lnTo>
                <a:lnTo>
                  <a:pt x="69189" y="829283"/>
                </a:lnTo>
                <a:lnTo>
                  <a:pt x="55020" y="873604"/>
                </a:lnTo>
                <a:lnTo>
                  <a:pt x="42394" y="918649"/>
                </a:lnTo>
                <a:lnTo>
                  <a:pt x="31344" y="964382"/>
                </a:lnTo>
                <a:lnTo>
                  <a:pt x="21904" y="1010769"/>
                </a:lnTo>
                <a:lnTo>
                  <a:pt x="14106" y="1057775"/>
                </a:lnTo>
                <a:lnTo>
                  <a:pt x="7984" y="1105365"/>
                </a:lnTo>
                <a:lnTo>
                  <a:pt x="3570" y="1153505"/>
                </a:lnTo>
                <a:lnTo>
                  <a:pt x="898" y="1202159"/>
                </a:lnTo>
                <a:lnTo>
                  <a:pt x="0" y="1251292"/>
                </a:lnTo>
                <a:lnTo>
                  <a:pt x="898" y="1300427"/>
                </a:lnTo>
                <a:lnTo>
                  <a:pt x="3570" y="1349082"/>
                </a:lnTo>
                <a:lnTo>
                  <a:pt x="7984" y="1397222"/>
                </a:lnTo>
                <a:lnTo>
                  <a:pt x="14106" y="1444813"/>
                </a:lnTo>
                <a:lnTo>
                  <a:pt x="21904" y="1491820"/>
                </a:lnTo>
                <a:lnTo>
                  <a:pt x="31344" y="1538207"/>
                </a:lnTo>
                <a:lnTo>
                  <a:pt x="42394" y="1583941"/>
                </a:lnTo>
                <a:lnTo>
                  <a:pt x="55020" y="1628987"/>
                </a:lnTo>
                <a:lnTo>
                  <a:pt x="69189" y="1673309"/>
                </a:lnTo>
                <a:lnTo>
                  <a:pt x="84869" y="1716873"/>
                </a:lnTo>
                <a:lnTo>
                  <a:pt x="102027" y="1759644"/>
                </a:lnTo>
                <a:lnTo>
                  <a:pt x="120629" y="1801588"/>
                </a:lnTo>
                <a:lnTo>
                  <a:pt x="140642" y="1842669"/>
                </a:lnTo>
                <a:lnTo>
                  <a:pt x="162035" y="1882853"/>
                </a:lnTo>
                <a:lnTo>
                  <a:pt x="184772" y="1922105"/>
                </a:lnTo>
                <a:lnTo>
                  <a:pt x="208823" y="1960391"/>
                </a:lnTo>
                <a:lnTo>
                  <a:pt x="234153" y="1997675"/>
                </a:lnTo>
                <a:lnTo>
                  <a:pt x="260729" y="2033923"/>
                </a:lnTo>
                <a:lnTo>
                  <a:pt x="288520" y="2069100"/>
                </a:lnTo>
                <a:lnTo>
                  <a:pt x="317491" y="2103171"/>
                </a:lnTo>
                <a:lnTo>
                  <a:pt x="347610" y="2136101"/>
                </a:lnTo>
                <a:lnTo>
                  <a:pt x="378843" y="2167857"/>
                </a:lnTo>
                <a:lnTo>
                  <a:pt x="411158" y="2198402"/>
                </a:lnTo>
                <a:lnTo>
                  <a:pt x="444522" y="2227702"/>
                </a:lnTo>
                <a:lnTo>
                  <a:pt x="478902" y="2255723"/>
                </a:lnTo>
                <a:lnTo>
                  <a:pt x="514265" y="2282429"/>
                </a:lnTo>
                <a:lnTo>
                  <a:pt x="550577" y="2307786"/>
                </a:lnTo>
                <a:lnTo>
                  <a:pt x="587806" y="2331759"/>
                </a:lnTo>
                <a:lnTo>
                  <a:pt x="625919" y="2354314"/>
                </a:lnTo>
                <a:lnTo>
                  <a:pt x="664883" y="2375415"/>
                </a:lnTo>
                <a:lnTo>
                  <a:pt x="704665" y="2395028"/>
                </a:lnTo>
                <a:lnTo>
                  <a:pt x="745232" y="2413117"/>
                </a:lnTo>
                <a:lnTo>
                  <a:pt x="786551" y="2429649"/>
                </a:lnTo>
                <a:lnTo>
                  <a:pt x="828588" y="2444589"/>
                </a:lnTo>
                <a:lnTo>
                  <a:pt x="871312" y="2457901"/>
                </a:lnTo>
                <a:lnTo>
                  <a:pt x="914689" y="2469550"/>
                </a:lnTo>
                <a:lnTo>
                  <a:pt x="958685" y="2479503"/>
                </a:lnTo>
                <a:lnTo>
                  <a:pt x="1003269" y="2487725"/>
                </a:lnTo>
                <a:lnTo>
                  <a:pt x="1048407" y="2494180"/>
                </a:lnTo>
                <a:lnTo>
                  <a:pt x="1094066" y="2498833"/>
                </a:lnTo>
                <a:lnTo>
                  <a:pt x="1140213" y="2501651"/>
                </a:lnTo>
                <a:lnTo>
                  <a:pt x="1186814" y="2502598"/>
                </a:lnTo>
                <a:close/>
              </a:path>
            </a:pathLst>
          </a:custGeom>
          <a:ln w="76200">
            <a:solidFill>
              <a:srgbClr val="9E272D"/>
            </a:solidFill>
          </a:ln>
        </p:spPr>
        <p:txBody>
          <a:bodyPr wrap="square" lIns="0" tIns="0" rIns="0" bIns="0" rtlCol="0"/>
          <a:lstStyle/>
          <a:p>
            <a:endParaRPr/>
          </a:p>
        </p:txBody>
      </p:sp>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10/22/2021</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elodiemariville@gmail.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5302" y="9315256"/>
            <a:ext cx="2006600" cy="937894"/>
          </a:xfrm>
          <a:prstGeom prst="rect">
            <a:avLst/>
          </a:prstGeom>
        </p:spPr>
        <p:txBody>
          <a:bodyPr vert="horz" wrap="square" lIns="0" tIns="12700" rIns="0" bIns="0" rtlCol="0">
            <a:spAutoFit/>
          </a:bodyPr>
          <a:lstStyle/>
          <a:p>
            <a:pPr marL="675640">
              <a:lnSpc>
                <a:spcPts val="3300"/>
              </a:lnSpc>
              <a:spcBef>
                <a:spcPts val="100"/>
              </a:spcBef>
            </a:pPr>
            <a:r>
              <a:rPr sz="3000" dirty="0">
                <a:solidFill>
                  <a:srgbClr val="231F20"/>
                </a:solidFill>
                <a:latin typeface="Raleway-ExtraLight"/>
                <a:cs typeface="Raleway-ExtraLight"/>
              </a:rPr>
              <a:t>E</a:t>
            </a:r>
            <a:r>
              <a:rPr sz="3000" spc="-135" dirty="0">
                <a:solidFill>
                  <a:srgbClr val="231F20"/>
                </a:solidFill>
                <a:latin typeface="Raleway-ExtraLight"/>
                <a:cs typeface="Raleway-ExtraLight"/>
              </a:rPr>
              <a:t>L</a:t>
            </a:r>
            <a:r>
              <a:rPr sz="3000" dirty="0">
                <a:solidFill>
                  <a:srgbClr val="231F20"/>
                </a:solidFill>
                <a:latin typeface="Raleway-ExtraLight"/>
                <a:cs typeface="Raleway-ExtraLight"/>
              </a:rPr>
              <a:t>ODIE</a:t>
            </a:r>
            <a:endParaRPr sz="3000">
              <a:latin typeface="Raleway-ExtraLight"/>
              <a:cs typeface="Raleway-ExtraLight"/>
            </a:endParaRPr>
          </a:p>
          <a:p>
            <a:pPr marL="12700">
              <a:lnSpc>
                <a:spcPts val="3229"/>
              </a:lnSpc>
            </a:pPr>
            <a:r>
              <a:rPr sz="3000" b="1" dirty="0">
                <a:solidFill>
                  <a:srgbClr val="DC272D"/>
                </a:solidFill>
                <a:latin typeface="Raleway-SemiBold"/>
                <a:cs typeface="Raleway-SemiBold"/>
              </a:rPr>
              <a:t>MARIVILLE</a:t>
            </a:r>
            <a:endParaRPr sz="3000">
              <a:latin typeface="Raleway-SemiBold"/>
              <a:cs typeface="Raleway-SemiBold"/>
            </a:endParaRPr>
          </a:p>
          <a:p>
            <a:pPr marR="17780" algn="r">
              <a:lnSpc>
                <a:spcPts val="650"/>
              </a:lnSpc>
            </a:pPr>
            <a:r>
              <a:rPr sz="600" spc="-10" dirty="0">
                <a:solidFill>
                  <a:srgbClr val="231F20"/>
                </a:solidFill>
                <a:latin typeface="Raleway"/>
                <a:cs typeface="Raleway"/>
              </a:rPr>
              <a:t>CAVISTE</a:t>
            </a:r>
            <a:endParaRPr sz="600">
              <a:latin typeface="Raleway"/>
              <a:cs typeface="Raleway"/>
            </a:endParaRPr>
          </a:p>
        </p:txBody>
      </p:sp>
      <p:sp>
        <p:nvSpPr>
          <p:cNvPr id="3" name="object 3"/>
          <p:cNvSpPr/>
          <p:nvPr/>
        </p:nvSpPr>
        <p:spPr>
          <a:xfrm>
            <a:off x="3213100" y="457202"/>
            <a:ext cx="0" cy="9777730"/>
          </a:xfrm>
          <a:custGeom>
            <a:avLst/>
            <a:gdLst/>
            <a:ahLst/>
            <a:cxnLst/>
            <a:rect l="l" t="t" r="r" b="b"/>
            <a:pathLst>
              <a:path h="9777730">
                <a:moveTo>
                  <a:pt x="0" y="0"/>
                </a:moveTo>
                <a:lnTo>
                  <a:pt x="0" y="9777603"/>
                </a:lnTo>
              </a:path>
            </a:pathLst>
          </a:custGeom>
          <a:ln w="12700">
            <a:solidFill>
              <a:srgbClr val="DC272D"/>
            </a:solidFill>
          </a:ln>
        </p:spPr>
        <p:txBody>
          <a:bodyPr wrap="square" lIns="0" tIns="0" rIns="0" bIns="0" rtlCol="0"/>
          <a:lstStyle/>
          <a:p>
            <a:endParaRPr/>
          </a:p>
        </p:txBody>
      </p:sp>
      <p:sp>
        <p:nvSpPr>
          <p:cNvPr id="4" name="object 4"/>
          <p:cNvSpPr txBox="1"/>
          <p:nvPr/>
        </p:nvSpPr>
        <p:spPr>
          <a:xfrm>
            <a:off x="3588794" y="493658"/>
            <a:ext cx="2232660" cy="2367915"/>
          </a:xfrm>
          <a:prstGeom prst="rect">
            <a:avLst/>
          </a:prstGeom>
        </p:spPr>
        <p:txBody>
          <a:bodyPr vert="horz" wrap="square" lIns="0" tIns="105410" rIns="0" bIns="0" rtlCol="0">
            <a:spAutoFit/>
          </a:bodyPr>
          <a:lstStyle/>
          <a:p>
            <a:pPr marL="22860">
              <a:lnSpc>
                <a:spcPct val="100000"/>
              </a:lnSpc>
              <a:spcBef>
                <a:spcPts val="830"/>
              </a:spcBef>
            </a:pPr>
            <a:r>
              <a:rPr sz="1400" dirty="0">
                <a:solidFill>
                  <a:srgbClr val="231F20"/>
                </a:solidFill>
                <a:latin typeface="Arial"/>
                <a:cs typeface="Arial"/>
              </a:rPr>
              <a:t>FORMATIONS</a:t>
            </a:r>
            <a:endParaRPr sz="1400">
              <a:latin typeface="Arial"/>
              <a:cs typeface="Arial"/>
            </a:endParaRPr>
          </a:p>
          <a:p>
            <a:pPr marL="24130">
              <a:lnSpc>
                <a:spcPct val="100000"/>
              </a:lnSpc>
              <a:spcBef>
                <a:spcPts val="525"/>
              </a:spcBef>
            </a:pPr>
            <a:r>
              <a:rPr sz="1000" b="1" dirty="0">
                <a:solidFill>
                  <a:srgbClr val="DC272D"/>
                </a:solidFill>
                <a:latin typeface="Raleway-SemiBold"/>
                <a:cs typeface="Raleway-SemiBold"/>
              </a:rPr>
              <a:t>XXXXX</a:t>
            </a:r>
            <a:endParaRPr sz="1000">
              <a:latin typeface="Raleway-SemiBold"/>
              <a:cs typeface="Raleway-SemiBold"/>
            </a:endParaRPr>
          </a:p>
          <a:p>
            <a:pPr marL="24130" marR="158750">
              <a:lnSpc>
                <a:spcPct val="100000"/>
              </a:lnSpc>
              <a:spcBef>
                <a:spcPts val="100"/>
              </a:spcBef>
            </a:pPr>
            <a:r>
              <a:rPr sz="1000" dirty="0">
                <a:solidFill>
                  <a:srgbClr val="231F20"/>
                </a:solidFill>
                <a:latin typeface="Raleway-ExtraLight"/>
                <a:cs typeface="Raleway-ExtraLight"/>
              </a:rPr>
              <a:t>WSET, Vin et spiritueux, 2016 - 2016  Grade: Obtenu 74/100</a:t>
            </a:r>
            <a:endParaRPr sz="1000">
              <a:latin typeface="Raleway-ExtraLight"/>
              <a:cs typeface="Raleway-ExtraLight"/>
            </a:endParaRPr>
          </a:p>
          <a:p>
            <a:pPr marL="12700">
              <a:lnSpc>
                <a:spcPts val="1100"/>
              </a:lnSpc>
            </a:pPr>
            <a:r>
              <a:rPr sz="1000" b="1" dirty="0">
                <a:solidFill>
                  <a:srgbClr val="808285"/>
                </a:solidFill>
                <a:latin typeface="Raleway-SemiBold"/>
                <a:cs typeface="Raleway-SemiBold"/>
              </a:rPr>
              <a:t>2017</a:t>
            </a:r>
            <a:endParaRPr sz="1000">
              <a:latin typeface="Raleway-SemiBold"/>
              <a:cs typeface="Raleway-SemiBold"/>
            </a:endParaRPr>
          </a:p>
          <a:p>
            <a:pPr marL="12700" marR="753110">
              <a:lnSpc>
                <a:spcPct val="97900"/>
              </a:lnSpc>
              <a:spcBef>
                <a:spcPts val="720"/>
              </a:spcBef>
            </a:pPr>
            <a:r>
              <a:rPr sz="1000" b="1" dirty="0">
                <a:solidFill>
                  <a:srgbClr val="DC272D"/>
                </a:solidFill>
                <a:latin typeface="Raleway-SemiBold"/>
                <a:cs typeface="Raleway-SemiBold"/>
              </a:rPr>
              <a:t>XXXX Business School  </a:t>
            </a:r>
            <a:r>
              <a:rPr sz="1000" dirty="0">
                <a:solidFill>
                  <a:srgbClr val="231F20"/>
                </a:solidFill>
                <a:latin typeface="Raleway-ExtraLight"/>
                <a:cs typeface="Raleway-ExtraLight"/>
              </a:rPr>
              <a:t>Master of Science (Bac+5)  Campus de Paris</a:t>
            </a:r>
            <a:endParaRPr sz="1000">
              <a:latin typeface="Raleway-ExtraLight"/>
              <a:cs typeface="Raleway-ExtraLight"/>
            </a:endParaRPr>
          </a:p>
          <a:p>
            <a:pPr marL="13335">
              <a:lnSpc>
                <a:spcPts val="1150"/>
              </a:lnSpc>
            </a:pPr>
            <a:r>
              <a:rPr sz="1000" b="1" dirty="0">
                <a:solidFill>
                  <a:srgbClr val="808285"/>
                </a:solidFill>
                <a:latin typeface="Raleway-SemiBold"/>
                <a:cs typeface="Raleway-SemiBold"/>
              </a:rPr>
              <a:t>2016-2019</a:t>
            </a:r>
            <a:endParaRPr sz="1000">
              <a:latin typeface="Raleway-SemiBold"/>
              <a:cs typeface="Raleway-SemiBold"/>
            </a:endParaRPr>
          </a:p>
          <a:p>
            <a:pPr marL="13335">
              <a:lnSpc>
                <a:spcPct val="100000"/>
              </a:lnSpc>
              <a:spcBef>
                <a:spcPts val="520"/>
              </a:spcBef>
            </a:pPr>
            <a:r>
              <a:rPr sz="1000" b="1" dirty="0">
                <a:solidFill>
                  <a:srgbClr val="DC272D"/>
                </a:solidFill>
                <a:latin typeface="Raleway-SemiBold"/>
                <a:cs typeface="Raleway-SemiBold"/>
              </a:rPr>
              <a:t>XXX Business School</a:t>
            </a:r>
            <a:endParaRPr sz="1000">
              <a:latin typeface="Raleway-SemiBold"/>
              <a:cs typeface="Raleway-SemiBold"/>
            </a:endParaRPr>
          </a:p>
          <a:p>
            <a:pPr marL="13970" marR="5080" indent="-1270">
              <a:lnSpc>
                <a:spcPts val="1150"/>
              </a:lnSpc>
              <a:spcBef>
                <a:spcPts val="180"/>
              </a:spcBef>
            </a:pPr>
            <a:r>
              <a:rPr sz="1000" dirty="0">
                <a:solidFill>
                  <a:srgbClr val="231F20"/>
                </a:solidFill>
                <a:latin typeface="Raleway-ExtraLight"/>
                <a:cs typeface="Raleway-ExtraLight"/>
              </a:rPr>
              <a:t>MBA Première année Vins &amp; Spiritueux  Campus de Paris</a:t>
            </a:r>
            <a:endParaRPr sz="1000">
              <a:latin typeface="Raleway-ExtraLight"/>
              <a:cs typeface="Raleway-ExtraLight"/>
            </a:endParaRPr>
          </a:p>
          <a:p>
            <a:pPr marL="26670">
              <a:lnSpc>
                <a:spcPts val="1120"/>
              </a:lnSpc>
            </a:pPr>
            <a:r>
              <a:rPr sz="1000" b="1" dirty="0">
                <a:solidFill>
                  <a:srgbClr val="808285"/>
                </a:solidFill>
                <a:latin typeface="Raleway-SemiBold"/>
                <a:cs typeface="Raleway-SemiBold"/>
              </a:rPr>
              <a:t>2016-2019</a:t>
            </a:r>
            <a:endParaRPr sz="1000">
              <a:latin typeface="Raleway-SemiBold"/>
              <a:cs typeface="Raleway-SemiBold"/>
            </a:endParaRPr>
          </a:p>
        </p:txBody>
      </p:sp>
      <p:sp>
        <p:nvSpPr>
          <p:cNvPr id="5" name="object 5"/>
          <p:cNvSpPr txBox="1"/>
          <p:nvPr/>
        </p:nvSpPr>
        <p:spPr>
          <a:xfrm>
            <a:off x="446023" y="463178"/>
            <a:ext cx="2324100" cy="1190625"/>
          </a:xfrm>
          <a:prstGeom prst="rect">
            <a:avLst/>
          </a:prstGeom>
        </p:spPr>
        <p:txBody>
          <a:bodyPr vert="horz" wrap="square" lIns="0" tIns="123189" rIns="0" bIns="0" rtlCol="0">
            <a:spAutoFit/>
          </a:bodyPr>
          <a:lstStyle/>
          <a:p>
            <a:pPr marL="12700">
              <a:lnSpc>
                <a:spcPct val="100000"/>
              </a:lnSpc>
              <a:spcBef>
                <a:spcPts val="969"/>
              </a:spcBef>
            </a:pPr>
            <a:r>
              <a:rPr sz="1400" dirty="0">
                <a:solidFill>
                  <a:srgbClr val="231F20"/>
                </a:solidFill>
                <a:latin typeface="Arial"/>
                <a:cs typeface="Arial"/>
              </a:rPr>
              <a:t>PROFIL &amp; OBJECTIFS</a:t>
            </a:r>
            <a:endParaRPr sz="1400">
              <a:latin typeface="Arial"/>
              <a:cs typeface="Arial"/>
            </a:endParaRPr>
          </a:p>
          <a:p>
            <a:pPr marL="12700" marR="331470">
              <a:lnSpc>
                <a:spcPct val="100000"/>
              </a:lnSpc>
              <a:spcBef>
                <a:spcPts val="625"/>
              </a:spcBef>
            </a:pPr>
            <a:r>
              <a:rPr sz="1000" dirty="0">
                <a:solidFill>
                  <a:srgbClr val="231F20"/>
                </a:solidFill>
                <a:latin typeface="Raleway-ExtraLight"/>
                <a:cs typeface="Raleway-ExtraLight"/>
              </a:rPr>
              <a:t>Je suis à la recherche d’un stage  en marketing sportif dans lequel je</a:t>
            </a:r>
            <a:endParaRPr sz="1000">
              <a:latin typeface="Raleway-ExtraLight"/>
              <a:cs typeface="Raleway-ExtraLight"/>
            </a:endParaRPr>
          </a:p>
          <a:p>
            <a:pPr marL="12700" marR="5080">
              <a:lnSpc>
                <a:spcPct val="100000"/>
              </a:lnSpc>
            </a:pPr>
            <a:r>
              <a:rPr sz="1000" dirty="0">
                <a:solidFill>
                  <a:srgbClr val="231F20"/>
                </a:solidFill>
                <a:latin typeface="Raleway-ExtraLight"/>
                <a:cs typeface="Raleway-ExtraLight"/>
              </a:rPr>
              <a:t>pourrai m’investir et développer mes  compétences. Disponible à partir de Mai  2017.</a:t>
            </a:r>
            <a:endParaRPr sz="1000">
              <a:latin typeface="Raleway-ExtraLight"/>
              <a:cs typeface="Raleway-ExtraLight"/>
            </a:endParaRPr>
          </a:p>
        </p:txBody>
      </p:sp>
      <p:sp>
        <p:nvSpPr>
          <p:cNvPr id="6" name="object 6"/>
          <p:cNvSpPr txBox="1"/>
          <p:nvPr/>
        </p:nvSpPr>
        <p:spPr>
          <a:xfrm>
            <a:off x="3600702" y="3025027"/>
            <a:ext cx="3272915" cy="1304203"/>
          </a:xfrm>
          <a:prstGeom prst="rect">
            <a:avLst/>
          </a:prstGeom>
        </p:spPr>
        <p:txBody>
          <a:bodyPr vert="horz" wrap="square" lIns="0" tIns="100330" rIns="0" bIns="0" rtlCol="0">
            <a:spAutoFit/>
          </a:bodyPr>
          <a:lstStyle/>
          <a:p>
            <a:pPr marL="12700">
              <a:lnSpc>
                <a:spcPct val="100000"/>
              </a:lnSpc>
              <a:spcBef>
                <a:spcPts val="790"/>
              </a:spcBef>
            </a:pPr>
            <a:r>
              <a:rPr sz="1400" dirty="0">
                <a:solidFill>
                  <a:srgbClr val="231F20"/>
                </a:solidFill>
                <a:latin typeface="Arial"/>
                <a:cs typeface="Arial"/>
              </a:rPr>
              <a:t>EXPÉRIENCES PROFESSIONNELLES</a:t>
            </a:r>
            <a:endParaRPr sz="1400" dirty="0">
              <a:latin typeface="Arial"/>
              <a:cs typeface="Arial"/>
            </a:endParaRPr>
          </a:p>
          <a:p>
            <a:pPr marL="14604">
              <a:lnSpc>
                <a:spcPct val="100000"/>
              </a:lnSpc>
              <a:spcBef>
                <a:spcPts val="495"/>
              </a:spcBef>
            </a:pPr>
            <a:r>
              <a:rPr sz="1000" b="1" dirty="0">
                <a:solidFill>
                  <a:srgbClr val="DC272D"/>
                </a:solidFill>
                <a:latin typeface="Raleway-SemiBold"/>
                <a:cs typeface="Raleway-SemiBold"/>
              </a:rPr>
              <a:t>CAVISTE @ LA REVUE DU VIN DE FRANCE</a:t>
            </a:r>
            <a:endParaRPr sz="1000" dirty="0">
              <a:latin typeface="Raleway-SemiBold"/>
              <a:cs typeface="Raleway-SemiBold"/>
            </a:endParaRPr>
          </a:p>
          <a:p>
            <a:pPr marL="30480" marR="5080">
              <a:lnSpc>
                <a:spcPct val="100000"/>
              </a:lnSpc>
              <a:spcBef>
                <a:spcPts val="50"/>
              </a:spcBef>
            </a:pPr>
            <a:r>
              <a:rPr sz="1000" dirty="0">
                <a:solidFill>
                  <a:srgbClr val="231F20"/>
                </a:solidFill>
                <a:latin typeface="Raleway-ExtraLight"/>
                <a:cs typeface="Raleway-ExtraLight"/>
              </a:rPr>
              <a:t>Organisation de la cave, des appels à échantillons  pour le guide vert, organisation des dégustations  avec les journalistes de la revue du vin de France,  pour leurs articles et le Guide Vert de la Revue du  Vin de France</a:t>
            </a:r>
            <a:endParaRPr sz="1000" dirty="0">
              <a:latin typeface="Raleway-ExtraLight"/>
              <a:cs typeface="Raleway-ExtraLight"/>
            </a:endParaRPr>
          </a:p>
          <a:p>
            <a:pPr marL="30480">
              <a:lnSpc>
                <a:spcPts val="1145"/>
              </a:lnSpc>
            </a:pPr>
            <a:r>
              <a:rPr sz="1000" b="1" dirty="0">
                <a:solidFill>
                  <a:srgbClr val="808285"/>
                </a:solidFill>
                <a:latin typeface="Raleway-SemiBold"/>
                <a:cs typeface="Raleway-SemiBold"/>
              </a:rPr>
              <a:t>2016</a:t>
            </a:r>
            <a:endParaRPr sz="1000" dirty="0">
              <a:latin typeface="Raleway-SemiBold"/>
              <a:cs typeface="Raleway-SemiBold"/>
            </a:endParaRPr>
          </a:p>
        </p:txBody>
      </p:sp>
      <p:sp>
        <p:nvSpPr>
          <p:cNvPr id="7" name="object 7"/>
          <p:cNvSpPr txBox="1"/>
          <p:nvPr/>
        </p:nvSpPr>
        <p:spPr>
          <a:xfrm>
            <a:off x="3600702" y="5780427"/>
            <a:ext cx="2968611" cy="699038"/>
          </a:xfrm>
          <a:prstGeom prst="rect">
            <a:avLst/>
          </a:prstGeom>
        </p:spPr>
        <p:txBody>
          <a:bodyPr vert="horz" wrap="square" lIns="0" tIns="85725" rIns="0" bIns="0" rtlCol="0">
            <a:spAutoFit/>
          </a:bodyPr>
          <a:lstStyle/>
          <a:p>
            <a:pPr marL="12700">
              <a:lnSpc>
                <a:spcPct val="100000"/>
              </a:lnSpc>
              <a:spcBef>
                <a:spcPts val="675"/>
              </a:spcBef>
            </a:pPr>
            <a:r>
              <a:rPr sz="1400" dirty="0">
                <a:solidFill>
                  <a:srgbClr val="231F20"/>
                </a:solidFill>
                <a:latin typeface="Arial"/>
                <a:cs typeface="Arial"/>
              </a:rPr>
              <a:t>LANGUES</a:t>
            </a:r>
            <a:endParaRPr sz="1400" dirty="0">
              <a:latin typeface="Arial"/>
              <a:cs typeface="Arial"/>
            </a:endParaRPr>
          </a:p>
          <a:p>
            <a:pPr marL="12700" marR="5080">
              <a:lnSpc>
                <a:spcPct val="116700"/>
              </a:lnSpc>
              <a:spcBef>
                <a:spcPts val="209"/>
              </a:spcBef>
            </a:pPr>
            <a:r>
              <a:rPr sz="1000" dirty="0">
                <a:solidFill>
                  <a:srgbClr val="231F20"/>
                </a:solidFill>
                <a:latin typeface="Raleway-ExtraLight"/>
                <a:cs typeface="Raleway-ExtraLight"/>
              </a:rPr>
              <a:t>Anglais : bon niveau (TOEIC : 900/990)  </a:t>
            </a:r>
            <a:endParaRPr lang="fr-FR" sz="1000" dirty="0">
              <a:solidFill>
                <a:srgbClr val="231F20"/>
              </a:solidFill>
              <a:latin typeface="Raleway-ExtraLight"/>
              <a:cs typeface="Raleway-ExtraLight"/>
            </a:endParaRPr>
          </a:p>
          <a:p>
            <a:pPr marL="12700" marR="5080">
              <a:lnSpc>
                <a:spcPct val="116700"/>
              </a:lnSpc>
              <a:spcBef>
                <a:spcPts val="209"/>
              </a:spcBef>
            </a:pPr>
            <a:r>
              <a:rPr sz="1000" dirty="0" err="1">
                <a:solidFill>
                  <a:srgbClr val="231F20"/>
                </a:solidFill>
                <a:latin typeface="Raleway-ExtraLight"/>
                <a:cs typeface="Raleway-ExtraLight"/>
              </a:rPr>
              <a:t>Espagnol</a:t>
            </a:r>
            <a:r>
              <a:rPr sz="1000" dirty="0">
                <a:solidFill>
                  <a:srgbClr val="231F20"/>
                </a:solidFill>
                <a:latin typeface="Raleway-ExtraLight"/>
                <a:cs typeface="Raleway-ExtraLight"/>
              </a:rPr>
              <a:t> : niveau professionnel</a:t>
            </a:r>
            <a:endParaRPr sz="1000" dirty="0">
              <a:latin typeface="Raleway-ExtraLight"/>
              <a:cs typeface="Raleway-ExtraLight"/>
            </a:endParaRPr>
          </a:p>
        </p:txBody>
      </p:sp>
      <p:sp>
        <p:nvSpPr>
          <p:cNvPr id="8" name="object 8"/>
          <p:cNvSpPr txBox="1"/>
          <p:nvPr/>
        </p:nvSpPr>
        <p:spPr>
          <a:xfrm>
            <a:off x="3606406" y="4600485"/>
            <a:ext cx="2968625" cy="964565"/>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DC272D"/>
                </a:solidFill>
                <a:latin typeface="Raleway-SemiBold"/>
                <a:cs typeface="Raleway-SemiBold"/>
              </a:rPr>
              <a:t>ASSISTANTE </a:t>
            </a:r>
            <a:r>
              <a:rPr sz="1000" b="1" dirty="0">
                <a:solidFill>
                  <a:srgbClr val="DC272D"/>
                </a:solidFill>
                <a:latin typeface="Raleway-SemiBold"/>
                <a:cs typeface="Raleway-SemiBold"/>
              </a:rPr>
              <a:t>@</a:t>
            </a:r>
            <a:r>
              <a:rPr sz="1000" b="1" spc="-10" dirty="0">
                <a:solidFill>
                  <a:srgbClr val="DC272D"/>
                </a:solidFill>
                <a:latin typeface="Raleway-SemiBold"/>
                <a:cs typeface="Raleway-SemiBold"/>
              </a:rPr>
              <a:t> </a:t>
            </a:r>
            <a:r>
              <a:rPr sz="1000" b="1" spc="-20" dirty="0">
                <a:solidFill>
                  <a:srgbClr val="DC272D"/>
                </a:solidFill>
                <a:latin typeface="Raleway-SemiBold"/>
                <a:cs typeface="Raleway-SemiBold"/>
              </a:rPr>
              <a:t>CHÂTEAU</a:t>
            </a:r>
            <a:r>
              <a:rPr sz="1000" b="1" spc="-10" dirty="0">
                <a:solidFill>
                  <a:srgbClr val="DC272D"/>
                </a:solidFill>
                <a:latin typeface="Raleway-SemiBold"/>
                <a:cs typeface="Raleway-SemiBold"/>
              </a:rPr>
              <a:t> </a:t>
            </a:r>
            <a:r>
              <a:rPr sz="1000" b="1" dirty="0">
                <a:solidFill>
                  <a:srgbClr val="DC272D"/>
                </a:solidFill>
                <a:latin typeface="Raleway-SemiBold"/>
                <a:cs typeface="Raleway-SemiBold"/>
              </a:rPr>
              <a:t>INTERNET</a:t>
            </a:r>
            <a:endParaRPr sz="1000">
              <a:latin typeface="Raleway-SemiBold"/>
              <a:cs typeface="Raleway-SemiBold"/>
            </a:endParaRPr>
          </a:p>
          <a:p>
            <a:pPr marL="28575" marR="5080">
              <a:lnSpc>
                <a:spcPct val="100000"/>
              </a:lnSpc>
              <a:spcBef>
                <a:spcPts val="50"/>
              </a:spcBef>
            </a:pPr>
            <a:r>
              <a:rPr sz="1000" spc="-5" dirty="0">
                <a:solidFill>
                  <a:srgbClr val="231F20"/>
                </a:solidFill>
                <a:latin typeface="Raleway-ExtraLight"/>
                <a:cs typeface="Raleway-ExtraLight"/>
              </a:rPr>
              <a:t>Assistante</a:t>
            </a:r>
            <a:r>
              <a:rPr sz="1000" dirty="0">
                <a:solidFill>
                  <a:srgbClr val="231F20"/>
                </a:solidFill>
                <a:latin typeface="Raleway-ExtraLight"/>
                <a:cs typeface="Raleway-ExtraLight"/>
              </a:rPr>
              <a:t> </a:t>
            </a:r>
            <a:r>
              <a:rPr sz="1000" spc="-5" dirty="0">
                <a:solidFill>
                  <a:srgbClr val="231F20"/>
                </a:solidFill>
                <a:latin typeface="Raleway-ExtraLight"/>
                <a:cs typeface="Raleway-ExtraLight"/>
              </a:rPr>
              <a:t>commerciale</a:t>
            </a:r>
            <a:r>
              <a:rPr sz="1000" dirty="0">
                <a:solidFill>
                  <a:srgbClr val="231F20"/>
                </a:solidFill>
                <a:latin typeface="Raleway-ExtraLight"/>
                <a:cs typeface="Raleway-ExtraLight"/>
              </a:rPr>
              <a:t> </a:t>
            </a:r>
            <a:r>
              <a:rPr sz="1000" spc="-5" dirty="0">
                <a:solidFill>
                  <a:srgbClr val="231F20"/>
                </a:solidFill>
                <a:latin typeface="Raleway-ExtraLight"/>
                <a:cs typeface="Raleway-ExtraLight"/>
              </a:rPr>
              <a:t>chez</a:t>
            </a:r>
            <a:r>
              <a:rPr sz="1000" dirty="0">
                <a:solidFill>
                  <a:srgbClr val="231F20"/>
                </a:solidFill>
                <a:latin typeface="Raleway-ExtraLight"/>
                <a:cs typeface="Raleway-ExtraLight"/>
              </a:rPr>
              <a:t> le </a:t>
            </a:r>
            <a:r>
              <a:rPr sz="1000" spc="-5" dirty="0">
                <a:solidFill>
                  <a:srgbClr val="231F20"/>
                </a:solidFill>
                <a:latin typeface="Raleway-ExtraLight"/>
                <a:cs typeface="Raleway-ExtraLight"/>
              </a:rPr>
              <a:t>négociant</a:t>
            </a:r>
            <a:r>
              <a:rPr sz="1000" dirty="0">
                <a:solidFill>
                  <a:srgbClr val="231F20"/>
                </a:solidFill>
                <a:latin typeface="Raleway-ExtraLight"/>
                <a:cs typeface="Raleway-ExtraLight"/>
              </a:rPr>
              <a:t> </a:t>
            </a:r>
            <a:r>
              <a:rPr sz="1000" spc="-5" dirty="0">
                <a:solidFill>
                  <a:srgbClr val="231F20"/>
                </a:solidFill>
                <a:latin typeface="Raleway-ExtraLight"/>
                <a:cs typeface="Raleway-ExtraLight"/>
              </a:rPr>
              <a:t>Château </a:t>
            </a:r>
            <a:r>
              <a:rPr sz="1000" spc="-245" dirty="0">
                <a:solidFill>
                  <a:srgbClr val="231F20"/>
                </a:solidFill>
                <a:latin typeface="Raleway-ExtraLight"/>
                <a:cs typeface="Raleway-ExtraLight"/>
              </a:rPr>
              <a:t> </a:t>
            </a:r>
            <a:r>
              <a:rPr sz="1000" spc="-5" dirty="0">
                <a:solidFill>
                  <a:srgbClr val="231F20"/>
                </a:solidFill>
                <a:latin typeface="Raleway-ExtraLight"/>
                <a:cs typeface="Raleway-ExtraLight"/>
              </a:rPr>
              <a:t>Internet </a:t>
            </a:r>
            <a:r>
              <a:rPr sz="1000" dirty="0">
                <a:solidFill>
                  <a:srgbClr val="231F20"/>
                </a:solidFill>
                <a:latin typeface="Raleway-ExtraLight"/>
                <a:cs typeface="Raleway-ExtraLight"/>
              </a:rPr>
              <a:t>spécialisé dans la </a:t>
            </a:r>
            <a:r>
              <a:rPr sz="1000" spc="-10" dirty="0">
                <a:solidFill>
                  <a:srgbClr val="231F20"/>
                </a:solidFill>
                <a:latin typeface="Raleway-ExtraLight"/>
                <a:cs typeface="Raleway-ExtraLight"/>
              </a:rPr>
              <a:t>vente </a:t>
            </a:r>
            <a:r>
              <a:rPr sz="1000" dirty="0">
                <a:solidFill>
                  <a:srgbClr val="231F20"/>
                </a:solidFill>
                <a:latin typeface="Raleway-ExtraLight"/>
                <a:cs typeface="Raleway-ExtraLight"/>
              </a:rPr>
              <a:t>des vins en </a:t>
            </a:r>
            <a:r>
              <a:rPr sz="1000" spc="5" dirty="0">
                <a:solidFill>
                  <a:srgbClr val="231F20"/>
                </a:solidFill>
                <a:latin typeface="Raleway-ExtraLight"/>
                <a:cs typeface="Raleway-ExtraLight"/>
              </a:rPr>
              <a:t> </a:t>
            </a:r>
            <a:r>
              <a:rPr sz="1000" dirty="0">
                <a:solidFill>
                  <a:srgbClr val="231F20"/>
                </a:solidFill>
                <a:latin typeface="Raleway-ExtraLight"/>
                <a:cs typeface="Raleway-ExtraLight"/>
              </a:rPr>
              <a:t>primeurs, </a:t>
            </a:r>
            <a:r>
              <a:rPr sz="1000" spc="-5" dirty="0">
                <a:solidFill>
                  <a:srgbClr val="231F20"/>
                </a:solidFill>
                <a:latin typeface="Raleway-ExtraLight"/>
                <a:cs typeface="Raleway-ExtraLight"/>
              </a:rPr>
              <a:t>participation </a:t>
            </a:r>
            <a:r>
              <a:rPr sz="1000" dirty="0">
                <a:solidFill>
                  <a:srgbClr val="231F20"/>
                </a:solidFill>
                <a:latin typeface="Raleway-ExtraLight"/>
                <a:cs typeface="Raleway-ExtraLight"/>
              </a:rPr>
              <a:t>à la semaine des primeurs, </a:t>
            </a:r>
            <a:r>
              <a:rPr sz="1000" spc="5" dirty="0">
                <a:solidFill>
                  <a:srgbClr val="231F20"/>
                </a:solidFill>
                <a:latin typeface="Raleway-ExtraLight"/>
                <a:cs typeface="Raleway-ExtraLight"/>
              </a:rPr>
              <a:t> </a:t>
            </a:r>
            <a:r>
              <a:rPr sz="1000" spc="-5" dirty="0">
                <a:solidFill>
                  <a:srgbClr val="231F20"/>
                </a:solidFill>
                <a:latin typeface="Raleway-ExtraLight"/>
                <a:cs typeface="Raleway-ExtraLight"/>
              </a:rPr>
              <a:t>rédaction </a:t>
            </a:r>
            <a:r>
              <a:rPr sz="1000" dirty="0">
                <a:solidFill>
                  <a:srgbClr val="231F20"/>
                </a:solidFill>
                <a:latin typeface="Raleway-ExtraLight"/>
                <a:cs typeface="Raleway-ExtraLight"/>
              </a:rPr>
              <a:t>de la</a:t>
            </a:r>
            <a:r>
              <a:rPr sz="1000" spc="-5" dirty="0">
                <a:solidFill>
                  <a:srgbClr val="231F20"/>
                </a:solidFill>
                <a:latin typeface="Raleway-ExtraLight"/>
                <a:cs typeface="Raleway-ExtraLight"/>
              </a:rPr>
              <a:t> </a:t>
            </a:r>
            <a:r>
              <a:rPr sz="1000" spc="-10" dirty="0">
                <a:solidFill>
                  <a:srgbClr val="231F20"/>
                </a:solidFill>
                <a:latin typeface="Raleway-ExtraLight"/>
                <a:cs typeface="Raleway-ExtraLight"/>
              </a:rPr>
              <a:t>lettre</a:t>
            </a:r>
            <a:r>
              <a:rPr sz="1000" dirty="0">
                <a:solidFill>
                  <a:srgbClr val="231F20"/>
                </a:solidFill>
                <a:latin typeface="Raleway-ExtraLight"/>
                <a:cs typeface="Raleway-ExtraLight"/>
              </a:rPr>
              <a:t> des primeurs...</a:t>
            </a:r>
            <a:endParaRPr sz="1000">
              <a:latin typeface="Raleway-ExtraLight"/>
              <a:cs typeface="Raleway-ExtraLight"/>
            </a:endParaRPr>
          </a:p>
          <a:p>
            <a:pPr marL="28575">
              <a:lnSpc>
                <a:spcPct val="100000"/>
              </a:lnSpc>
              <a:spcBef>
                <a:spcPts val="140"/>
              </a:spcBef>
            </a:pPr>
            <a:r>
              <a:rPr sz="1000" b="1" spc="-5" dirty="0">
                <a:solidFill>
                  <a:srgbClr val="808285"/>
                </a:solidFill>
                <a:latin typeface="Raleway-SemiBold"/>
                <a:cs typeface="Raleway-SemiBold"/>
              </a:rPr>
              <a:t>Stage</a:t>
            </a:r>
            <a:r>
              <a:rPr sz="1000" b="1" spc="-20" dirty="0">
                <a:solidFill>
                  <a:srgbClr val="808285"/>
                </a:solidFill>
                <a:latin typeface="Raleway-SemiBold"/>
                <a:cs typeface="Raleway-SemiBold"/>
              </a:rPr>
              <a:t> </a:t>
            </a:r>
            <a:r>
              <a:rPr sz="1000" b="1" dirty="0">
                <a:solidFill>
                  <a:srgbClr val="808285"/>
                </a:solidFill>
                <a:latin typeface="Raleway-SemiBold"/>
                <a:cs typeface="Raleway-SemiBold"/>
              </a:rPr>
              <a:t>de</a:t>
            </a:r>
            <a:r>
              <a:rPr sz="1000" b="1" spc="-15" dirty="0">
                <a:solidFill>
                  <a:srgbClr val="808285"/>
                </a:solidFill>
                <a:latin typeface="Raleway-SemiBold"/>
                <a:cs typeface="Raleway-SemiBold"/>
              </a:rPr>
              <a:t> </a:t>
            </a:r>
            <a:r>
              <a:rPr sz="1000" b="1" dirty="0">
                <a:solidFill>
                  <a:srgbClr val="808285"/>
                </a:solidFill>
                <a:latin typeface="Raleway-SemiBold"/>
                <a:cs typeface="Raleway-SemiBold"/>
              </a:rPr>
              <a:t>3</a:t>
            </a:r>
            <a:r>
              <a:rPr sz="1000" b="1" spc="-20" dirty="0">
                <a:solidFill>
                  <a:srgbClr val="808285"/>
                </a:solidFill>
                <a:latin typeface="Raleway-SemiBold"/>
                <a:cs typeface="Raleway-SemiBold"/>
              </a:rPr>
              <a:t> </a:t>
            </a:r>
            <a:r>
              <a:rPr sz="1000" b="1" dirty="0">
                <a:solidFill>
                  <a:srgbClr val="808285"/>
                </a:solidFill>
                <a:latin typeface="Raleway-SemiBold"/>
                <a:cs typeface="Raleway-SemiBold"/>
              </a:rPr>
              <a:t>mois</a:t>
            </a:r>
            <a:endParaRPr sz="1000">
              <a:latin typeface="Raleway-SemiBold"/>
              <a:cs typeface="Raleway-SemiBold"/>
            </a:endParaRPr>
          </a:p>
        </p:txBody>
      </p:sp>
      <p:sp>
        <p:nvSpPr>
          <p:cNvPr id="9" name="object 9"/>
          <p:cNvSpPr txBox="1"/>
          <p:nvPr/>
        </p:nvSpPr>
        <p:spPr>
          <a:xfrm>
            <a:off x="446276" y="3290923"/>
            <a:ext cx="2665607" cy="1054735"/>
          </a:xfrm>
          <a:prstGeom prst="rect">
            <a:avLst/>
          </a:prstGeom>
        </p:spPr>
        <p:txBody>
          <a:bodyPr vert="horz" wrap="square" lIns="0" tIns="110489" rIns="0" bIns="0" rtlCol="0">
            <a:spAutoFit/>
          </a:bodyPr>
          <a:lstStyle/>
          <a:p>
            <a:pPr marL="12700">
              <a:lnSpc>
                <a:spcPct val="100000"/>
              </a:lnSpc>
              <a:spcBef>
                <a:spcPts val="869"/>
              </a:spcBef>
            </a:pPr>
            <a:r>
              <a:rPr sz="1400" dirty="0">
                <a:solidFill>
                  <a:srgbClr val="231F20"/>
                </a:solidFill>
                <a:latin typeface="Arial"/>
                <a:cs typeface="Arial"/>
              </a:rPr>
              <a:t>EXPERTISE</a:t>
            </a:r>
            <a:endParaRPr sz="1400" dirty="0">
              <a:latin typeface="Arial"/>
              <a:cs typeface="Arial"/>
            </a:endParaRPr>
          </a:p>
          <a:p>
            <a:pPr marL="248920" marR="850265">
              <a:lnSpc>
                <a:spcPct val="108300"/>
              </a:lnSpc>
              <a:spcBef>
                <a:spcPts val="450"/>
              </a:spcBef>
            </a:pPr>
            <a:r>
              <a:rPr sz="1000" dirty="0">
                <a:solidFill>
                  <a:srgbClr val="231F20"/>
                </a:solidFill>
                <a:latin typeface="Raleway-ExtraLight"/>
                <a:cs typeface="Raleway-ExtraLight"/>
              </a:rPr>
              <a:t>Dégustation du vin  Vinification</a:t>
            </a:r>
            <a:endParaRPr sz="1000" dirty="0">
              <a:latin typeface="Raleway-ExtraLight"/>
              <a:cs typeface="Raleway-ExtraLight"/>
            </a:endParaRPr>
          </a:p>
          <a:p>
            <a:pPr marL="248920" marR="5080">
              <a:lnSpc>
                <a:spcPct val="108300"/>
              </a:lnSpc>
            </a:pPr>
            <a:r>
              <a:rPr sz="1000" dirty="0">
                <a:solidFill>
                  <a:srgbClr val="231F20"/>
                </a:solidFill>
                <a:latin typeface="Raleway-ExtraLight"/>
                <a:cs typeface="Raleway-ExtraLight"/>
              </a:rPr>
              <a:t>Secteur des vins et des spiritueux  Marketing</a:t>
            </a:r>
            <a:endParaRPr sz="1000" dirty="0">
              <a:latin typeface="Raleway-ExtraLight"/>
              <a:cs typeface="Raleway-ExtraLight"/>
            </a:endParaRPr>
          </a:p>
        </p:txBody>
      </p:sp>
      <p:sp>
        <p:nvSpPr>
          <p:cNvPr id="10" name="object 10"/>
          <p:cNvSpPr txBox="1"/>
          <p:nvPr/>
        </p:nvSpPr>
        <p:spPr>
          <a:xfrm>
            <a:off x="682873" y="4485035"/>
            <a:ext cx="1043940" cy="520700"/>
          </a:xfrm>
          <a:prstGeom prst="rect">
            <a:avLst/>
          </a:prstGeom>
        </p:spPr>
        <p:txBody>
          <a:bodyPr vert="horz" wrap="square" lIns="0" tIns="12700" rIns="0" bIns="0" rtlCol="0">
            <a:spAutoFit/>
          </a:bodyPr>
          <a:lstStyle/>
          <a:p>
            <a:pPr marL="12700" marR="5080">
              <a:lnSpc>
                <a:spcPct val="108300"/>
              </a:lnSpc>
              <a:spcBef>
                <a:spcPts val="100"/>
              </a:spcBef>
            </a:pPr>
            <a:r>
              <a:rPr sz="1000" spc="-5" dirty="0">
                <a:solidFill>
                  <a:srgbClr val="231F20"/>
                </a:solidFill>
                <a:latin typeface="Raleway-ExtraLight"/>
                <a:cs typeface="Raleway-ExtraLight"/>
              </a:rPr>
              <a:t>Management </a:t>
            </a:r>
            <a:r>
              <a:rPr sz="1000" dirty="0">
                <a:solidFill>
                  <a:srgbClr val="231F20"/>
                </a:solidFill>
                <a:latin typeface="Raleway-ExtraLight"/>
                <a:cs typeface="Raleway-ExtraLight"/>
              </a:rPr>
              <a:t> </a:t>
            </a:r>
            <a:r>
              <a:rPr sz="1000" spc="-10" dirty="0">
                <a:solidFill>
                  <a:srgbClr val="231F20"/>
                </a:solidFill>
                <a:latin typeface="Raleway-ExtraLight"/>
                <a:cs typeface="Raleway-ExtraLight"/>
              </a:rPr>
              <a:t>Droit</a:t>
            </a:r>
            <a:r>
              <a:rPr sz="1000" spc="-30" dirty="0">
                <a:solidFill>
                  <a:srgbClr val="231F20"/>
                </a:solidFill>
                <a:latin typeface="Raleway-ExtraLight"/>
                <a:cs typeface="Raleway-ExtraLight"/>
              </a:rPr>
              <a:t> </a:t>
            </a:r>
            <a:r>
              <a:rPr sz="1000" dirty="0">
                <a:solidFill>
                  <a:srgbClr val="231F20"/>
                </a:solidFill>
                <a:latin typeface="Raleway-ExtraLight"/>
                <a:cs typeface="Raleway-ExtraLight"/>
              </a:rPr>
              <a:t>des</a:t>
            </a:r>
            <a:r>
              <a:rPr sz="1000" spc="-30" dirty="0">
                <a:solidFill>
                  <a:srgbClr val="231F20"/>
                </a:solidFill>
                <a:latin typeface="Raleway-ExtraLight"/>
                <a:cs typeface="Raleway-ExtraLight"/>
              </a:rPr>
              <a:t> </a:t>
            </a:r>
            <a:r>
              <a:rPr sz="1000" spc="-5" dirty="0">
                <a:solidFill>
                  <a:srgbClr val="231F20"/>
                </a:solidFill>
                <a:latin typeface="Raleway-ExtraLight"/>
                <a:cs typeface="Raleway-ExtraLight"/>
              </a:rPr>
              <a:t>sociétés </a:t>
            </a:r>
            <a:r>
              <a:rPr sz="1000" spc="-245" dirty="0">
                <a:solidFill>
                  <a:srgbClr val="231F20"/>
                </a:solidFill>
                <a:latin typeface="Raleway-ExtraLight"/>
                <a:cs typeface="Raleway-ExtraLight"/>
              </a:rPr>
              <a:t> </a:t>
            </a:r>
            <a:r>
              <a:rPr sz="1000" spc="-10" dirty="0">
                <a:solidFill>
                  <a:srgbClr val="231F20"/>
                </a:solidFill>
                <a:latin typeface="Raleway-ExtraLight"/>
                <a:cs typeface="Raleway-ExtraLight"/>
              </a:rPr>
              <a:t>Droit</a:t>
            </a:r>
            <a:r>
              <a:rPr sz="1000" spc="-30" dirty="0">
                <a:solidFill>
                  <a:srgbClr val="231F20"/>
                </a:solidFill>
                <a:latin typeface="Raleway-ExtraLight"/>
                <a:cs typeface="Raleway-ExtraLight"/>
              </a:rPr>
              <a:t> </a:t>
            </a:r>
            <a:r>
              <a:rPr sz="1000" dirty="0">
                <a:solidFill>
                  <a:srgbClr val="231F20"/>
                </a:solidFill>
                <a:latin typeface="Raleway-ExtraLight"/>
                <a:cs typeface="Raleway-ExtraLight"/>
              </a:rPr>
              <a:t>des</a:t>
            </a:r>
            <a:r>
              <a:rPr sz="1000" spc="-30" dirty="0">
                <a:solidFill>
                  <a:srgbClr val="231F20"/>
                </a:solidFill>
                <a:latin typeface="Raleway-ExtraLight"/>
                <a:cs typeface="Raleway-ExtraLight"/>
              </a:rPr>
              <a:t> </a:t>
            </a:r>
            <a:r>
              <a:rPr sz="1000" spc="-5" dirty="0">
                <a:solidFill>
                  <a:srgbClr val="231F20"/>
                </a:solidFill>
                <a:latin typeface="Raleway-ExtraLight"/>
                <a:cs typeface="Raleway-ExtraLight"/>
              </a:rPr>
              <a:t>contrats</a:t>
            </a:r>
            <a:endParaRPr sz="1000" dirty="0">
              <a:latin typeface="Raleway-ExtraLight"/>
              <a:cs typeface="Raleway-ExtraLight"/>
            </a:endParaRPr>
          </a:p>
        </p:txBody>
      </p:sp>
      <p:sp>
        <p:nvSpPr>
          <p:cNvPr id="11" name="object 11"/>
          <p:cNvSpPr txBox="1"/>
          <p:nvPr/>
        </p:nvSpPr>
        <p:spPr>
          <a:xfrm>
            <a:off x="682873" y="5145435"/>
            <a:ext cx="2001520" cy="520700"/>
          </a:xfrm>
          <a:prstGeom prst="rect">
            <a:avLst/>
          </a:prstGeom>
        </p:spPr>
        <p:txBody>
          <a:bodyPr vert="horz" wrap="square" lIns="0" tIns="12700" rIns="0" bIns="0" rtlCol="0">
            <a:spAutoFit/>
          </a:bodyPr>
          <a:lstStyle/>
          <a:p>
            <a:pPr marL="12700" marR="5080">
              <a:lnSpc>
                <a:spcPct val="108300"/>
              </a:lnSpc>
              <a:spcBef>
                <a:spcPts val="100"/>
              </a:spcBef>
            </a:pPr>
            <a:r>
              <a:rPr sz="1000" spc="-5" dirty="0">
                <a:solidFill>
                  <a:srgbClr val="231F20"/>
                </a:solidFill>
                <a:latin typeface="Raleway-ExtraLight"/>
                <a:cs typeface="Raleway-ExtraLight"/>
              </a:rPr>
              <a:t>Entreprises vinicoles </a:t>
            </a:r>
            <a:r>
              <a:rPr sz="1000" dirty="0">
                <a:solidFill>
                  <a:srgbClr val="231F20"/>
                </a:solidFill>
                <a:latin typeface="Raleway-ExtraLight"/>
                <a:cs typeface="Raleway-ExtraLight"/>
              </a:rPr>
              <a:t> </a:t>
            </a:r>
            <a:r>
              <a:rPr sz="1000" spc="-5" dirty="0">
                <a:solidFill>
                  <a:srgbClr val="231F20"/>
                </a:solidFill>
                <a:latin typeface="Raleway-ExtraLight"/>
                <a:cs typeface="Raleway-ExtraLight"/>
              </a:rPr>
              <a:t>Comportement</a:t>
            </a:r>
            <a:r>
              <a:rPr sz="1000" spc="-15" dirty="0">
                <a:solidFill>
                  <a:srgbClr val="231F20"/>
                </a:solidFill>
                <a:latin typeface="Raleway-ExtraLight"/>
                <a:cs typeface="Raleway-ExtraLight"/>
              </a:rPr>
              <a:t> </a:t>
            </a:r>
            <a:r>
              <a:rPr sz="1000" dirty="0">
                <a:solidFill>
                  <a:srgbClr val="231F20"/>
                </a:solidFill>
                <a:latin typeface="Raleway-ExtraLight"/>
                <a:cs typeface="Raleway-ExtraLight"/>
              </a:rPr>
              <a:t>du</a:t>
            </a:r>
            <a:r>
              <a:rPr sz="1000" spc="-15" dirty="0">
                <a:solidFill>
                  <a:srgbClr val="231F20"/>
                </a:solidFill>
                <a:latin typeface="Raleway-ExtraLight"/>
                <a:cs typeface="Raleway-ExtraLight"/>
              </a:rPr>
              <a:t> </a:t>
            </a:r>
            <a:r>
              <a:rPr sz="1000" spc="-5" dirty="0">
                <a:solidFill>
                  <a:srgbClr val="231F20"/>
                </a:solidFill>
                <a:latin typeface="Raleway-ExtraLight"/>
                <a:cs typeface="Raleway-ExtraLight"/>
              </a:rPr>
              <a:t>consommateur </a:t>
            </a:r>
            <a:r>
              <a:rPr sz="1000" spc="-245" dirty="0">
                <a:solidFill>
                  <a:srgbClr val="231F20"/>
                </a:solidFill>
                <a:latin typeface="Raleway-ExtraLight"/>
                <a:cs typeface="Raleway-ExtraLight"/>
              </a:rPr>
              <a:t> </a:t>
            </a:r>
            <a:r>
              <a:rPr sz="1000" dirty="0">
                <a:solidFill>
                  <a:srgbClr val="231F20"/>
                </a:solidFill>
                <a:latin typeface="Raleway-ExtraLight"/>
                <a:cs typeface="Raleway-ExtraLight"/>
              </a:rPr>
              <a:t>Gestion</a:t>
            </a:r>
            <a:r>
              <a:rPr sz="1000" spc="-5" dirty="0">
                <a:solidFill>
                  <a:srgbClr val="231F20"/>
                </a:solidFill>
                <a:latin typeface="Raleway-ExtraLight"/>
                <a:cs typeface="Raleway-ExtraLight"/>
              </a:rPr>
              <a:t> </a:t>
            </a:r>
            <a:r>
              <a:rPr sz="1000" dirty="0">
                <a:solidFill>
                  <a:srgbClr val="231F20"/>
                </a:solidFill>
                <a:latin typeface="Raleway-ExtraLight"/>
                <a:cs typeface="Raleway-ExtraLight"/>
              </a:rPr>
              <a:t>des</a:t>
            </a:r>
            <a:r>
              <a:rPr sz="1000" spc="-5" dirty="0">
                <a:solidFill>
                  <a:srgbClr val="231F20"/>
                </a:solidFill>
                <a:latin typeface="Raleway-ExtraLight"/>
                <a:cs typeface="Raleway-ExtraLight"/>
              </a:rPr>
              <a:t> </a:t>
            </a:r>
            <a:r>
              <a:rPr sz="1000" dirty="0">
                <a:solidFill>
                  <a:srgbClr val="231F20"/>
                </a:solidFill>
                <a:latin typeface="Raleway-ExtraLight"/>
                <a:cs typeface="Raleway-ExtraLight"/>
              </a:rPr>
              <a:t>risques</a:t>
            </a:r>
            <a:endParaRPr sz="1000">
              <a:latin typeface="Raleway-ExtraLight"/>
              <a:cs typeface="Raleway-ExtraLight"/>
            </a:endParaRPr>
          </a:p>
        </p:txBody>
      </p:sp>
      <p:sp>
        <p:nvSpPr>
          <p:cNvPr id="12" name="object 12"/>
          <p:cNvSpPr txBox="1"/>
          <p:nvPr/>
        </p:nvSpPr>
        <p:spPr>
          <a:xfrm>
            <a:off x="682873" y="5818535"/>
            <a:ext cx="111379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231F20"/>
                </a:solidFill>
                <a:latin typeface="Raleway-ExtraLight"/>
                <a:cs typeface="Raleway-ExtraLight"/>
              </a:rPr>
              <a:t>Gestion</a:t>
            </a:r>
            <a:r>
              <a:rPr sz="1000" spc="-35" dirty="0">
                <a:solidFill>
                  <a:srgbClr val="231F20"/>
                </a:solidFill>
                <a:latin typeface="Raleway-ExtraLight"/>
                <a:cs typeface="Raleway-ExtraLight"/>
              </a:rPr>
              <a:t> </a:t>
            </a:r>
            <a:r>
              <a:rPr sz="1000" dirty="0">
                <a:solidFill>
                  <a:srgbClr val="231F20"/>
                </a:solidFill>
                <a:latin typeface="Raleway-ExtraLight"/>
                <a:cs typeface="Raleway-ExtraLight"/>
              </a:rPr>
              <a:t>des</a:t>
            </a:r>
            <a:r>
              <a:rPr sz="1000" spc="-30" dirty="0">
                <a:solidFill>
                  <a:srgbClr val="231F20"/>
                </a:solidFill>
                <a:latin typeface="Raleway-ExtraLight"/>
                <a:cs typeface="Raleway-ExtraLight"/>
              </a:rPr>
              <a:t> </a:t>
            </a:r>
            <a:r>
              <a:rPr sz="1000" spc="-5" dirty="0">
                <a:solidFill>
                  <a:srgbClr val="231F20"/>
                </a:solidFill>
                <a:latin typeface="Raleway-ExtraLight"/>
                <a:cs typeface="Raleway-ExtraLight"/>
              </a:rPr>
              <a:t>achats</a:t>
            </a:r>
            <a:endParaRPr sz="1000">
              <a:latin typeface="Raleway-ExtraLight"/>
              <a:cs typeface="Raleway-ExtraLight"/>
            </a:endParaRPr>
          </a:p>
        </p:txBody>
      </p:sp>
      <p:sp>
        <p:nvSpPr>
          <p:cNvPr id="13" name="object 13"/>
          <p:cNvSpPr txBox="1"/>
          <p:nvPr/>
        </p:nvSpPr>
        <p:spPr>
          <a:xfrm>
            <a:off x="682873" y="6148735"/>
            <a:ext cx="75882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231F20"/>
                </a:solidFill>
                <a:latin typeface="Raleway-ExtraLight"/>
                <a:cs typeface="Raleway-ExtraLight"/>
              </a:rPr>
              <a:t>Gast</a:t>
            </a:r>
            <a:r>
              <a:rPr sz="1000" spc="-30" dirty="0">
                <a:solidFill>
                  <a:srgbClr val="231F20"/>
                </a:solidFill>
                <a:latin typeface="Raleway-ExtraLight"/>
                <a:cs typeface="Raleway-ExtraLight"/>
              </a:rPr>
              <a:t>r</a:t>
            </a:r>
            <a:r>
              <a:rPr sz="1000" dirty="0">
                <a:solidFill>
                  <a:srgbClr val="231F20"/>
                </a:solidFill>
                <a:latin typeface="Raleway-ExtraLight"/>
                <a:cs typeface="Raleway-ExtraLight"/>
              </a:rPr>
              <a:t>onomie</a:t>
            </a:r>
            <a:endParaRPr sz="1000">
              <a:latin typeface="Raleway-ExtraLight"/>
              <a:cs typeface="Raleway-ExtraLight"/>
            </a:endParaRPr>
          </a:p>
        </p:txBody>
      </p:sp>
      <p:grpSp>
        <p:nvGrpSpPr>
          <p:cNvPr id="14" name="object 14"/>
          <p:cNvGrpSpPr/>
          <p:nvPr/>
        </p:nvGrpSpPr>
        <p:grpSpPr>
          <a:xfrm>
            <a:off x="1648460" y="8763025"/>
            <a:ext cx="1062355" cy="45720"/>
            <a:chOff x="1648460" y="8763025"/>
            <a:chExt cx="1062355" cy="45720"/>
          </a:xfrm>
        </p:grpSpPr>
        <p:sp>
          <p:nvSpPr>
            <p:cNvPr id="15" name="object 15"/>
            <p:cNvSpPr/>
            <p:nvPr/>
          </p:nvSpPr>
          <p:spPr>
            <a:xfrm>
              <a:off x="1648460" y="8763025"/>
              <a:ext cx="1062355" cy="45720"/>
            </a:xfrm>
            <a:custGeom>
              <a:avLst/>
              <a:gdLst/>
              <a:ahLst/>
              <a:cxnLst/>
              <a:rect l="l" t="t" r="r" b="b"/>
              <a:pathLst>
                <a:path w="1062355" h="45720">
                  <a:moveTo>
                    <a:pt x="1062126" y="0"/>
                  </a:moveTo>
                  <a:lnTo>
                    <a:pt x="0" y="0"/>
                  </a:lnTo>
                  <a:lnTo>
                    <a:pt x="0" y="45720"/>
                  </a:lnTo>
                  <a:lnTo>
                    <a:pt x="1062126" y="45720"/>
                  </a:lnTo>
                  <a:lnTo>
                    <a:pt x="1062126" y="0"/>
                  </a:lnTo>
                  <a:close/>
                </a:path>
              </a:pathLst>
            </a:custGeom>
            <a:solidFill>
              <a:srgbClr val="DDDED9"/>
            </a:solidFill>
          </p:spPr>
          <p:txBody>
            <a:bodyPr wrap="square" lIns="0" tIns="0" rIns="0" bIns="0" rtlCol="0"/>
            <a:lstStyle/>
            <a:p>
              <a:endParaRPr/>
            </a:p>
          </p:txBody>
        </p:sp>
        <p:sp>
          <p:nvSpPr>
            <p:cNvPr id="16" name="object 16"/>
            <p:cNvSpPr/>
            <p:nvPr/>
          </p:nvSpPr>
          <p:spPr>
            <a:xfrm>
              <a:off x="1648460" y="8763025"/>
              <a:ext cx="988694" cy="45720"/>
            </a:xfrm>
            <a:custGeom>
              <a:avLst/>
              <a:gdLst/>
              <a:ahLst/>
              <a:cxnLst/>
              <a:rect l="l" t="t" r="r" b="b"/>
              <a:pathLst>
                <a:path w="988694" h="45720">
                  <a:moveTo>
                    <a:pt x="988085" y="0"/>
                  </a:moveTo>
                  <a:lnTo>
                    <a:pt x="0" y="0"/>
                  </a:lnTo>
                  <a:lnTo>
                    <a:pt x="0" y="45720"/>
                  </a:lnTo>
                  <a:lnTo>
                    <a:pt x="988085" y="45720"/>
                  </a:lnTo>
                  <a:lnTo>
                    <a:pt x="988085" y="0"/>
                  </a:lnTo>
                  <a:close/>
                </a:path>
              </a:pathLst>
            </a:custGeom>
            <a:solidFill>
              <a:srgbClr val="DC272D"/>
            </a:solidFill>
          </p:spPr>
          <p:txBody>
            <a:bodyPr wrap="square" lIns="0" tIns="0" rIns="0" bIns="0" rtlCol="0"/>
            <a:lstStyle/>
            <a:p>
              <a:endParaRPr/>
            </a:p>
          </p:txBody>
        </p:sp>
      </p:grpSp>
      <p:grpSp>
        <p:nvGrpSpPr>
          <p:cNvPr id="17" name="object 17"/>
          <p:cNvGrpSpPr/>
          <p:nvPr/>
        </p:nvGrpSpPr>
        <p:grpSpPr>
          <a:xfrm>
            <a:off x="1648460" y="8594877"/>
            <a:ext cx="1062355" cy="45720"/>
            <a:chOff x="1648460" y="8594877"/>
            <a:chExt cx="1062355" cy="45720"/>
          </a:xfrm>
        </p:grpSpPr>
        <p:sp>
          <p:nvSpPr>
            <p:cNvPr id="18" name="object 18"/>
            <p:cNvSpPr/>
            <p:nvPr/>
          </p:nvSpPr>
          <p:spPr>
            <a:xfrm>
              <a:off x="1648460" y="8594877"/>
              <a:ext cx="1062355" cy="45720"/>
            </a:xfrm>
            <a:custGeom>
              <a:avLst/>
              <a:gdLst/>
              <a:ahLst/>
              <a:cxnLst/>
              <a:rect l="l" t="t" r="r" b="b"/>
              <a:pathLst>
                <a:path w="1062355" h="45720">
                  <a:moveTo>
                    <a:pt x="1062126" y="0"/>
                  </a:moveTo>
                  <a:lnTo>
                    <a:pt x="0" y="0"/>
                  </a:lnTo>
                  <a:lnTo>
                    <a:pt x="0" y="45719"/>
                  </a:lnTo>
                  <a:lnTo>
                    <a:pt x="1062126" y="45719"/>
                  </a:lnTo>
                  <a:lnTo>
                    <a:pt x="1062126" y="0"/>
                  </a:lnTo>
                  <a:close/>
                </a:path>
              </a:pathLst>
            </a:custGeom>
            <a:solidFill>
              <a:srgbClr val="DDDED9"/>
            </a:solidFill>
          </p:spPr>
          <p:txBody>
            <a:bodyPr wrap="square" lIns="0" tIns="0" rIns="0" bIns="0" rtlCol="0"/>
            <a:lstStyle/>
            <a:p>
              <a:endParaRPr/>
            </a:p>
          </p:txBody>
        </p:sp>
        <p:sp>
          <p:nvSpPr>
            <p:cNvPr id="19" name="object 19"/>
            <p:cNvSpPr/>
            <p:nvPr/>
          </p:nvSpPr>
          <p:spPr>
            <a:xfrm>
              <a:off x="1648472" y="8594877"/>
              <a:ext cx="600075" cy="45720"/>
            </a:xfrm>
            <a:custGeom>
              <a:avLst/>
              <a:gdLst/>
              <a:ahLst/>
              <a:cxnLst/>
              <a:rect l="l" t="t" r="r" b="b"/>
              <a:pathLst>
                <a:path w="600075" h="45720">
                  <a:moveTo>
                    <a:pt x="599706" y="0"/>
                  </a:moveTo>
                  <a:lnTo>
                    <a:pt x="0" y="0"/>
                  </a:lnTo>
                  <a:lnTo>
                    <a:pt x="0" y="45719"/>
                  </a:lnTo>
                  <a:lnTo>
                    <a:pt x="599706" y="45719"/>
                  </a:lnTo>
                  <a:lnTo>
                    <a:pt x="599706" y="0"/>
                  </a:lnTo>
                  <a:close/>
                </a:path>
              </a:pathLst>
            </a:custGeom>
            <a:solidFill>
              <a:srgbClr val="DC272D"/>
            </a:solidFill>
          </p:spPr>
          <p:txBody>
            <a:bodyPr wrap="square" lIns="0" tIns="0" rIns="0" bIns="0" rtlCol="0"/>
            <a:lstStyle/>
            <a:p>
              <a:endParaRPr/>
            </a:p>
          </p:txBody>
        </p:sp>
      </p:grpSp>
      <p:grpSp>
        <p:nvGrpSpPr>
          <p:cNvPr id="20" name="object 20"/>
          <p:cNvGrpSpPr/>
          <p:nvPr/>
        </p:nvGrpSpPr>
        <p:grpSpPr>
          <a:xfrm>
            <a:off x="1648460" y="8942095"/>
            <a:ext cx="1062355" cy="45720"/>
            <a:chOff x="1648460" y="8942095"/>
            <a:chExt cx="1062355" cy="45720"/>
          </a:xfrm>
        </p:grpSpPr>
        <p:sp>
          <p:nvSpPr>
            <p:cNvPr id="21" name="object 21"/>
            <p:cNvSpPr/>
            <p:nvPr/>
          </p:nvSpPr>
          <p:spPr>
            <a:xfrm>
              <a:off x="1648460" y="8942095"/>
              <a:ext cx="1062355" cy="45720"/>
            </a:xfrm>
            <a:custGeom>
              <a:avLst/>
              <a:gdLst/>
              <a:ahLst/>
              <a:cxnLst/>
              <a:rect l="l" t="t" r="r" b="b"/>
              <a:pathLst>
                <a:path w="1062355" h="45720">
                  <a:moveTo>
                    <a:pt x="1062126" y="0"/>
                  </a:moveTo>
                  <a:lnTo>
                    <a:pt x="0" y="0"/>
                  </a:lnTo>
                  <a:lnTo>
                    <a:pt x="0" y="45720"/>
                  </a:lnTo>
                  <a:lnTo>
                    <a:pt x="1062126" y="45720"/>
                  </a:lnTo>
                  <a:lnTo>
                    <a:pt x="1062126" y="0"/>
                  </a:lnTo>
                  <a:close/>
                </a:path>
              </a:pathLst>
            </a:custGeom>
            <a:solidFill>
              <a:srgbClr val="DDDED9"/>
            </a:solidFill>
          </p:spPr>
          <p:txBody>
            <a:bodyPr wrap="square" lIns="0" tIns="0" rIns="0" bIns="0" rtlCol="0"/>
            <a:lstStyle/>
            <a:p>
              <a:endParaRPr/>
            </a:p>
          </p:txBody>
        </p:sp>
        <p:sp>
          <p:nvSpPr>
            <p:cNvPr id="22" name="object 22"/>
            <p:cNvSpPr/>
            <p:nvPr/>
          </p:nvSpPr>
          <p:spPr>
            <a:xfrm>
              <a:off x="1648460" y="8942095"/>
              <a:ext cx="854075" cy="45720"/>
            </a:xfrm>
            <a:custGeom>
              <a:avLst/>
              <a:gdLst/>
              <a:ahLst/>
              <a:cxnLst/>
              <a:rect l="l" t="t" r="r" b="b"/>
              <a:pathLst>
                <a:path w="854075" h="45720">
                  <a:moveTo>
                    <a:pt x="853871" y="0"/>
                  </a:moveTo>
                  <a:lnTo>
                    <a:pt x="0" y="0"/>
                  </a:lnTo>
                  <a:lnTo>
                    <a:pt x="0" y="45720"/>
                  </a:lnTo>
                  <a:lnTo>
                    <a:pt x="853871" y="45720"/>
                  </a:lnTo>
                  <a:lnTo>
                    <a:pt x="853871" y="0"/>
                  </a:lnTo>
                  <a:close/>
                </a:path>
              </a:pathLst>
            </a:custGeom>
            <a:solidFill>
              <a:srgbClr val="DC272D"/>
            </a:solidFill>
          </p:spPr>
          <p:txBody>
            <a:bodyPr wrap="square" lIns="0" tIns="0" rIns="0" bIns="0" rtlCol="0"/>
            <a:lstStyle/>
            <a:p>
              <a:endParaRPr/>
            </a:p>
          </p:txBody>
        </p:sp>
      </p:grpSp>
      <p:sp>
        <p:nvSpPr>
          <p:cNvPr id="23" name="object 23"/>
          <p:cNvSpPr/>
          <p:nvPr/>
        </p:nvSpPr>
        <p:spPr>
          <a:xfrm>
            <a:off x="1648460" y="8415807"/>
            <a:ext cx="1062355" cy="45720"/>
          </a:xfrm>
          <a:custGeom>
            <a:avLst/>
            <a:gdLst/>
            <a:ahLst/>
            <a:cxnLst/>
            <a:rect l="l" t="t" r="r" b="b"/>
            <a:pathLst>
              <a:path w="1062355" h="45720">
                <a:moveTo>
                  <a:pt x="1062126" y="0"/>
                </a:moveTo>
                <a:lnTo>
                  <a:pt x="0" y="0"/>
                </a:lnTo>
                <a:lnTo>
                  <a:pt x="0" y="45719"/>
                </a:lnTo>
                <a:lnTo>
                  <a:pt x="1062126" y="45719"/>
                </a:lnTo>
                <a:lnTo>
                  <a:pt x="1062126" y="0"/>
                </a:lnTo>
                <a:close/>
              </a:path>
            </a:pathLst>
          </a:custGeom>
          <a:solidFill>
            <a:srgbClr val="DC272D"/>
          </a:solidFill>
        </p:spPr>
        <p:txBody>
          <a:bodyPr wrap="square" lIns="0" tIns="0" rIns="0" bIns="0" rtlCol="0"/>
          <a:lstStyle/>
          <a:p>
            <a:endParaRPr/>
          </a:p>
        </p:txBody>
      </p:sp>
      <p:sp>
        <p:nvSpPr>
          <p:cNvPr id="24" name="object 24"/>
          <p:cNvSpPr txBox="1"/>
          <p:nvPr/>
        </p:nvSpPr>
        <p:spPr>
          <a:xfrm>
            <a:off x="446277" y="6478935"/>
            <a:ext cx="1579372" cy="2709973"/>
          </a:xfrm>
          <a:prstGeom prst="rect">
            <a:avLst/>
          </a:prstGeom>
        </p:spPr>
        <p:txBody>
          <a:bodyPr vert="horz" wrap="square" lIns="0" tIns="12700" rIns="0" bIns="0" rtlCol="0">
            <a:spAutoFit/>
          </a:bodyPr>
          <a:lstStyle/>
          <a:p>
            <a:pPr marL="248920">
              <a:lnSpc>
                <a:spcPct val="100000"/>
              </a:lnSpc>
              <a:spcBef>
                <a:spcPts val="100"/>
              </a:spcBef>
            </a:pPr>
            <a:r>
              <a:rPr sz="1000" dirty="0">
                <a:solidFill>
                  <a:srgbClr val="231F20"/>
                </a:solidFill>
                <a:latin typeface="Raleway-ExtraLight"/>
                <a:cs typeface="Raleway-ExtraLight"/>
              </a:rPr>
              <a:t>Luxe</a:t>
            </a:r>
            <a:endParaRPr sz="1000" dirty="0">
              <a:latin typeface="Raleway-ExtraLight"/>
              <a:cs typeface="Raleway-ExtraLight"/>
            </a:endParaRPr>
          </a:p>
          <a:p>
            <a:pPr marL="248920" marR="546100">
              <a:lnSpc>
                <a:spcPct val="216699"/>
              </a:lnSpc>
            </a:pPr>
            <a:r>
              <a:rPr sz="1000" dirty="0">
                <a:solidFill>
                  <a:srgbClr val="231F20"/>
                </a:solidFill>
                <a:latin typeface="Raleway-ExtraLight"/>
                <a:cs typeface="Raleway-ExtraLight"/>
              </a:rPr>
              <a:t>Vins  Viticulture</a:t>
            </a:r>
            <a:endParaRPr sz="1000" dirty="0">
              <a:latin typeface="Raleway-ExtraLight"/>
              <a:cs typeface="Raleway-ExtraLight"/>
            </a:endParaRPr>
          </a:p>
          <a:p>
            <a:pPr>
              <a:lnSpc>
                <a:spcPct val="100000"/>
              </a:lnSpc>
              <a:spcBef>
                <a:spcPts val="5"/>
              </a:spcBef>
            </a:pPr>
            <a:endParaRPr sz="1100" dirty="0">
              <a:latin typeface="Raleway-ExtraLight"/>
              <a:cs typeface="Raleway-ExtraLight"/>
            </a:endParaRPr>
          </a:p>
          <a:p>
            <a:pPr marL="248920" marR="5080">
              <a:lnSpc>
                <a:spcPct val="108300"/>
              </a:lnSpc>
            </a:pPr>
            <a:r>
              <a:rPr sz="1000" dirty="0">
                <a:solidFill>
                  <a:srgbClr val="231F20"/>
                </a:solidFill>
                <a:latin typeface="Raleway-ExtraLight"/>
                <a:cs typeface="Raleway-ExtraLight"/>
              </a:rPr>
              <a:t>Stratégie marketing  Communication</a:t>
            </a:r>
            <a:endParaRPr sz="1000" dirty="0">
              <a:latin typeface="Raleway-ExtraLight"/>
              <a:cs typeface="Raleway-ExtraLight"/>
            </a:endParaRPr>
          </a:p>
          <a:p>
            <a:pPr>
              <a:lnSpc>
                <a:spcPct val="100000"/>
              </a:lnSpc>
            </a:pPr>
            <a:endParaRPr sz="1100" dirty="0">
              <a:latin typeface="Raleway-ExtraLight"/>
              <a:cs typeface="Raleway-ExtraLight"/>
            </a:endParaRPr>
          </a:p>
          <a:p>
            <a:pPr marL="12700">
              <a:lnSpc>
                <a:spcPct val="100000"/>
              </a:lnSpc>
              <a:spcBef>
                <a:spcPts val="885"/>
              </a:spcBef>
            </a:pPr>
            <a:r>
              <a:rPr sz="1400" dirty="0">
                <a:solidFill>
                  <a:srgbClr val="231F20"/>
                </a:solidFill>
                <a:latin typeface="Arial"/>
                <a:cs typeface="Arial"/>
              </a:rPr>
              <a:t>INTERETS</a:t>
            </a:r>
            <a:endParaRPr sz="1400" dirty="0">
              <a:latin typeface="Arial"/>
              <a:cs typeface="Arial"/>
            </a:endParaRPr>
          </a:p>
          <a:p>
            <a:pPr marL="244475" marR="281940">
              <a:lnSpc>
                <a:spcPct val="116700"/>
              </a:lnSpc>
              <a:spcBef>
                <a:spcPts val="215"/>
              </a:spcBef>
            </a:pPr>
            <a:r>
              <a:rPr sz="1000" dirty="0">
                <a:solidFill>
                  <a:srgbClr val="231F20"/>
                </a:solidFill>
                <a:latin typeface="Raleway-ExtraLight"/>
                <a:cs typeface="Raleway-ExtraLight"/>
              </a:rPr>
              <a:t>Vie associative  Handball  Running</a:t>
            </a:r>
            <a:endParaRPr sz="1000" dirty="0">
              <a:latin typeface="Raleway-ExtraLight"/>
              <a:cs typeface="Raleway-ExtraLight"/>
            </a:endParaRPr>
          </a:p>
          <a:p>
            <a:pPr marL="244475" marR="383540">
              <a:lnSpc>
                <a:spcPts val="1000"/>
              </a:lnSpc>
              <a:spcBef>
                <a:spcPts val="400"/>
              </a:spcBef>
            </a:pPr>
            <a:r>
              <a:rPr sz="1000" dirty="0">
                <a:solidFill>
                  <a:srgbClr val="231F20"/>
                </a:solidFill>
                <a:latin typeface="Raleway-ExtraLight"/>
                <a:cs typeface="Raleway-ExtraLight"/>
              </a:rPr>
              <a:t>Nouvelles  technologies</a:t>
            </a:r>
            <a:endParaRPr sz="1000" dirty="0">
              <a:latin typeface="Raleway-ExtraLight"/>
              <a:cs typeface="Raleway-ExtraLight"/>
            </a:endParaRPr>
          </a:p>
        </p:txBody>
      </p:sp>
      <p:sp>
        <p:nvSpPr>
          <p:cNvPr id="25" name="object 25"/>
          <p:cNvSpPr txBox="1"/>
          <p:nvPr/>
        </p:nvSpPr>
        <p:spPr>
          <a:xfrm>
            <a:off x="444500" y="1765366"/>
            <a:ext cx="2006600" cy="1325880"/>
          </a:xfrm>
          <a:prstGeom prst="rect">
            <a:avLst/>
          </a:prstGeom>
        </p:spPr>
        <p:txBody>
          <a:bodyPr vert="horz" wrap="square" lIns="0" tIns="113030" rIns="0" bIns="0" rtlCol="0">
            <a:spAutoFit/>
          </a:bodyPr>
          <a:lstStyle/>
          <a:p>
            <a:pPr marL="12700">
              <a:lnSpc>
                <a:spcPct val="100000"/>
              </a:lnSpc>
              <a:spcBef>
                <a:spcPts val="890"/>
              </a:spcBef>
            </a:pPr>
            <a:r>
              <a:rPr sz="1400" dirty="0">
                <a:solidFill>
                  <a:srgbClr val="231F20"/>
                </a:solidFill>
                <a:latin typeface="Arial"/>
                <a:cs typeface="Arial"/>
              </a:rPr>
              <a:t>CONTACT</a:t>
            </a:r>
            <a:endParaRPr sz="1400">
              <a:latin typeface="Arial"/>
              <a:cs typeface="Arial"/>
            </a:endParaRPr>
          </a:p>
          <a:p>
            <a:pPr marL="457200">
              <a:lnSpc>
                <a:spcPct val="100000"/>
              </a:lnSpc>
              <a:spcBef>
                <a:spcPts val="565"/>
              </a:spcBef>
            </a:pPr>
            <a:r>
              <a:rPr sz="1000" dirty="0">
                <a:solidFill>
                  <a:srgbClr val="231F20"/>
                </a:solidFill>
                <a:latin typeface="Raleway-ExtraLight"/>
                <a:cs typeface="Raleway-ExtraLight"/>
              </a:rPr>
              <a:t>+336 74 11 36 35</a:t>
            </a:r>
            <a:endParaRPr sz="1000">
              <a:latin typeface="Raleway-ExtraLight"/>
              <a:cs typeface="Raleway-ExtraLight"/>
            </a:endParaRPr>
          </a:p>
          <a:p>
            <a:pPr marL="457200" marR="5080">
              <a:lnSpc>
                <a:spcPct val="166700"/>
              </a:lnSpc>
            </a:pPr>
            <a:r>
              <a:rPr sz="1000" dirty="0">
                <a:solidFill>
                  <a:srgbClr val="231F20"/>
                </a:solidFill>
                <a:latin typeface="Raleway-ExtraLight"/>
                <a:cs typeface="Raleway-ExtraLight"/>
                <a:hlinkClick r:id="rId2"/>
              </a:rPr>
              <a:t>elodiemariville@gmail.com </a:t>
            </a:r>
            <a:r>
              <a:rPr sz="1000" dirty="0">
                <a:solidFill>
                  <a:srgbClr val="231F20"/>
                </a:solidFill>
                <a:latin typeface="Raleway-ExtraLight"/>
                <a:cs typeface="Raleway-ExtraLight"/>
              </a:rPr>
              <a:t> Paris, France</a:t>
            </a:r>
            <a:endParaRPr sz="1000">
              <a:latin typeface="Raleway-ExtraLight"/>
              <a:cs typeface="Raleway-ExtraLight"/>
            </a:endParaRPr>
          </a:p>
          <a:p>
            <a:pPr marL="457200">
              <a:lnSpc>
                <a:spcPct val="100000"/>
              </a:lnSpc>
              <a:spcBef>
                <a:spcPts val="800"/>
              </a:spcBef>
            </a:pPr>
            <a:r>
              <a:rPr sz="1000" dirty="0">
                <a:solidFill>
                  <a:srgbClr val="231F20"/>
                </a:solidFill>
                <a:latin typeface="Raleway-ExtraLight"/>
                <a:cs typeface="Raleway-ExtraLight"/>
              </a:rPr>
              <a:t>Nationalité Française</a:t>
            </a:r>
            <a:endParaRPr sz="1000">
              <a:latin typeface="Raleway-ExtraLight"/>
              <a:cs typeface="Raleway-ExtraLight"/>
            </a:endParaRPr>
          </a:p>
        </p:txBody>
      </p:sp>
      <p:sp>
        <p:nvSpPr>
          <p:cNvPr id="26" name="object 26"/>
          <p:cNvSpPr/>
          <p:nvPr/>
        </p:nvSpPr>
        <p:spPr>
          <a:xfrm>
            <a:off x="690880" y="2214918"/>
            <a:ext cx="85725" cy="88900"/>
          </a:xfrm>
          <a:custGeom>
            <a:avLst/>
            <a:gdLst/>
            <a:ahLst/>
            <a:cxnLst/>
            <a:rect l="l" t="t" r="r" b="b"/>
            <a:pathLst>
              <a:path w="85725" h="88900">
                <a:moveTo>
                  <a:pt x="85343" y="0"/>
                </a:moveTo>
                <a:lnTo>
                  <a:pt x="0" y="0"/>
                </a:lnTo>
                <a:lnTo>
                  <a:pt x="0" y="88392"/>
                </a:lnTo>
                <a:lnTo>
                  <a:pt x="85343" y="88392"/>
                </a:lnTo>
                <a:lnTo>
                  <a:pt x="85343" y="0"/>
                </a:lnTo>
                <a:close/>
              </a:path>
            </a:pathLst>
          </a:custGeom>
          <a:solidFill>
            <a:srgbClr val="DC272D"/>
          </a:solidFill>
        </p:spPr>
        <p:txBody>
          <a:bodyPr wrap="square" lIns="0" tIns="0" rIns="0" bIns="0" rtlCol="0"/>
          <a:lstStyle/>
          <a:p>
            <a:endParaRPr/>
          </a:p>
        </p:txBody>
      </p:sp>
      <p:sp>
        <p:nvSpPr>
          <p:cNvPr id="27" name="object 27"/>
          <p:cNvSpPr/>
          <p:nvPr/>
        </p:nvSpPr>
        <p:spPr>
          <a:xfrm>
            <a:off x="690880" y="2464028"/>
            <a:ext cx="85725" cy="88900"/>
          </a:xfrm>
          <a:custGeom>
            <a:avLst/>
            <a:gdLst/>
            <a:ahLst/>
            <a:cxnLst/>
            <a:rect l="l" t="t" r="r" b="b"/>
            <a:pathLst>
              <a:path w="85725" h="88900">
                <a:moveTo>
                  <a:pt x="85343" y="0"/>
                </a:moveTo>
                <a:lnTo>
                  <a:pt x="0" y="0"/>
                </a:lnTo>
                <a:lnTo>
                  <a:pt x="0" y="88392"/>
                </a:lnTo>
                <a:lnTo>
                  <a:pt x="85343" y="88392"/>
                </a:lnTo>
                <a:lnTo>
                  <a:pt x="85343" y="0"/>
                </a:lnTo>
                <a:close/>
              </a:path>
            </a:pathLst>
          </a:custGeom>
          <a:solidFill>
            <a:srgbClr val="DC272D"/>
          </a:solidFill>
        </p:spPr>
        <p:txBody>
          <a:bodyPr wrap="square" lIns="0" tIns="0" rIns="0" bIns="0" rtlCol="0"/>
          <a:lstStyle/>
          <a:p>
            <a:endParaRPr/>
          </a:p>
        </p:txBody>
      </p:sp>
      <p:sp>
        <p:nvSpPr>
          <p:cNvPr id="28" name="object 28"/>
          <p:cNvSpPr/>
          <p:nvPr/>
        </p:nvSpPr>
        <p:spPr>
          <a:xfrm>
            <a:off x="690880" y="2717520"/>
            <a:ext cx="85725" cy="88900"/>
          </a:xfrm>
          <a:custGeom>
            <a:avLst/>
            <a:gdLst/>
            <a:ahLst/>
            <a:cxnLst/>
            <a:rect l="l" t="t" r="r" b="b"/>
            <a:pathLst>
              <a:path w="85725" h="88900">
                <a:moveTo>
                  <a:pt x="85343" y="0"/>
                </a:moveTo>
                <a:lnTo>
                  <a:pt x="0" y="0"/>
                </a:lnTo>
                <a:lnTo>
                  <a:pt x="0" y="88392"/>
                </a:lnTo>
                <a:lnTo>
                  <a:pt x="85343" y="88392"/>
                </a:lnTo>
                <a:lnTo>
                  <a:pt x="85343" y="0"/>
                </a:lnTo>
                <a:close/>
              </a:path>
            </a:pathLst>
          </a:custGeom>
          <a:solidFill>
            <a:srgbClr val="DC272D"/>
          </a:solidFill>
        </p:spPr>
        <p:txBody>
          <a:bodyPr wrap="square" lIns="0" tIns="0" rIns="0" bIns="0" rtlCol="0"/>
          <a:lstStyle/>
          <a:p>
            <a:endParaRPr/>
          </a:p>
        </p:txBody>
      </p:sp>
      <p:sp>
        <p:nvSpPr>
          <p:cNvPr id="29" name="object 29"/>
          <p:cNvSpPr/>
          <p:nvPr/>
        </p:nvSpPr>
        <p:spPr>
          <a:xfrm>
            <a:off x="690880" y="2971520"/>
            <a:ext cx="85725" cy="88900"/>
          </a:xfrm>
          <a:custGeom>
            <a:avLst/>
            <a:gdLst/>
            <a:ahLst/>
            <a:cxnLst/>
            <a:rect l="l" t="t" r="r" b="b"/>
            <a:pathLst>
              <a:path w="85725" h="88900">
                <a:moveTo>
                  <a:pt x="85343" y="0"/>
                </a:moveTo>
                <a:lnTo>
                  <a:pt x="0" y="0"/>
                </a:lnTo>
                <a:lnTo>
                  <a:pt x="0" y="88392"/>
                </a:lnTo>
                <a:lnTo>
                  <a:pt x="85343" y="88392"/>
                </a:lnTo>
                <a:lnTo>
                  <a:pt x="85343" y="0"/>
                </a:lnTo>
                <a:close/>
              </a:path>
            </a:pathLst>
          </a:custGeom>
          <a:solidFill>
            <a:srgbClr val="DC272D"/>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31F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237</Words>
  <Application>Microsoft Office PowerPoint</Application>
  <PresentationFormat>Personnalisé</PresentationFormat>
  <Paragraphs>44</Paragraphs>
  <Slides>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vt:i4>
      </vt:variant>
    </vt:vector>
  </HeadingPairs>
  <TitlesOfParts>
    <vt:vector size="7" baseType="lpstr">
      <vt:lpstr>Arial</vt:lpstr>
      <vt:lpstr>Calibri</vt:lpstr>
      <vt:lpstr>Raleway</vt:lpstr>
      <vt:lpstr>Raleway-ExtraLight</vt:lpstr>
      <vt:lpstr>Raleway-SemiBold</vt:lpstr>
      <vt:lpstr>Office Theme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Estelle</dc:creator>
  <cp:lastModifiedBy>Estelle</cp:lastModifiedBy>
  <cp:revision>3</cp:revision>
  <dcterms:created xsi:type="dcterms:W3CDTF">2021-06-21T09:20:23Z</dcterms:created>
  <dcterms:modified xsi:type="dcterms:W3CDTF">2021-10-22T13:38:29Z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2021-06-21T00:00:00Z</vt:filetime>
  </property>
  <property fmtid="{D5CDD505-2E9C-101B-9397-08002B2CF9AE}" pid="3" name="Creator">
    <vt:lpwstr>Adobe InDesign 16.1 (Macintosh)</vt:lpwstr>
  </property>
  <property fmtid="{D5CDD505-2E9C-101B-9397-08002B2CF9AE}" pid="4" name="LastSaved">
    <vt:filetime>2021-06-21T00:00:00Z</vt:filetime>
  </property>
</Properties>
</file>