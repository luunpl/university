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556500" cy="10693400"/>
  <p:notesSz cx="7556500" cy="106934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51" d="100"/>
          <a:sy n="51" d="100"/>
        </p:scale>
        <p:origin x="254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armandeguyot@gmail.com" TargetMode="Externa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5745" y="1448479"/>
            <a:ext cx="2296795" cy="121412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73380" marR="5080" indent="-361315">
              <a:lnSpc>
                <a:spcPct val="69400"/>
              </a:lnSpc>
              <a:spcBef>
                <a:spcPts val="1420"/>
              </a:spcBef>
            </a:pPr>
            <a:r>
              <a:rPr sz="3600" b="1" dirty="0">
                <a:solidFill>
                  <a:srgbClr val="454646"/>
                </a:solidFill>
                <a:latin typeface="Raleway-SemiBold"/>
                <a:cs typeface="Raleway-SemiBold"/>
              </a:rPr>
              <a:t>ARMANDE  </a:t>
            </a:r>
            <a:r>
              <a:rPr sz="3600" b="1" spc="-60" dirty="0">
                <a:solidFill>
                  <a:srgbClr val="454646"/>
                </a:solidFill>
                <a:latin typeface="Raleway-SemiBold"/>
                <a:cs typeface="Raleway-SemiBold"/>
              </a:rPr>
              <a:t>GUYOT</a:t>
            </a:r>
            <a:endParaRPr sz="3600">
              <a:latin typeface="Raleway-SemiBold"/>
              <a:cs typeface="Raleway-SemiBold"/>
            </a:endParaRPr>
          </a:p>
          <a:p>
            <a:pPr marL="325755">
              <a:lnSpc>
                <a:spcPct val="100000"/>
              </a:lnSpc>
              <a:spcBef>
                <a:spcPts val="360"/>
              </a:spcBef>
            </a:pPr>
            <a:r>
              <a:rPr sz="1400" spc="-15" dirty="0">
                <a:solidFill>
                  <a:srgbClr val="231F20"/>
                </a:solidFill>
                <a:latin typeface="Raleway-ExtraLight"/>
                <a:cs typeface="Raleway-ExtraLight"/>
              </a:rPr>
              <a:t>DIGITAL</a:t>
            </a:r>
            <a:r>
              <a:rPr sz="1400" spc="-6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400" dirty="0">
                <a:solidFill>
                  <a:srgbClr val="231F20"/>
                </a:solidFill>
                <a:latin typeface="Raleway-ExtraLight"/>
                <a:cs typeface="Raleway-ExtraLight"/>
              </a:rPr>
              <a:t>MARKETING</a:t>
            </a:r>
            <a:endParaRPr sz="1400">
              <a:latin typeface="Raleway-ExtraLight"/>
              <a:cs typeface="Raleway-Extra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7560309" cy="8001000"/>
            <a:chOff x="0" y="0"/>
            <a:chExt cx="7560309" cy="800100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7560309" cy="457200"/>
            </a:xfrm>
            <a:custGeom>
              <a:avLst/>
              <a:gdLst/>
              <a:ahLst/>
              <a:cxnLst/>
              <a:rect l="l" t="t" r="r" b="b"/>
              <a:pathLst>
                <a:path w="7560309" h="457200">
                  <a:moveTo>
                    <a:pt x="7559992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7559992" y="457200"/>
                  </a:lnTo>
                  <a:lnTo>
                    <a:pt x="7559992" y="0"/>
                  </a:lnTo>
                  <a:close/>
                </a:path>
              </a:pathLst>
            </a:custGeom>
            <a:solidFill>
              <a:srgbClr val="45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9727" y="12"/>
              <a:ext cx="3322954" cy="8001000"/>
            </a:xfrm>
            <a:custGeom>
              <a:avLst/>
              <a:gdLst/>
              <a:ahLst/>
              <a:cxnLst/>
              <a:rect l="l" t="t" r="r" b="b"/>
              <a:pathLst>
                <a:path w="3322954" h="8001000">
                  <a:moveTo>
                    <a:pt x="335737" y="4746739"/>
                  </a:moveTo>
                  <a:lnTo>
                    <a:pt x="329742" y="4703686"/>
                  </a:lnTo>
                  <a:lnTo>
                    <a:pt x="312826" y="4665002"/>
                  </a:lnTo>
                  <a:lnTo>
                    <a:pt x="286575" y="4632236"/>
                  </a:lnTo>
                  <a:lnTo>
                    <a:pt x="252603" y="4606912"/>
                  </a:lnTo>
                  <a:lnTo>
                    <a:pt x="212496" y="4590593"/>
                  </a:lnTo>
                  <a:lnTo>
                    <a:pt x="167868" y="4584814"/>
                  </a:lnTo>
                  <a:lnTo>
                    <a:pt x="123240" y="4590593"/>
                  </a:lnTo>
                  <a:lnTo>
                    <a:pt x="83146" y="4606912"/>
                  </a:lnTo>
                  <a:lnTo>
                    <a:pt x="49174" y="4632236"/>
                  </a:lnTo>
                  <a:lnTo>
                    <a:pt x="22923" y="4665002"/>
                  </a:lnTo>
                  <a:lnTo>
                    <a:pt x="5994" y="4703686"/>
                  </a:lnTo>
                  <a:lnTo>
                    <a:pt x="0" y="4746739"/>
                  </a:lnTo>
                  <a:lnTo>
                    <a:pt x="5994" y="4789779"/>
                  </a:lnTo>
                  <a:lnTo>
                    <a:pt x="22923" y="4828451"/>
                  </a:lnTo>
                  <a:lnTo>
                    <a:pt x="49174" y="4861217"/>
                  </a:lnTo>
                  <a:lnTo>
                    <a:pt x="83146" y="4886541"/>
                  </a:lnTo>
                  <a:lnTo>
                    <a:pt x="123240" y="4902860"/>
                  </a:lnTo>
                  <a:lnTo>
                    <a:pt x="167868" y="4908651"/>
                  </a:lnTo>
                  <a:lnTo>
                    <a:pt x="212496" y="4902860"/>
                  </a:lnTo>
                  <a:lnTo>
                    <a:pt x="252603" y="4886541"/>
                  </a:lnTo>
                  <a:lnTo>
                    <a:pt x="286575" y="4861217"/>
                  </a:lnTo>
                  <a:lnTo>
                    <a:pt x="312826" y="4828451"/>
                  </a:lnTo>
                  <a:lnTo>
                    <a:pt x="329742" y="4789779"/>
                  </a:lnTo>
                  <a:lnTo>
                    <a:pt x="335737" y="4746739"/>
                  </a:lnTo>
                  <a:close/>
                </a:path>
                <a:path w="3322954" h="8001000">
                  <a:moveTo>
                    <a:pt x="335737" y="3625786"/>
                  </a:moveTo>
                  <a:lnTo>
                    <a:pt x="329742" y="3582746"/>
                  </a:lnTo>
                  <a:lnTo>
                    <a:pt x="312826" y="3544062"/>
                  </a:lnTo>
                  <a:lnTo>
                    <a:pt x="286575" y="3511296"/>
                  </a:lnTo>
                  <a:lnTo>
                    <a:pt x="252603" y="3485972"/>
                  </a:lnTo>
                  <a:lnTo>
                    <a:pt x="212496" y="3469652"/>
                  </a:lnTo>
                  <a:lnTo>
                    <a:pt x="167868" y="3463861"/>
                  </a:lnTo>
                  <a:lnTo>
                    <a:pt x="123240" y="3469652"/>
                  </a:lnTo>
                  <a:lnTo>
                    <a:pt x="83146" y="3485972"/>
                  </a:lnTo>
                  <a:lnTo>
                    <a:pt x="49174" y="3511296"/>
                  </a:lnTo>
                  <a:lnTo>
                    <a:pt x="22923" y="3544062"/>
                  </a:lnTo>
                  <a:lnTo>
                    <a:pt x="5994" y="3582746"/>
                  </a:lnTo>
                  <a:lnTo>
                    <a:pt x="0" y="3625786"/>
                  </a:lnTo>
                  <a:lnTo>
                    <a:pt x="5994" y="3668839"/>
                  </a:lnTo>
                  <a:lnTo>
                    <a:pt x="22923" y="3707511"/>
                  </a:lnTo>
                  <a:lnTo>
                    <a:pt x="49174" y="3740277"/>
                  </a:lnTo>
                  <a:lnTo>
                    <a:pt x="83146" y="3765600"/>
                  </a:lnTo>
                  <a:lnTo>
                    <a:pt x="123240" y="3781920"/>
                  </a:lnTo>
                  <a:lnTo>
                    <a:pt x="167868" y="3787698"/>
                  </a:lnTo>
                  <a:lnTo>
                    <a:pt x="212496" y="3781920"/>
                  </a:lnTo>
                  <a:lnTo>
                    <a:pt x="252603" y="3765600"/>
                  </a:lnTo>
                  <a:lnTo>
                    <a:pt x="286575" y="3740277"/>
                  </a:lnTo>
                  <a:lnTo>
                    <a:pt x="312826" y="3707511"/>
                  </a:lnTo>
                  <a:lnTo>
                    <a:pt x="329742" y="3668839"/>
                  </a:lnTo>
                  <a:lnTo>
                    <a:pt x="335737" y="3625786"/>
                  </a:lnTo>
                  <a:close/>
                </a:path>
                <a:path w="3322954" h="8001000">
                  <a:moveTo>
                    <a:pt x="3322332" y="2113534"/>
                  </a:moveTo>
                  <a:lnTo>
                    <a:pt x="2705265" y="0"/>
                  </a:lnTo>
                  <a:lnTo>
                    <a:pt x="2520378" y="0"/>
                  </a:lnTo>
                  <a:lnTo>
                    <a:pt x="3126943" y="2113534"/>
                  </a:lnTo>
                  <a:lnTo>
                    <a:pt x="2520378" y="4227080"/>
                  </a:lnTo>
                  <a:lnTo>
                    <a:pt x="2522461" y="4227080"/>
                  </a:lnTo>
                  <a:lnTo>
                    <a:pt x="2514409" y="4254690"/>
                  </a:lnTo>
                  <a:lnTo>
                    <a:pt x="2632938" y="4661014"/>
                  </a:lnTo>
                  <a:lnTo>
                    <a:pt x="2631897" y="4661014"/>
                  </a:lnTo>
                  <a:lnTo>
                    <a:pt x="2775762" y="5150650"/>
                  </a:lnTo>
                  <a:lnTo>
                    <a:pt x="3130956" y="6368237"/>
                  </a:lnTo>
                  <a:lnTo>
                    <a:pt x="3133547" y="6368237"/>
                  </a:lnTo>
                  <a:lnTo>
                    <a:pt x="2520378" y="8001000"/>
                  </a:lnTo>
                  <a:lnTo>
                    <a:pt x="2705265" y="8001000"/>
                  </a:lnTo>
                  <a:lnTo>
                    <a:pt x="3315843" y="6368237"/>
                  </a:lnTo>
                  <a:lnTo>
                    <a:pt x="2700540" y="4254690"/>
                  </a:lnTo>
                  <a:lnTo>
                    <a:pt x="3315843" y="2141156"/>
                  </a:lnTo>
                  <a:lnTo>
                    <a:pt x="3314255" y="2141156"/>
                  </a:lnTo>
                  <a:lnTo>
                    <a:pt x="3322332" y="2113534"/>
                  </a:lnTo>
                  <a:close/>
                </a:path>
              </a:pathLst>
            </a:custGeom>
            <a:solidFill>
              <a:srgbClr val="E7C8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0" y="8496554"/>
            <a:ext cx="7560309" cy="2195830"/>
          </a:xfrm>
          <a:custGeom>
            <a:avLst/>
            <a:gdLst/>
            <a:ahLst/>
            <a:cxnLst/>
            <a:rect l="l" t="t" r="r" b="b"/>
            <a:pathLst>
              <a:path w="7560309" h="2195829">
                <a:moveTo>
                  <a:pt x="7559992" y="0"/>
                </a:moveTo>
                <a:lnTo>
                  <a:pt x="0" y="0"/>
                </a:lnTo>
                <a:lnTo>
                  <a:pt x="0" y="2195449"/>
                </a:lnTo>
                <a:lnTo>
                  <a:pt x="7559992" y="2195449"/>
                </a:lnTo>
                <a:lnTo>
                  <a:pt x="7559992" y="0"/>
                </a:lnTo>
                <a:close/>
              </a:path>
            </a:pathLst>
          </a:custGeom>
          <a:solidFill>
            <a:srgbClr val="454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37767" y="4633898"/>
            <a:ext cx="2092960" cy="2200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i="1" spc="55" dirty="0">
                <a:solidFill>
                  <a:srgbClr val="231F20"/>
                </a:solidFill>
                <a:latin typeface="Oswald"/>
                <a:cs typeface="Oswald"/>
              </a:rPr>
              <a:t>PROFILE</a:t>
            </a:r>
            <a:r>
              <a:rPr sz="1400" i="1" spc="114" dirty="0">
                <a:solidFill>
                  <a:srgbClr val="231F20"/>
                </a:solidFill>
                <a:latin typeface="Oswald"/>
                <a:cs typeface="Oswald"/>
              </a:rPr>
              <a:t> </a:t>
            </a:r>
            <a:r>
              <a:rPr sz="1400" i="1" dirty="0">
                <a:solidFill>
                  <a:srgbClr val="231F20"/>
                </a:solidFill>
                <a:latin typeface="Oswald"/>
                <a:cs typeface="Oswald"/>
              </a:rPr>
              <a:t>&amp;</a:t>
            </a:r>
            <a:r>
              <a:rPr sz="1400" i="1" spc="114" dirty="0">
                <a:solidFill>
                  <a:srgbClr val="231F20"/>
                </a:solidFill>
                <a:latin typeface="Oswald"/>
                <a:cs typeface="Oswald"/>
              </a:rPr>
              <a:t> </a:t>
            </a:r>
            <a:r>
              <a:rPr sz="1400" i="1" spc="70" dirty="0">
                <a:solidFill>
                  <a:srgbClr val="231F20"/>
                </a:solidFill>
                <a:latin typeface="Oswald"/>
                <a:cs typeface="Oswald"/>
              </a:rPr>
              <a:t>OBJECTIVE</a:t>
            </a:r>
            <a:endParaRPr sz="1400">
              <a:latin typeface="Oswald"/>
              <a:cs typeface="Oswald"/>
            </a:endParaRPr>
          </a:p>
          <a:p>
            <a:pPr marL="12700" marR="117475">
              <a:lnSpc>
                <a:spcPct val="100000"/>
              </a:lnSpc>
              <a:spcBef>
                <a:spcPts val="919"/>
              </a:spcBef>
            </a:pP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Digital 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Marketing 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and </a:t>
            </a:r>
            <a:r>
              <a:rPr sz="1100" spc="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Communications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professional 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who </a:t>
            </a:r>
            <a:r>
              <a:rPr sz="11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exercises 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passion and </a:t>
            </a:r>
            <a:r>
              <a:rPr sz="1100" spc="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determination</a:t>
            </a:r>
            <a:r>
              <a:rPr sz="1100" spc="-1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in</a:t>
            </a:r>
            <a:r>
              <a:rPr sz="1100" spc="-1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all</a:t>
            </a:r>
            <a:r>
              <a:rPr sz="1100" spc="-4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of</a:t>
            </a:r>
            <a:r>
              <a:rPr sz="1100" spc="-3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her</a:t>
            </a:r>
            <a:r>
              <a:rPr sz="1100" spc="-7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work. </a:t>
            </a:r>
            <a:r>
              <a:rPr sz="1100" spc="-27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N</a:t>
            </a:r>
            <a:r>
              <a:rPr sz="1100" spc="-25" dirty="0">
                <a:solidFill>
                  <a:srgbClr val="231F20"/>
                </a:solidFill>
                <a:latin typeface="Raleway-ExtraLight"/>
                <a:cs typeface="Raleway-ExtraLight"/>
              </a:rPr>
              <a:t>o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w</a:t>
            </a:r>
            <a:r>
              <a:rPr sz="1100" spc="-6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wishing </a:t>
            </a:r>
            <a:r>
              <a:rPr sz="1100" spc="-15" dirty="0">
                <a:solidFill>
                  <a:srgbClr val="231F20"/>
                </a:solidFill>
                <a:latin typeface="Raleway-ExtraLight"/>
                <a:cs typeface="Raleway-ExtraLight"/>
              </a:rPr>
              <a:t>t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o put her</a:t>
            </a:r>
            <a:r>
              <a:rPr sz="1100" spc="-3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di</a:t>
            </a:r>
            <a:r>
              <a:rPr sz="1100" spc="-20" dirty="0">
                <a:solidFill>
                  <a:srgbClr val="231F20"/>
                </a:solidFill>
                <a:latin typeface="Raleway-ExtraLight"/>
                <a:cs typeface="Raleway-ExtraLight"/>
              </a:rPr>
              <a:t>v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erse  skills</a:t>
            </a:r>
            <a:r>
              <a:rPr sz="11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and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expertise</a:t>
            </a:r>
            <a:r>
              <a:rPr sz="11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 to</a:t>
            </a:r>
            <a:r>
              <a:rPr sz="1100" spc="-3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work 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in</a:t>
            </a:r>
            <a:endParaRPr sz="1100">
              <a:latin typeface="Raleway-ExtraLight"/>
              <a:cs typeface="Raleway-ExtraLight"/>
            </a:endParaRPr>
          </a:p>
          <a:p>
            <a:pPr marL="12700" marR="5080">
              <a:lnSpc>
                <a:spcPct val="100000"/>
              </a:lnSpc>
            </a:pP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a dynamic </a:t>
            </a:r>
            <a:r>
              <a:rPr sz="11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company, 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on an </a:t>
            </a:r>
            <a:r>
              <a:rPr sz="1100" spc="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international</a:t>
            </a:r>
            <a:r>
              <a:rPr sz="1100" spc="-4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scale.</a:t>
            </a:r>
            <a:r>
              <a:rPr sz="1100" spc="23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An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innovative </a:t>
            </a:r>
            <a:r>
              <a:rPr sz="1100" spc="-27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outlook and 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in-depth 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media </a:t>
            </a:r>
            <a:r>
              <a:rPr sz="1100" spc="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knowledge </a:t>
            </a:r>
            <a:r>
              <a:rPr sz="11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are </a:t>
            </a:r>
            <a:r>
              <a:rPr sz="1100" spc="-20" dirty="0">
                <a:solidFill>
                  <a:srgbClr val="231F20"/>
                </a:solidFill>
                <a:latin typeface="Raleway-ExtraLight"/>
                <a:cs typeface="Raleway-ExtraLight"/>
              </a:rPr>
              <a:t>key 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assets that 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are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brought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to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every</a:t>
            </a:r>
            <a:r>
              <a:rPr sz="1100" spc="-3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project..</a:t>
            </a:r>
            <a:endParaRPr sz="1100">
              <a:latin typeface="Raleway-ExtraLight"/>
              <a:cs typeface="Raleway-Extra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7767" y="3501971"/>
            <a:ext cx="1727835" cy="774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i="1" spc="65" dirty="0">
                <a:solidFill>
                  <a:srgbClr val="231F20"/>
                </a:solidFill>
                <a:latin typeface="Oswald"/>
                <a:cs typeface="Oswald"/>
              </a:rPr>
              <a:t>CONTACT</a:t>
            </a:r>
            <a:endParaRPr sz="1400">
              <a:latin typeface="Oswald"/>
              <a:cs typeface="Oswald"/>
            </a:endParaRPr>
          </a:p>
          <a:p>
            <a:pPr marL="12700">
              <a:lnSpc>
                <a:spcPct val="100000"/>
              </a:lnSpc>
              <a:spcBef>
                <a:spcPts val="1495"/>
              </a:spcBef>
            </a:pPr>
            <a:r>
              <a:rPr sz="11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+1</a:t>
            </a:r>
            <a:r>
              <a:rPr sz="1100" spc="-1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704</a:t>
            </a:r>
            <a:r>
              <a:rPr sz="1100" spc="-1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783</a:t>
            </a:r>
            <a:r>
              <a:rPr sz="11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9823</a:t>
            </a:r>
            <a:endParaRPr sz="1100">
              <a:latin typeface="Raleway-ExtraLight"/>
              <a:cs typeface="Raleway-ExtraLight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  <a:hlinkClick r:id="rId2"/>
              </a:rPr>
              <a:t>armandeguyot@gmail.com</a:t>
            </a:r>
            <a:endParaRPr sz="1100">
              <a:latin typeface="Raleway-ExtraLight"/>
              <a:cs typeface="Raleway-Extra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7767" y="6996933"/>
            <a:ext cx="2060575" cy="92011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400" i="1" spc="65" dirty="0">
                <a:solidFill>
                  <a:srgbClr val="231F20"/>
                </a:solidFill>
                <a:latin typeface="Oswald"/>
                <a:cs typeface="Oswald"/>
              </a:rPr>
              <a:t>LANGUAGES</a:t>
            </a:r>
            <a:endParaRPr sz="1400">
              <a:latin typeface="Oswald"/>
              <a:cs typeface="Oswald"/>
            </a:endParaRPr>
          </a:p>
          <a:p>
            <a:pPr marL="12700" marR="400050">
              <a:lnSpc>
                <a:spcPct val="106100"/>
              </a:lnSpc>
              <a:spcBef>
                <a:spcPts val="465"/>
              </a:spcBef>
            </a:pP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English:</a:t>
            </a:r>
            <a:r>
              <a:rPr sz="1100" spc="-2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strong</a:t>
            </a:r>
            <a:r>
              <a:rPr sz="1100" spc="-2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proficiency </a:t>
            </a:r>
            <a:r>
              <a:rPr sz="1100" spc="-27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(TOEIC: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900/990)</a:t>
            </a:r>
            <a:endParaRPr sz="1100">
              <a:latin typeface="Raleway-ExtraLight"/>
              <a:cs typeface="Raleway-ExtraLight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Spanish:</a:t>
            </a:r>
            <a:r>
              <a:rPr sz="1100" spc="-1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professional</a:t>
            </a:r>
            <a:r>
              <a:rPr sz="1100" spc="-5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proficiency</a:t>
            </a:r>
            <a:endParaRPr sz="1100">
              <a:latin typeface="Raleway-ExtraLight"/>
              <a:cs typeface="Raleway-ExtraLigh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7767" y="8657132"/>
            <a:ext cx="1071880" cy="1198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i="1" spc="65" dirty="0">
                <a:solidFill>
                  <a:srgbClr val="FFFFFF"/>
                </a:solidFill>
                <a:latin typeface="Oswald"/>
                <a:cs typeface="Oswald"/>
              </a:rPr>
              <a:t>INTERESTS</a:t>
            </a:r>
            <a:endParaRPr sz="1400">
              <a:latin typeface="Oswald"/>
              <a:cs typeface="Oswald"/>
            </a:endParaRPr>
          </a:p>
          <a:p>
            <a:pPr marL="12700" marR="95885">
              <a:lnSpc>
                <a:spcPct val="136400"/>
              </a:lnSpc>
              <a:spcBef>
                <a:spcPts val="355"/>
              </a:spcBef>
            </a:pPr>
            <a:r>
              <a:rPr sz="1100" dirty="0">
                <a:solidFill>
                  <a:srgbClr val="FFFFFF"/>
                </a:solidFill>
                <a:latin typeface="Raleway-ExtraLight"/>
                <a:cs typeface="Raleway-ExtraLight"/>
              </a:rPr>
              <a:t>Community</a:t>
            </a:r>
            <a:r>
              <a:rPr sz="1100" spc="-30" dirty="0">
                <a:solidFill>
                  <a:srgbClr val="FFFFFF"/>
                </a:solidFill>
                <a:latin typeface="Raleway-ExtraLight"/>
                <a:cs typeface="Raleway-ExtraLight"/>
              </a:rPr>
              <a:t> </a:t>
            </a:r>
            <a:r>
              <a:rPr sz="1100" dirty="0">
                <a:solidFill>
                  <a:srgbClr val="FFFFFF"/>
                </a:solidFill>
                <a:latin typeface="Raleway-ExtraLight"/>
                <a:cs typeface="Raleway-ExtraLight"/>
              </a:rPr>
              <a:t>li</a:t>
            </a:r>
            <a:r>
              <a:rPr sz="1100" spc="-30" dirty="0">
                <a:solidFill>
                  <a:srgbClr val="FFFFFF"/>
                </a:solidFill>
                <a:latin typeface="Raleway-ExtraLight"/>
                <a:cs typeface="Raleway-ExtraLight"/>
              </a:rPr>
              <a:t>f</a:t>
            </a:r>
            <a:r>
              <a:rPr sz="1100" dirty="0">
                <a:solidFill>
                  <a:srgbClr val="FFFFFF"/>
                </a:solidFill>
                <a:latin typeface="Raleway-ExtraLight"/>
                <a:cs typeface="Raleway-ExtraLight"/>
              </a:rPr>
              <a:t>e  </a:t>
            </a:r>
            <a:r>
              <a:rPr sz="11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Handball </a:t>
            </a:r>
            <a:r>
              <a:rPr sz="1100" dirty="0">
                <a:solidFill>
                  <a:srgbClr val="FFFFFF"/>
                </a:solidFill>
                <a:latin typeface="Raleway-ExtraLight"/>
                <a:cs typeface="Raleway-ExtraLight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Running</a:t>
            </a:r>
            <a:endParaRPr sz="1100">
              <a:latin typeface="Raleway-ExtraLight"/>
              <a:cs typeface="Raleway-ExtraLight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100" spc="-10" dirty="0">
                <a:solidFill>
                  <a:srgbClr val="FFFFFF"/>
                </a:solidFill>
                <a:latin typeface="Raleway-ExtraLight"/>
                <a:cs typeface="Raleway-ExtraLight"/>
              </a:rPr>
              <a:t>N</a:t>
            </a:r>
            <a:r>
              <a:rPr sz="1100" spc="-20" dirty="0">
                <a:solidFill>
                  <a:srgbClr val="FFFFFF"/>
                </a:solidFill>
                <a:latin typeface="Raleway-ExtraLight"/>
                <a:cs typeface="Raleway-ExtraLight"/>
              </a:rPr>
              <a:t>e</a:t>
            </a:r>
            <a:r>
              <a:rPr sz="1100" dirty="0">
                <a:solidFill>
                  <a:srgbClr val="FFFFFF"/>
                </a:solidFill>
                <a:latin typeface="Raleway-ExtraLight"/>
                <a:cs typeface="Raleway-ExtraLight"/>
              </a:rPr>
              <a:t>w</a:t>
            </a:r>
            <a:r>
              <a:rPr sz="1100" spc="-30" dirty="0">
                <a:solidFill>
                  <a:srgbClr val="FFFFFF"/>
                </a:solidFill>
                <a:latin typeface="Raleway-ExtraLight"/>
                <a:cs typeface="Raleway-ExtraLight"/>
              </a:rPr>
              <a:t> </a:t>
            </a:r>
            <a:r>
              <a:rPr sz="1100" spc="-15" dirty="0">
                <a:solidFill>
                  <a:srgbClr val="FFFFFF"/>
                </a:solidFill>
                <a:latin typeface="Raleway-ExtraLight"/>
                <a:cs typeface="Raleway-ExtraLight"/>
              </a:rPr>
              <a:t>t</a:t>
            </a:r>
            <a:r>
              <a:rPr sz="1100" dirty="0">
                <a:solidFill>
                  <a:srgbClr val="FFFFFF"/>
                </a:solidFill>
                <a:latin typeface="Raleway-ExtraLight"/>
                <a:cs typeface="Raleway-ExtraLight"/>
              </a:rPr>
              <a:t>echnology</a:t>
            </a:r>
            <a:endParaRPr sz="1100">
              <a:latin typeface="Raleway-ExtraLight"/>
              <a:cs typeface="Raleway-ExtraLigh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29759" y="8551034"/>
            <a:ext cx="786765" cy="1757680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400" i="1" spc="65" dirty="0">
                <a:solidFill>
                  <a:srgbClr val="FFFFFF"/>
                </a:solidFill>
                <a:latin typeface="Oswald"/>
                <a:cs typeface="Oswald"/>
              </a:rPr>
              <a:t>ASSETS</a:t>
            </a:r>
            <a:endParaRPr sz="1400">
              <a:latin typeface="Oswald"/>
              <a:cs typeface="Oswald"/>
            </a:endParaRPr>
          </a:p>
          <a:p>
            <a:pPr marL="12700" marR="5080">
              <a:lnSpc>
                <a:spcPct val="136400"/>
              </a:lnSpc>
              <a:spcBef>
                <a:spcPts val="240"/>
              </a:spcBef>
            </a:pPr>
            <a:r>
              <a:rPr sz="11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Marketing </a:t>
            </a:r>
            <a:r>
              <a:rPr sz="1100" dirty="0">
                <a:solidFill>
                  <a:srgbClr val="FFFFFF"/>
                </a:solidFill>
                <a:latin typeface="Raleway-ExtraLight"/>
                <a:cs typeface="Raleway-ExtraLight"/>
              </a:rPr>
              <a:t> Obser</a:t>
            </a:r>
            <a:r>
              <a:rPr sz="1100" spc="-15" dirty="0">
                <a:solidFill>
                  <a:srgbClr val="FFFFFF"/>
                </a:solidFill>
                <a:latin typeface="Raleway-ExtraLight"/>
                <a:cs typeface="Raleway-ExtraLight"/>
              </a:rPr>
              <a:t>v</a:t>
            </a:r>
            <a:r>
              <a:rPr sz="11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a</a:t>
            </a:r>
            <a:r>
              <a:rPr sz="1100" dirty="0">
                <a:solidFill>
                  <a:srgbClr val="FFFFFF"/>
                </a:solidFill>
                <a:latin typeface="Raleway-ExtraLight"/>
                <a:cs typeface="Raleway-ExtraLight"/>
              </a:rPr>
              <a:t>tion  </a:t>
            </a:r>
            <a:r>
              <a:rPr sz="11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Creativity </a:t>
            </a:r>
            <a:r>
              <a:rPr sz="1100" dirty="0">
                <a:solidFill>
                  <a:srgbClr val="FFFFFF"/>
                </a:solidFill>
                <a:latin typeface="Raleway-ExtraLight"/>
                <a:cs typeface="Raleway-ExtraLight"/>
              </a:rPr>
              <a:t> Discipline </a:t>
            </a:r>
            <a:r>
              <a:rPr sz="1100" spc="5" dirty="0">
                <a:solidFill>
                  <a:srgbClr val="FFFFFF"/>
                </a:solidFill>
                <a:latin typeface="Raleway-ExtraLight"/>
                <a:cs typeface="Raleway-ExtraLight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Projects </a:t>
            </a:r>
            <a:r>
              <a:rPr sz="1100" dirty="0">
                <a:solidFill>
                  <a:srgbClr val="FFFFFF"/>
                </a:solidFill>
                <a:latin typeface="Raleway-ExtraLight"/>
                <a:cs typeface="Raleway-ExtraLight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Raleway-ExtraLight"/>
                <a:cs typeface="Raleway-ExtraLight"/>
              </a:rPr>
              <a:t>Autonomy</a:t>
            </a:r>
            <a:endParaRPr sz="1100">
              <a:latin typeface="Raleway-ExtraLight"/>
              <a:cs typeface="Raleway-ExtraLigh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26710" y="7254898"/>
            <a:ext cx="713105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6400"/>
              </a:lnSpc>
              <a:spcBef>
                <a:spcPts val="100"/>
              </a:spcBef>
            </a:pP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Ph</a:t>
            </a:r>
            <a:r>
              <a:rPr sz="11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o</a:t>
            </a:r>
            <a:r>
              <a:rPr sz="1100" spc="-15" dirty="0">
                <a:solidFill>
                  <a:srgbClr val="231F20"/>
                </a:solidFill>
                <a:latin typeface="Raleway-ExtraLight"/>
                <a:cs typeface="Raleway-ExtraLight"/>
              </a:rPr>
              <a:t>t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oshop  </a:t>
            </a:r>
            <a:r>
              <a:rPr sz="1100" spc="-75" dirty="0">
                <a:solidFill>
                  <a:srgbClr val="231F20"/>
                </a:solidFill>
                <a:latin typeface="Raleway-ExtraLight"/>
                <a:cs typeface="Raleway-ExtraLight"/>
              </a:rPr>
              <a:t>W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o</a:t>
            </a:r>
            <a:r>
              <a:rPr sz="1100" spc="-30" dirty="0">
                <a:solidFill>
                  <a:srgbClr val="231F20"/>
                </a:solidFill>
                <a:latin typeface="Raleway-ExtraLight"/>
                <a:cs typeface="Raleway-ExtraLight"/>
              </a:rPr>
              <a:t>r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dp</a:t>
            </a:r>
            <a:r>
              <a:rPr sz="1100" spc="-30" dirty="0">
                <a:solidFill>
                  <a:srgbClr val="231F20"/>
                </a:solidFill>
                <a:latin typeface="Raleway-ExtraLight"/>
                <a:cs typeface="Raleway-ExtraLight"/>
              </a:rPr>
              <a:t>r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ess  MMW </a:t>
            </a:r>
            <a:r>
              <a:rPr sz="1100" spc="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MNR</a:t>
            </a:r>
            <a:endParaRPr sz="1100">
              <a:latin typeface="Raleway-ExtraLight"/>
              <a:cs typeface="Raleway-ExtraLight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OCR</a:t>
            </a:r>
            <a:endParaRPr sz="1100">
              <a:latin typeface="Raleway-ExtraLight"/>
              <a:cs typeface="Raleway-ExtraLigh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55180" y="592149"/>
            <a:ext cx="3790315" cy="6753859"/>
          </a:xfrm>
          <a:custGeom>
            <a:avLst/>
            <a:gdLst/>
            <a:ahLst/>
            <a:cxnLst/>
            <a:rect l="l" t="t" r="r" b="b"/>
            <a:pathLst>
              <a:path w="3790315" h="6753859">
                <a:moveTo>
                  <a:pt x="335737" y="6591719"/>
                </a:moveTo>
                <a:lnTo>
                  <a:pt x="329742" y="6548679"/>
                </a:lnTo>
                <a:lnTo>
                  <a:pt x="312813" y="6509994"/>
                </a:lnTo>
                <a:lnTo>
                  <a:pt x="286562" y="6477228"/>
                </a:lnTo>
                <a:lnTo>
                  <a:pt x="252590" y="6451917"/>
                </a:lnTo>
                <a:lnTo>
                  <a:pt x="212496" y="6435598"/>
                </a:lnTo>
                <a:lnTo>
                  <a:pt x="167868" y="6429807"/>
                </a:lnTo>
                <a:lnTo>
                  <a:pt x="123240" y="6435598"/>
                </a:lnTo>
                <a:lnTo>
                  <a:pt x="83146" y="6451917"/>
                </a:lnTo>
                <a:lnTo>
                  <a:pt x="49161" y="6477228"/>
                </a:lnTo>
                <a:lnTo>
                  <a:pt x="22923" y="6509994"/>
                </a:lnTo>
                <a:lnTo>
                  <a:pt x="5994" y="6548679"/>
                </a:lnTo>
                <a:lnTo>
                  <a:pt x="0" y="6591719"/>
                </a:lnTo>
                <a:lnTo>
                  <a:pt x="5994" y="6634759"/>
                </a:lnTo>
                <a:lnTo>
                  <a:pt x="22923" y="6673443"/>
                </a:lnTo>
                <a:lnTo>
                  <a:pt x="49161" y="6706209"/>
                </a:lnTo>
                <a:lnTo>
                  <a:pt x="83146" y="6731521"/>
                </a:lnTo>
                <a:lnTo>
                  <a:pt x="123240" y="6747853"/>
                </a:lnTo>
                <a:lnTo>
                  <a:pt x="167868" y="6753631"/>
                </a:lnTo>
                <a:lnTo>
                  <a:pt x="212496" y="6747853"/>
                </a:lnTo>
                <a:lnTo>
                  <a:pt x="252590" y="6731521"/>
                </a:lnTo>
                <a:lnTo>
                  <a:pt x="286562" y="6706209"/>
                </a:lnTo>
                <a:lnTo>
                  <a:pt x="312813" y="6673443"/>
                </a:lnTo>
                <a:lnTo>
                  <a:pt x="329742" y="6634759"/>
                </a:lnTo>
                <a:lnTo>
                  <a:pt x="335737" y="6591719"/>
                </a:lnTo>
                <a:close/>
              </a:path>
              <a:path w="3790315" h="6753859">
                <a:moveTo>
                  <a:pt x="3784777" y="2530970"/>
                </a:moveTo>
                <a:lnTo>
                  <a:pt x="3778783" y="2487930"/>
                </a:lnTo>
                <a:lnTo>
                  <a:pt x="3761854" y="2449245"/>
                </a:lnTo>
                <a:lnTo>
                  <a:pt x="3735616" y="2416479"/>
                </a:lnTo>
                <a:lnTo>
                  <a:pt x="3701631" y="2391156"/>
                </a:lnTo>
                <a:lnTo>
                  <a:pt x="3661537" y="2374836"/>
                </a:lnTo>
                <a:lnTo>
                  <a:pt x="3616909" y="2369058"/>
                </a:lnTo>
                <a:lnTo>
                  <a:pt x="3572281" y="2374836"/>
                </a:lnTo>
                <a:lnTo>
                  <a:pt x="3532187" y="2391156"/>
                </a:lnTo>
                <a:lnTo>
                  <a:pt x="3498215" y="2416479"/>
                </a:lnTo>
                <a:lnTo>
                  <a:pt x="3471964" y="2449245"/>
                </a:lnTo>
                <a:lnTo>
                  <a:pt x="3455035" y="2487930"/>
                </a:lnTo>
                <a:lnTo>
                  <a:pt x="3449040" y="2530970"/>
                </a:lnTo>
                <a:lnTo>
                  <a:pt x="3455035" y="2574010"/>
                </a:lnTo>
                <a:lnTo>
                  <a:pt x="3471964" y="2612682"/>
                </a:lnTo>
                <a:lnTo>
                  <a:pt x="3498215" y="2645460"/>
                </a:lnTo>
                <a:lnTo>
                  <a:pt x="3532187" y="2670772"/>
                </a:lnTo>
                <a:lnTo>
                  <a:pt x="3572281" y="2687091"/>
                </a:lnTo>
                <a:lnTo>
                  <a:pt x="3616909" y="2692882"/>
                </a:lnTo>
                <a:lnTo>
                  <a:pt x="3661537" y="2687091"/>
                </a:lnTo>
                <a:lnTo>
                  <a:pt x="3701631" y="2670772"/>
                </a:lnTo>
                <a:lnTo>
                  <a:pt x="3735616" y="2645460"/>
                </a:lnTo>
                <a:lnTo>
                  <a:pt x="3761854" y="2612682"/>
                </a:lnTo>
                <a:lnTo>
                  <a:pt x="3778783" y="2574010"/>
                </a:lnTo>
                <a:lnTo>
                  <a:pt x="3784777" y="2530970"/>
                </a:lnTo>
                <a:close/>
              </a:path>
              <a:path w="3790315" h="6753859">
                <a:moveTo>
                  <a:pt x="3787546" y="6573888"/>
                </a:moveTo>
                <a:lnTo>
                  <a:pt x="3781552" y="6530848"/>
                </a:lnTo>
                <a:lnTo>
                  <a:pt x="3764623" y="6492164"/>
                </a:lnTo>
                <a:lnTo>
                  <a:pt x="3738372" y="6459398"/>
                </a:lnTo>
                <a:lnTo>
                  <a:pt x="3704399" y="6434074"/>
                </a:lnTo>
                <a:lnTo>
                  <a:pt x="3664305" y="6417754"/>
                </a:lnTo>
                <a:lnTo>
                  <a:pt x="3619677" y="6411976"/>
                </a:lnTo>
                <a:lnTo>
                  <a:pt x="3575050" y="6417754"/>
                </a:lnTo>
                <a:lnTo>
                  <a:pt x="3534956" y="6434074"/>
                </a:lnTo>
                <a:lnTo>
                  <a:pt x="3500971" y="6459398"/>
                </a:lnTo>
                <a:lnTo>
                  <a:pt x="3474732" y="6492164"/>
                </a:lnTo>
                <a:lnTo>
                  <a:pt x="3457803" y="6530848"/>
                </a:lnTo>
                <a:lnTo>
                  <a:pt x="3451809" y="6573888"/>
                </a:lnTo>
                <a:lnTo>
                  <a:pt x="3457803" y="6616928"/>
                </a:lnTo>
                <a:lnTo>
                  <a:pt x="3474732" y="6655600"/>
                </a:lnTo>
                <a:lnTo>
                  <a:pt x="3500971" y="6688379"/>
                </a:lnTo>
                <a:lnTo>
                  <a:pt x="3534956" y="6713690"/>
                </a:lnTo>
                <a:lnTo>
                  <a:pt x="3575050" y="6730009"/>
                </a:lnTo>
                <a:lnTo>
                  <a:pt x="3619677" y="6735800"/>
                </a:lnTo>
                <a:lnTo>
                  <a:pt x="3664305" y="6730009"/>
                </a:lnTo>
                <a:lnTo>
                  <a:pt x="3704399" y="6713690"/>
                </a:lnTo>
                <a:lnTo>
                  <a:pt x="3738372" y="6688379"/>
                </a:lnTo>
                <a:lnTo>
                  <a:pt x="3764623" y="6655600"/>
                </a:lnTo>
                <a:lnTo>
                  <a:pt x="3781552" y="6616928"/>
                </a:lnTo>
                <a:lnTo>
                  <a:pt x="3787546" y="6573888"/>
                </a:lnTo>
                <a:close/>
              </a:path>
              <a:path w="3790315" h="6753859">
                <a:moveTo>
                  <a:pt x="3789692" y="161912"/>
                </a:moveTo>
                <a:lnTo>
                  <a:pt x="3783685" y="118872"/>
                </a:lnTo>
                <a:lnTo>
                  <a:pt x="3766769" y="80187"/>
                </a:lnTo>
                <a:lnTo>
                  <a:pt x="3740518" y="47421"/>
                </a:lnTo>
                <a:lnTo>
                  <a:pt x="3706545" y="22110"/>
                </a:lnTo>
                <a:lnTo>
                  <a:pt x="3666439" y="5791"/>
                </a:lnTo>
                <a:lnTo>
                  <a:pt x="3621824" y="0"/>
                </a:lnTo>
                <a:lnTo>
                  <a:pt x="3577196" y="5791"/>
                </a:lnTo>
                <a:lnTo>
                  <a:pt x="3537089" y="22110"/>
                </a:lnTo>
                <a:lnTo>
                  <a:pt x="3503117" y="47421"/>
                </a:lnTo>
                <a:lnTo>
                  <a:pt x="3476866" y="80187"/>
                </a:lnTo>
                <a:lnTo>
                  <a:pt x="3459950" y="118872"/>
                </a:lnTo>
                <a:lnTo>
                  <a:pt x="3453955" y="161912"/>
                </a:lnTo>
                <a:lnTo>
                  <a:pt x="3459950" y="204952"/>
                </a:lnTo>
                <a:lnTo>
                  <a:pt x="3476866" y="243636"/>
                </a:lnTo>
                <a:lnTo>
                  <a:pt x="3503117" y="276402"/>
                </a:lnTo>
                <a:lnTo>
                  <a:pt x="3537089" y="301713"/>
                </a:lnTo>
                <a:lnTo>
                  <a:pt x="3577196" y="318046"/>
                </a:lnTo>
                <a:lnTo>
                  <a:pt x="3621824" y="323824"/>
                </a:lnTo>
                <a:lnTo>
                  <a:pt x="3666439" y="318046"/>
                </a:lnTo>
                <a:lnTo>
                  <a:pt x="3706545" y="301713"/>
                </a:lnTo>
                <a:lnTo>
                  <a:pt x="3740518" y="276402"/>
                </a:lnTo>
                <a:lnTo>
                  <a:pt x="3766769" y="243636"/>
                </a:lnTo>
                <a:lnTo>
                  <a:pt x="3783685" y="204952"/>
                </a:lnTo>
                <a:lnTo>
                  <a:pt x="3789692" y="161912"/>
                </a:lnTo>
                <a:close/>
              </a:path>
            </a:pathLst>
          </a:custGeom>
          <a:solidFill>
            <a:srgbClr val="E7C8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894299" y="3314457"/>
            <a:ext cx="3397250" cy="3974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4830" marR="526415" indent="-532765">
              <a:lnSpc>
                <a:spcPct val="100000"/>
              </a:lnSpc>
              <a:spcBef>
                <a:spcPts val="100"/>
              </a:spcBef>
              <a:tabLst>
                <a:tab pos="544830" algn="l"/>
              </a:tabLst>
            </a:pPr>
            <a:r>
              <a:rPr sz="1000" b="1" dirty="0">
                <a:solidFill>
                  <a:srgbClr val="231F20"/>
                </a:solidFill>
                <a:latin typeface="Raleway-SemiBold"/>
                <a:cs typeface="Raleway-SemiBold"/>
              </a:rPr>
              <a:t>2016	</a:t>
            </a:r>
            <a:r>
              <a:rPr sz="1100" b="1" spc="-15" dirty="0">
                <a:solidFill>
                  <a:srgbClr val="231F20"/>
                </a:solidFill>
                <a:latin typeface="Raleway-SemiBold"/>
                <a:cs typeface="Raleway-SemiBold"/>
              </a:rPr>
              <a:t>TF1</a:t>
            </a:r>
            <a:r>
              <a:rPr sz="1100" b="1" spc="-45" dirty="0">
                <a:solidFill>
                  <a:srgbClr val="231F20"/>
                </a:solidFill>
                <a:latin typeface="Raleway-SemiBold"/>
                <a:cs typeface="Raleway-SemiBold"/>
              </a:rPr>
              <a:t> </a:t>
            </a:r>
            <a:r>
              <a:rPr sz="1100" b="1" spc="-5" dirty="0">
                <a:solidFill>
                  <a:srgbClr val="231F20"/>
                </a:solidFill>
                <a:latin typeface="Raleway-SemiBold"/>
                <a:cs typeface="Raleway-SemiBold"/>
              </a:rPr>
              <a:t>SA,</a:t>
            </a:r>
            <a:r>
              <a:rPr sz="1100" b="1" spc="-40" dirty="0">
                <a:solidFill>
                  <a:srgbClr val="231F20"/>
                </a:solidFill>
                <a:latin typeface="Raleway-SemiBold"/>
                <a:cs typeface="Raleway-SemiBold"/>
              </a:rPr>
              <a:t> </a:t>
            </a:r>
            <a:r>
              <a:rPr sz="1100" b="1" spc="-5" dirty="0">
                <a:solidFill>
                  <a:srgbClr val="231F20"/>
                </a:solidFill>
                <a:latin typeface="Raleway-SemiBold"/>
                <a:cs typeface="Raleway-SemiBold"/>
              </a:rPr>
              <a:t>BOULOGNE-BILLANCOURT </a:t>
            </a:r>
            <a:r>
              <a:rPr sz="1100" b="1" spc="-254" dirty="0">
                <a:solidFill>
                  <a:srgbClr val="231F20"/>
                </a:solidFill>
                <a:latin typeface="Raleway-SemiBold"/>
                <a:cs typeface="Raleway-SemiBold"/>
              </a:rPr>
              <a:t> </a:t>
            </a:r>
            <a:r>
              <a:rPr sz="1100" b="1" spc="-20" dirty="0">
                <a:solidFill>
                  <a:srgbClr val="231F20"/>
                </a:solidFill>
                <a:latin typeface="Raleway-SemiBold"/>
                <a:cs typeface="Raleway-SemiBold"/>
              </a:rPr>
              <a:t>INNOVATION </a:t>
            </a:r>
            <a:r>
              <a:rPr sz="1100" b="1" spc="-10" dirty="0">
                <a:solidFill>
                  <a:srgbClr val="231F20"/>
                </a:solidFill>
                <a:latin typeface="Raleway-SemiBold"/>
                <a:cs typeface="Raleway-SemiBold"/>
              </a:rPr>
              <a:t>PROJECT</a:t>
            </a:r>
            <a:r>
              <a:rPr sz="1100" b="1" spc="-50" dirty="0">
                <a:solidFill>
                  <a:srgbClr val="231F20"/>
                </a:solidFill>
                <a:latin typeface="Raleway-SemiBold"/>
                <a:cs typeface="Raleway-SemiBold"/>
              </a:rPr>
              <a:t> </a:t>
            </a:r>
            <a:r>
              <a:rPr sz="1100" b="1" spc="-5" dirty="0">
                <a:solidFill>
                  <a:srgbClr val="231F20"/>
                </a:solidFill>
                <a:latin typeface="Raleway-SemiBold"/>
                <a:cs typeface="Raleway-SemiBold"/>
              </a:rPr>
              <a:t>MANAGER</a:t>
            </a:r>
            <a:endParaRPr sz="1100">
              <a:latin typeface="Raleway-SemiBold"/>
              <a:cs typeface="Raleway-SemiBold"/>
            </a:endParaRPr>
          </a:p>
          <a:p>
            <a:pPr marL="544830">
              <a:lnSpc>
                <a:spcPts val="1255"/>
              </a:lnSpc>
            </a:pP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Researching</a:t>
            </a:r>
            <a:r>
              <a:rPr sz="1100" spc="-1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development</a:t>
            </a:r>
            <a:r>
              <a:rPr sz="1100" spc="-1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opportunities</a:t>
            </a:r>
            <a:r>
              <a:rPr sz="1100" spc="-1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for</a:t>
            </a:r>
            <a:endParaRPr sz="1100">
              <a:latin typeface="Raleway-ExtraLight"/>
              <a:cs typeface="Raleway-ExtraLight"/>
            </a:endParaRPr>
          </a:p>
          <a:p>
            <a:pPr marL="544830" marR="81915">
              <a:lnSpc>
                <a:spcPct val="100000"/>
              </a:lnSpc>
            </a:pP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the</a:t>
            </a:r>
            <a:r>
              <a:rPr sz="1100" spc="-4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15" dirty="0">
                <a:solidFill>
                  <a:srgbClr val="231F20"/>
                </a:solidFill>
                <a:latin typeface="Raleway-ExtraLight"/>
                <a:cs typeface="Raleway-ExtraLight"/>
              </a:rPr>
              <a:t>TF1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group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regarding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present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and 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future 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 modes</a:t>
            </a:r>
            <a:r>
              <a:rPr sz="1100" spc="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of consumption</a:t>
            </a:r>
            <a:r>
              <a:rPr sz="1100" spc="27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30" dirty="0">
                <a:solidFill>
                  <a:srgbClr val="231F20"/>
                </a:solidFill>
                <a:latin typeface="Raleway-ExtraLight"/>
                <a:cs typeface="Raleway-ExtraLight"/>
              </a:rPr>
              <a:t>(OTT,</a:t>
            </a:r>
            <a:r>
              <a:rPr sz="1100" spc="22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retargeting, 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2d 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screen...); Proposing 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and 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deveoping </a:t>
            </a:r>
            <a:r>
              <a:rPr sz="11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new 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produits 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and </a:t>
            </a:r>
            <a:r>
              <a:rPr sz="11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innovative 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solutions; 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Proposer 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et développer 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de 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nouveaux produits et 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des </a:t>
            </a:r>
            <a:r>
              <a:rPr sz="1100" spc="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solutions</a:t>
            </a:r>
            <a:r>
              <a:rPr sz="11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 innovantes;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Ensure</a:t>
            </a:r>
            <a:r>
              <a:rPr sz="1100" spc="-4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TF1’s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corporate </a:t>
            </a:r>
            <a:r>
              <a:rPr sz="1100" spc="-27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innovation; Managing 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a 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team of 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3 people </a:t>
            </a:r>
            <a:r>
              <a:rPr sz="1100" spc="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b="1" spc="-10" dirty="0">
                <a:solidFill>
                  <a:srgbClr val="231F20"/>
                </a:solidFill>
                <a:latin typeface="Raleway-SemiBold"/>
                <a:cs typeface="Raleway-SemiBold"/>
              </a:rPr>
              <a:t>Achievements</a:t>
            </a:r>
            <a:r>
              <a:rPr sz="11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: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Created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and launched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the </a:t>
            </a:r>
            <a:r>
              <a:rPr sz="1100" spc="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15" dirty="0">
                <a:solidFill>
                  <a:srgbClr val="231F20"/>
                </a:solidFill>
                <a:latin typeface="Raleway-ExtraLight"/>
                <a:cs typeface="Raleway-ExtraLight"/>
              </a:rPr>
              <a:t>TF1</a:t>
            </a:r>
            <a:r>
              <a:rPr sz="11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 Group’s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1st</a:t>
            </a:r>
            <a:r>
              <a:rPr sz="11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 crowdsourcing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challenge </a:t>
            </a:r>
            <a:r>
              <a:rPr sz="1100" spc="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(2012); 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Developed 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and launched the </a:t>
            </a:r>
            <a:r>
              <a:rPr sz="11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MYTF1 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Connect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application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(2011-2013)</a:t>
            </a:r>
            <a:endParaRPr sz="1100">
              <a:latin typeface="Raleway-ExtraLight"/>
              <a:cs typeface="Raleway-ExtraLight"/>
            </a:endParaRPr>
          </a:p>
          <a:p>
            <a:pPr marL="544830" marR="5080" indent="-532765">
              <a:lnSpc>
                <a:spcPct val="100000"/>
              </a:lnSpc>
              <a:spcBef>
                <a:spcPts val="795"/>
              </a:spcBef>
              <a:tabLst>
                <a:tab pos="544830" algn="l"/>
              </a:tabLst>
            </a:pPr>
            <a:r>
              <a:rPr sz="1100" b="1" dirty="0">
                <a:solidFill>
                  <a:srgbClr val="231F20"/>
                </a:solidFill>
                <a:latin typeface="Raleway-SemiBold"/>
                <a:cs typeface="Raleway-SemiBold"/>
              </a:rPr>
              <a:t>2015	VIEW</a:t>
            </a:r>
            <a:r>
              <a:rPr sz="1100" b="1" spc="-50" dirty="0">
                <a:solidFill>
                  <a:srgbClr val="231F20"/>
                </a:solidFill>
                <a:latin typeface="Raleway-SemiBold"/>
                <a:cs typeface="Raleway-SemiBold"/>
              </a:rPr>
              <a:t> </a:t>
            </a:r>
            <a:r>
              <a:rPr sz="1100" b="1" dirty="0">
                <a:solidFill>
                  <a:srgbClr val="231F20"/>
                </a:solidFill>
                <a:latin typeface="Raleway-SemiBold"/>
                <a:cs typeface="Raleway-SemiBold"/>
              </a:rPr>
              <a:t>ON,</a:t>
            </a:r>
            <a:r>
              <a:rPr sz="1100" b="1" spc="-5" dirty="0">
                <a:solidFill>
                  <a:srgbClr val="231F20"/>
                </a:solidFill>
                <a:latin typeface="Raleway-SemiBold"/>
                <a:cs typeface="Raleway-SemiBold"/>
              </a:rPr>
              <a:t> </a:t>
            </a:r>
            <a:r>
              <a:rPr sz="1100" b="1" spc="-25" dirty="0">
                <a:solidFill>
                  <a:srgbClr val="231F20"/>
                </a:solidFill>
                <a:latin typeface="Raleway-SemiBold"/>
                <a:cs typeface="Raleway-SemiBold"/>
              </a:rPr>
              <a:t>Malakoff,</a:t>
            </a:r>
            <a:r>
              <a:rPr sz="1100" b="1" spc="-5" dirty="0">
                <a:solidFill>
                  <a:srgbClr val="231F20"/>
                </a:solidFill>
                <a:latin typeface="Raleway-SemiBold"/>
                <a:cs typeface="Raleway-SemiBold"/>
              </a:rPr>
              <a:t> </a:t>
            </a:r>
            <a:r>
              <a:rPr sz="1100" b="1" dirty="0">
                <a:solidFill>
                  <a:srgbClr val="231F20"/>
                </a:solidFill>
                <a:latin typeface="Raleway-SemiBold"/>
                <a:cs typeface="Raleway-SemiBold"/>
              </a:rPr>
              <a:t>Digital</a:t>
            </a:r>
            <a:r>
              <a:rPr sz="1100" b="1" spc="-40" dirty="0">
                <a:solidFill>
                  <a:srgbClr val="231F20"/>
                </a:solidFill>
                <a:latin typeface="Raleway-SemiBold"/>
                <a:cs typeface="Raleway-SemiBold"/>
              </a:rPr>
              <a:t> </a:t>
            </a:r>
            <a:r>
              <a:rPr sz="1100" b="1" spc="-5" dirty="0">
                <a:solidFill>
                  <a:srgbClr val="231F20"/>
                </a:solidFill>
                <a:latin typeface="Raleway-SemiBold"/>
                <a:cs typeface="Raleway-SemiBold"/>
              </a:rPr>
              <a:t>Project</a:t>
            </a:r>
            <a:r>
              <a:rPr sz="1100" b="1" spc="-10" dirty="0">
                <a:solidFill>
                  <a:srgbClr val="231F20"/>
                </a:solidFill>
                <a:latin typeface="Raleway-SemiBold"/>
                <a:cs typeface="Raleway-SemiBold"/>
              </a:rPr>
              <a:t> </a:t>
            </a:r>
            <a:r>
              <a:rPr sz="1100" b="1" spc="-5" dirty="0">
                <a:solidFill>
                  <a:srgbClr val="231F20"/>
                </a:solidFill>
                <a:latin typeface="Raleway-SemiBold"/>
                <a:cs typeface="Raleway-SemiBold"/>
              </a:rPr>
              <a:t>Manager </a:t>
            </a:r>
            <a:r>
              <a:rPr sz="1100" b="1" spc="-254" dirty="0">
                <a:solidFill>
                  <a:srgbClr val="231F20"/>
                </a:solidFill>
                <a:latin typeface="Raleway-SemiBold"/>
                <a:cs typeface="Raleway-SemiBold"/>
              </a:rPr>
              <a:t> </a:t>
            </a:r>
            <a:r>
              <a:rPr sz="1100" b="1" spc="-5" dirty="0">
                <a:solidFill>
                  <a:srgbClr val="231F20"/>
                </a:solidFill>
                <a:latin typeface="Raleway-SemiBold"/>
                <a:cs typeface="Raleway-SemiBold"/>
              </a:rPr>
              <a:t>(placement</a:t>
            </a:r>
            <a:r>
              <a:rPr sz="1100" b="1" spc="-40" dirty="0">
                <a:solidFill>
                  <a:srgbClr val="231F20"/>
                </a:solidFill>
                <a:latin typeface="Raleway-SemiBold"/>
                <a:cs typeface="Raleway-SemiBold"/>
              </a:rPr>
              <a:t> </a:t>
            </a:r>
            <a:r>
              <a:rPr sz="1100" b="1" spc="-5" dirty="0">
                <a:solidFill>
                  <a:srgbClr val="231F20"/>
                </a:solidFill>
                <a:latin typeface="Raleway-SemiBold"/>
                <a:cs typeface="Raleway-SemiBold"/>
              </a:rPr>
              <a:t>year)</a:t>
            </a:r>
            <a:endParaRPr sz="1100">
              <a:latin typeface="Raleway-SemiBold"/>
              <a:cs typeface="Raleway-SemiBold"/>
            </a:endParaRPr>
          </a:p>
          <a:p>
            <a:pPr marL="544830" marR="171450">
              <a:lnSpc>
                <a:spcPct val="100000"/>
              </a:lnSpc>
            </a:pP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Managed projects 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and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gave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strategic 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recommendations;</a:t>
            </a:r>
            <a:r>
              <a:rPr sz="1100" spc="-1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Create 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and</a:t>
            </a:r>
            <a:r>
              <a:rPr sz="11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launch</a:t>
            </a:r>
            <a:r>
              <a:rPr sz="11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 new </a:t>
            </a:r>
            <a:r>
              <a:rPr sz="1100" spc="-27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20" dirty="0">
                <a:solidFill>
                  <a:srgbClr val="231F20"/>
                </a:solidFill>
                <a:latin typeface="Raleway-ExtraLight"/>
                <a:cs typeface="Raleway-ExtraLight"/>
              </a:rPr>
              <a:t>offers</a:t>
            </a:r>
            <a:endParaRPr sz="1100">
              <a:latin typeface="Raleway-ExtraLight"/>
              <a:cs typeface="Raleway-ExtraLight"/>
            </a:endParaRPr>
          </a:p>
          <a:p>
            <a:pPr marL="544830" marR="223520">
              <a:lnSpc>
                <a:spcPct val="100000"/>
              </a:lnSpc>
            </a:pPr>
            <a:r>
              <a:rPr sz="1100" b="1" spc="-10" dirty="0">
                <a:solidFill>
                  <a:srgbClr val="231F20"/>
                </a:solidFill>
                <a:latin typeface="Raleway-SemiBold"/>
                <a:cs typeface="Raleway-SemiBold"/>
              </a:rPr>
              <a:t>Achievements:</a:t>
            </a:r>
            <a:r>
              <a:rPr sz="1100" b="1" spc="5" dirty="0">
                <a:solidFill>
                  <a:srgbClr val="231F20"/>
                </a:solidFill>
                <a:latin typeface="Raleway-SemiBold"/>
                <a:cs typeface="Raleway-SemiBold"/>
              </a:rPr>
              <a:t> </a:t>
            </a:r>
            <a:r>
              <a:rPr sz="1100" spc="-15" dirty="0">
                <a:solidFill>
                  <a:srgbClr val="231F20"/>
                </a:solidFill>
                <a:latin typeface="Raleway-ExtraLight"/>
                <a:cs typeface="Raleway-ExtraLight"/>
              </a:rPr>
              <a:t>+40%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in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revenue;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acquired </a:t>
            </a:r>
            <a:r>
              <a:rPr sz="1100" spc="-27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new</a:t>
            </a:r>
            <a:r>
              <a:rPr sz="1100" spc="-3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clients:</a:t>
            </a:r>
            <a:r>
              <a:rPr sz="1100" spc="-3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25" dirty="0">
                <a:solidFill>
                  <a:srgbClr val="231F20"/>
                </a:solidFill>
                <a:latin typeface="Raleway-ExtraLight"/>
                <a:cs typeface="Raleway-ExtraLight"/>
              </a:rPr>
              <a:t>Total,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Sanofi,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Brisach</a:t>
            </a:r>
            <a:endParaRPr sz="1100">
              <a:latin typeface="Raleway-ExtraLight"/>
              <a:cs typeface="Raleway-ExtraLight"/>
            </a:endParaRPr>
          </a:p>
          <a:p>
            <a:pPr marL="544830">
              <a:lnSpc>
                <a:spcPct val="100000"/>
              </a:lnSpc>
              <a:spcBef>
                <a:spcPts val="960"/>
              </a:spcBef>
            </a:pPr>
            <a:r>
              <a:rPr sz="1400" i="1" spc="55" dirty="0">
                <a:solidFill>
                  <a:srgbClr val="231F20"/>
                </a:solidFill>
                <a:latin typeface="Oswald"/>
                <a:cs typeface="Oswald"/>
              </a:rPr>
              <a:t>SKILLS</a:t>
            </a:r>
            <a:endParaRPr sz="1400">
              <a:latin typeface="Oswald"/>
              <a:cs typeface="Oswald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53863" y="588038"/>
            <a:ext cx="2232025" cy="54673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585470">
              <a:lnSpc>
                <a:spcPct val="100000"/>
              </a:lnSpc>
              <a:spcBef>
                <a:spcPts val="715"/>
              </a:spcBef>
            </a:pPr>
            <a:r>
              <a:rPr sz="1400" i="1" spc="60" dirty="0">
                <a:solidFill>
                  <a:srgbClr val="231F20"/>
                </a:solidFill>
                <a:latin typeface="Oswald"/>
                <a:cs typeface="Oswald"/>
              </a:rPr>
              <a:t>EDUCATION</a:t>
            </a:r>
            <a:endParaRPr sz="1400">
              <a:latin typeface="Oswald"/>
              <a:cs typeface="Oswald"/>
            </a:endParaRPr>
          </a:p>
          <a:p>
            <a:pPr marL="50800">
              <a:lnSpc>
                <a:spcPct val="100000"/>
              </a:lnSpc>
              <a:spcBef>
                <a:spcPts val="489"/>
              </a:spcBef>
            </a:pPr>
            <a:r>
              <a:rPr sz="1500" b="1" spc="-7" baseline="-33333" dirty="0">
                <a:solidFill>
                  <a:srgbClr val="231F20"/>
                </a:solidFill>
                <a:latin typeface="Raleway-SemiBold"/>
                <a:cs typeface="Raleway-SemiBold"/>
              </a:rPr>
              <a:t>2016-19</a:t>
            </a:r>
            <a:r>
              <a:rPr sz="1500" b="1" spc="7" baseline="-33333" dirty="0">
                <a:solidFill>
                  <a:srgbClr val="231F20"/>
                </a:solidFill>
                <a:latin typeface="Raleway-SemiBold"/>
                <a:cs typeface="Raleway-SemiBold"/>
              </a:rPr>
              <a:t> </a:t>
            </a:r>
            <a:r>
              <a:rPr sz="1100" b="1" dirty="0">
                <a:solidFill>
                  <a:srgbClr val="231F20"/>
                </a:solidFill>
                <a:latin typeface="Raleway-SemiBold"/>
                <a:cs typeface="Raleway-SemiBold"/>
              </a:rPr>
              <a:t>XXX</a:t>
            </a:r>
            <a:r>
              <a:rPr sz="1100" b="1" spc="-30" dirty="0">
                <a:solidFill>
                  <a:srgbClr val="231F20"/>
                </a:solidFill>
                <a:latin typeface="Raleway-SemiBold"/>
                <a:cs typeface="Raleway-SemiBold"/>
              </a:rPr>
              <a:t> </a:t>
            </a:r>
            <a:r>
              <a:rPr sz="1100" b="1" spc="-5" dirty="0">
                <a:solidFill>
                  <a:srgbClr val="231F20"/>
                </a:solidFill>
                <a:latin typeface="Raleway-SemiBold"/>
                <a:cs typeface="Raleway-SemiBold"/>
              </a:rPr>
              <a:t>BUSINESS</a:t>
            </a:r>
            <a:r>
              <a:rPr sz="1100" b="1" spc="-15" dirty="0">
                <a:solidFill>
                  <a:srgbClr val="231F20"/>
                </a:solidFill>
                <a:latin typeface="Raleway-SemiBold"/>
                <a:cs typeface="Raleway-SemiBold"/>
              </a:rPr>
              <a:t> </a:t>
            </a:r>
            <a:r>
              <a:rPr sz="1100" b="1" dirty="0">
                <a:solidFill>
                  <a:srgbClr val="231F20"/>
                </a:solidFill>
                <a:latin typeface="Raleway-SemiBold"/>
                <a:cs typeface="Raleway-SemiBold"/>
              </a:rPr>
              <a:t>SCHOOL</a:t>
            </a:r>
            <a:endParaRPr sz="1100">
              <a:latin typeface="Raleway-SemiBold"/>
              <a:cs typeface="Raleway-SemiBold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91963" y="1109280"/>
            <a:ext cx="3416935" cy="2139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412875" algn="ctr">
              <a:lnSpc>
                <a:spcPct val="100000"/>
              </a:lnSpc>
              <a:spcBef>
                <a:spcPts val="100"/>
              </a:spcBef>
            </a:pPr>
            <a:r>
              <a:rPr sz="1100" b="1" spc="-5" dirty="0">
                <a:solidFill>
                  <a:srgbClr val="231F20"/>
                </a:solidFill>
                <a:latin typeface="Raleway-SemiBold"/>
                <a:cs typeface="Raleway-SemiBold"/>
              </a:rPr>
              <a:t>Paris</a:t>
            </a:r>
            <a:r>
              <a:rPr sz="1100" b="1" spc="-20" dirty="0">
                <a:solidFill>
                  <a:srgbClr val="231F20"/>
                </a:solidFill>
                <a:latin typeface="Raleway-SemiBold"/>
                <a:cs typeface="Raleway-SemiBold"/>
              </a:rPr>
              <a:t> </a:t>
            </a:r>
            <a:r>
              <a:rPr sz="1100" b="1" dirty="0">
                <a:solidFill>
                  <a:srgbClr val="231F20"/>
                </a:solidFill>
                <a:latin typeface="Raleway-SemiBold"/>
                <a:cs typeface="Raleway-SemiBold"/>
              </a:rPr>
              <a:t>Campus</a:t>
            </a:r>
            <a:endParaRPr sz="1100">
              <a:latin typeface="Raleway-SemiBold"/>
              <a:cs typeface="Raleway-SemiBold"/>
            </a:endParaRPr>
          </a:p>
          <a:p>
            <a:pPr marL="547370">
              <a:lnSpc>
                <a:spcPct val="100000"/>
              </a:lnSpc>
            </a:pP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2nd</a:t>
            </a:r>
            <a:r>
              <a:rPr sz="1100" spc="-5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30" dirty="0">
                <a:solidFill>
                  <a:srgbClr val="231F20"/>
                </a:solidFill>
                <a:latin typeface="Raleway-ExtraLight"/>
                <a:cs typeface="Raleway-ExtraLight"/>
              </a:rPr>
              <a:t>Year</a:t>
            </a:r>
            <a:r>
              <a:rPr sz="1100" spc="-4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Master’s</a:t>
            </a:r>
            <a:r>
              <a:rPr sz="11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in</a:t>
            </a:r>
            <a:r>
              <a:rPr sz="11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Digital</a:t>
            </a:r>
            <a:r>
              <a:rPr sz="1100" spc="-4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Marketing</a:t>
            </a:r>
            <a:endParaRPr sz="1100">
              <a:latin typeface="Raleway-ExtraLight"/>
              <a:cs typeface="Raleway-ExtraLight"/>
            </a:endParaRPr>
          </a:p>
          <a:p>
            <a:pPr marL="12065" marR="1391285" algn="ctr">
              <a:lnSpc>
                <a:spcPct val="100000"/>
              </a:lnSpc>
              <a:spcBef>
                <a:spcPts val="220"/>
              </a:spcBef>
            </a:pPr>
            <a:r>
              <a:rPr sz="1500" b="1" spc="-7" baseline="5555" dirty="0">
                <a:solidFill>
                  <a:srgbClr val="231F20"/>
                </a:solidFill>
                <a:latin typeface="Raleway-SemiBold"/>
                <a:cs typeface="Raleway-SemiBold"/>
              </a:rPr>
              <a:t>2016-19</a:t>
            </a:r>
            <a:r>
              <a:rPr sz="1500" b="1" spc="322" baseline="5555" dirty="0">
                <a:solidFill>
                  <a:srgbClr val="231F20"/>
                </a:solidFill>
                <a:latin typeface="Raleway-SemiBold"/>
                <a:cs typeface="Raleway-SemiBold"/>
              </a:rPr>
              <a:t> </a:t>
            </a:r>
            <a:r>
              <a:rPr sz="1100" b="1" dirty="0">
                <a:solidFill>
                  <a:srgbClr val="231F20"/>
                </a:solidFill>
                <a:latin typeface="Raleway-SemiBold"/>
                <a:cs typeface="Raleway-SemiBold"/>
              </a:rPr>
              <a:t>XXXX</a:t>
            </a:r>
            <a:r>
              <a:rPr sz="1100" b="1" spc="-35" dirty="0">
                <a:solidFill>
                  <a:srgbClr val="231F20"/>
                </a:solidFill>
                <a:latin typeface="Raleway-SemiBold"/>
                <a:cs typeface="Raleway-SemiBold"/>
              </a:rPr>
              <a:t> </a:t>
            </a:r>
            <a:r>
              <a:rPr sz="1100" b="1" dirty="0">
                <a:solidFill>
                  <a:srgbClr val="231F20"/>
                </a:solidFill>
                <a:latin typeface="Raleway-SemiBold"/>
                <a:cs typeface="Raleway-SemiBold"/>
              </a:rPr>
              <a:t>Business</a:t>
            </a:r>
            <a:r>
              <a:rPr sz="1100" b="1" spc="-25" dirty="0">
                <a:solidFill>
                  <a:srgbClr val="231F20"/>
                </a:solidFill>
                <a:latin typeface="Raleway-SemiBold"/>
                <a:cs typeface="Raleway-SemiBold"/>
              </a:rPr>
              <a:t> </a:t>
            </a:r>
            <a:r>
              <a:rPr sz="1100" b="1" dirty="0">
                <a:solidFill>
                  <a:srgbClr val="231F20"/>
                </a:solidFill>
                <a:latin typeface="Raleway-SemiBold"/>
                <a:cs typeface="Raleway-SemiBold"/>
              </a:rPr>
              <a:t>School </a:t>
            </a:r>
            <a:r>
              <a:rPr sz="1100" b="1" spc="-254" dirty="0">
                <a:solidFill>
                  <a:srgbClr val="231F20"/>
                </a:solidFill>
                <a:latin typeface="Raleway-SemiBold"/>
                <a:cs typeface="Raleway-SemiBold"/>
              </a:rPr>
              <a:t> </a:t>
            </a:r>
            <a:r>
              <a:rPr sz="1100" b="1" spc="-5" dirty="0">
                <a:solidFill>
                  <a:srgbClr val="231F20"/>
                </a:solidFill>
                <a:latin typeface="Raleway-SemiBold"/>
                <a:cs typeface="Raleway-SemiBold"/>
              </a:rPr>
              <a:t>Paris </a:t>
            </a:r>
            <a:r>
              <a:rPr sz="1100" b="1" dirty="0">
                <a:solidFill>
                  <a:srgbClr val="231F20"/>
                </a:solidFill>
                <a:latin typeface="Raleway-SemiBold"/>
                <a:cs typeface="Raleway-SemiBold"/>
              </a:rPr>
              <a:t>Campus</a:t>
            </a:r>
            <a:endParaRPr sz="1100">
              <a:latin typeface="Raleway-SemiBold"/>
              <a:cs typeface="Raleway-SemiBold"/>
            </a:endParaRPr>
          </a:p>
          <a:p>
            <a:pPr marL="547370">
              <a:lnSpc>
                <a:spcPct val="100000"/>
              </a:lnSpc>
            </a:pP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1st</a:t>
            </a:r>
            <a:r>
              <a:rPr sz="1100" spc="-4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30" dirty="0">
                <a:solidFill>
                  <a:srgbClr val="231F20"/>
                </a:solidFill>
                <a:latin typeface="Raleway-ExtraLight"/>
                <a:cs typeface="Raleway-ExtraLight"/>
              </a:rPr>
              <a:t>Year</a:t>
            </a:r>
            <a:r>
              <a:rPr sz="1100" spc="-3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Master’s </a:t>
            </a:r>
            <a:r>
              <a:rPr sz="1100" dirty="0">
                <a:solidFill>
                  <a:srgbClr val="231F20"/>
                </a:solidFill>
                <a:latin typeface="Raleway-ExtraLight"/>
                <a:cs typeface="Raleway-ExtraLight"/>
              </a:rPr>
              <a:t>in 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International</a:t>
            </a:r>
            <a:r>
              <a:rPr sz="1100" spc="-4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1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Management</a:t>
            </a:r>
            <a:endParaRPr sz="1100">
              <a:latin typeface="Raleway-ExtraLight"/>
              <a:cs typeface="Raleway-ExtraLight"/>
            </a:endParaRPr>
          </a:p>
          <a:p>
            <a:pPr marL="547370" marR="1546225" indent="-535305">
              <a:lnSpc>
                <a:spcPct val="100000"/>
              </a:lnSpc>
              <a:spcBef>
                <a:spcPts val="385"/>
              </a:spcBef>
            </a:pPr>
            <a:r>
              <a:rPr sz="1000" b="1" spc="-5" dirty="0">
                <a:solidFill>
                  <a:srgbClr val="231F20"/>
                </a:solidFill>
                <a:latin typeface="Raleway-SemiBold"/>
                <a:cs typeface="Raleway-SemiBold"/>
              </a:rPr>
              <a:t>2014-16</a:t>
            </a:r>
            <a:r>
              <a:rPr sz="1000" b="1" dirty="0">
                <a:solidFill>
                  <a:srgbClr val="231F20"/>
                </a:solidFill>
                <a:latin typeface="Raleway-SemiBold"/>
                <a:cs typeface="Raleway-SemiBold"/>
              </a:rPr>
              <a:t> </a:t>
            </a:r>
            <a:r>
              <a:rPr sz="1100" b="1" spc="-10" dirty="0">
                <a:solidFill>
                  <a:srgbClr val="231F20"/>
                </a:solidFill>
                <a:latin typeface="Raleway-SemiBold"/>
                <a:cs typeface="Raleway-SemiBold"/>
              </a:rPr>
              <a:t>Preparatory </a:t>
            </a:r>
            <a:r>
              <a:rPr sz="1100" b="1" dirty="0">
                <a:solidFill>
                  <a:srgbClr val="231F20"/>
                </a:solidFill>
                <a:latin typeface="Raleway-SemiBold"/>
                <a:cs typeface="Raleway-SemiBold"/>
              </a:rPr>
              <a:t>Classes </a:t>
            </a:r>
            <a:r>
              <a:rPr sz="1100" b="1" spc="-260" dirty="0">
                <a:solidFill>
                  <a:srgbClr val="231F20"/>
                </a:solidFill>
                <a:latin typeface="Raleway-SemiBold"/>
                <a:cs typeface="Raleway-SemiBold"/>
              </a:rPr>
              <a:t> </a:t>
            </a:r>
            <a:r>
              <a:rPr sz="1100" b="1" dirty="0">
                <a:solidFill>
                  <a:srgbClr val="231F20"/>
                </a:solidFill>
                <a:latin typeface="Raleway-SemiBold"/>
                <a:cs typeface="Raleway-SemiBold"/>
              </a:rPr>
              <a:t>Dijon,</a:t>
            </a:r>
            <a:r>
              <a:rPr sz="1100" b="1" spc="-5" dirty="0">
                <a:solidFill>
                  <a:srgbClr val="231F20"/>
                </a:solidFill>
                <a:latin typeface="Raleway-SemiBold"/>
                <a:cs typeface="Raleway-SemiBold"/>
              </a:rPr>
              <a:t> </a:t>
            </a:r>
            <a:r>
              <a:rPr sz="1100" b="1" spc="-10" dirty="0">
                <a:solidFill>
                  <a:srgbClr val="231F20"/>
                </a:solidFill>
                <a:latin typeface="Raleway-SemiBold"/>
                <a:cs typeface="Raleway-SemiBold"/>
              </a:rPr>
              <a:t>ECS</a:t>
            </a:r>
            <a:endParaRPr sz="1100">
              <a:latin typeface="Raleway-SemiBold"/>
              <a:cs typeface="Raleway-SemiBold"/>
            </a:endParaRPr>
          </a:p>
          <a:p>
            <a:pPr marL="547370" marR="18415">
              <a:lnSpc>
                <a:spcPts val="1320"/>
              </a:lnSpc>
              <a:spcBef>
                <a:spcPts val="40"/>
              </a:spcBef>
            </a:pPr>
            <a:r>
              <a:rPr sz="1100" spc="-20" dirty="0">
                <a:solidFill>
                  <a:srgbClr val="231F20"/>
                </a:solidFill>
                <a:latin typeface="Raleway-Thin"/>
                <a:cs typeface="Raleway-Thin"/>
              </a:rPr>
              <a:t>Two-year </a:t>
            </a:r>
            <a:r>
              <a:rPr sz="1100" spc="-5" dirty="0">
                <a:solidFill>
                  <a:srgbClr val="231F20"/>
                </a:solidFill>
                <a:latin typeface="Raleway-Thin"/>
                <a:cs typeface="Raleway-Thin"/>
              </a:rPr>
              <a:t>intensive </a:t>
            </a:r>
            <a:r>
              <a:rPr sz="1100" spc="-10" dirty="0">
                <a:solidFill>
                  <a:srgbClr val="231F20"/>
                </a:solidFill>
                <a:latin typeface="Raleway-Thin"/>
                <a:cs typeface="Raleway-Thin"/>
              </a:rPr>
              <a:t>program </a:t>
            </a:r>
            <a:r>
              <a:rPr sz="1100" spc="-5" dirty="0">
                <a:solidFill>
                  <a:srgbClr val="231F20"/>
                </a:solidFill>
                <a:latin typeface="Raleway-Thin"/>
                <a:cs typeface="Raleway-Thin"/>
              </a:rPr>
              <a:t>preparing </a:t>
            </a:r>
            <a:r>
              <a:rPr sz="1100" dirty="0">
                <a:solidFill>
                  <a:srgbClr val="231F20"/>
                </a:solidFill>
                <a:latin typeface="Raleway-Thin"/>
                <a:cs typeface="Raleway-Thin"/>
              </a:rPr>
              <a:t> </a:t>
            </a:r>
            <a:r>
              <a:rPr sz="1100" spc="-5" dirty="0">
                <a:solidFill>
                  <a:srgbClr val="231F20"/>
                </a:solidFill>
                <a:latin typeface="Raleway-Thin"/>
                <a:cs typeface="Raleway-Thin"/>
              </a:rPr>
              <a:t>students </a:t>
            </a:r>
            <a:r>
              <a:rPr sz="1100" spc="-10" dirty="0">
                <a:solidFill>
                  <a:srgbClr val="231F20"/>
                </a:solidFill>
                <a:latin typeface="Raleway-Thin"/>
                <a:cs typeface="Raleway-Thin"/>
              </a:rPr>
              <a:t>for</a:t>
            </a:r>
            <a:r>
              <a:rPr sz="1100" spc="-30" dirty="0">
                <a:solidFill>
                  <a:srgbClr val="231F20"/>
                </a:solidFill>
                <a:latin typeface="Raleway-Thin"/>
                <a:cs typeface="Raleway-Thin"/>
              </a:rPr>
              <a:t> </a:t>
            </a:r>
            <a:r>
              <a:rPr sz="1100" dirty="0">
                <a:solidFill>
                  <a:srgbClr val="231F20"/>
                </a:solidFill>
                <a:latin typeface="Raleway-Thin"/>
                <a:cs typeface="Raleway-Thin"/>
              </a:rPr>
              <a:t>the </a:t>
            </a:r>
            <a:r>
              <a:rPr sz="1100" spc="-5" dirty="0">
                <a:solidFill>
                  <a:srgbClr val="231F20"/>
                </a:solidFill>
                <a:latin typeface="Raleway-Thin"/>
                <a:cs typeface="Raleway-Thin"/>
              </a:rPr>
              <a:t>national</a:t>
            </a:r>
            <a:r>
              <a:rPr sz="1100" spc="-40" dirty="0">
                <a:solidFill>
                  <a:srgbClr val="231F20"/>
                </a:solidFill>
                <a:latin typeface="Raleway-Thin"/>
                <a:cs typeface="Raleway-Thin"/>
              </a:rPr>
              <a:t> </a:t>
            </a:r>
            <a:r>
              <a:rPr sz="1100" spc="-5" dirty="0">
                <a:solidFill>
                  <a:srgbClr val="231F20"/>
                </a:solidFill>
                <a:latin typeface="Raleway-Thin"/>
                <a:cs typeface="Raleway-Thin"/>
              </a:rPr>
              <a:t>competitive</a:t>
            </a:r>
            <a:r>
              <a:rPr sz="1100" dirty="0">
                <a:solidFill>
                  <a:srgbClr val="231F20"/>
                </a:solidFill>
                <a:latin typeface="Raleway-Thin"/>
                <a:cs typeface="Raleway-Thin"/>
              </a:rPr>
              <a:t> </a:t>
            </a:r>
            <a:r>
              <a:rPr sz="1100" spc="-10" dirty="0">
                <a:solidFill>
                  <a:srgbClr val="231F20"/>
                </a:solidFill>
                <a:latin typeface="Raleway-Thin"/>
                <a:cs typeface="Raleway-Thin"/>
              </a:rPr>
              <a:t>exam</a:t>
            </a:r>
            <a:r>
              <a:rPr sz="1100" dirty="0">
                <a:solidFill>
                  <a:srgbClr val="231F20"/>
                </a:solidFill>
                <a:latin typeface="Raleway-Thin"/>
                <a:cs typeface="Raleway-Thin"/>
              </a:rPr>
              <a:t> </a:t>
            </a:r>
            <a:r>
              <a:rPr sz="1100" spc="-10" dirty="0">
                <a:solidFill>
                  <a:srgbClr val="231F20"/>
                </a:solidFill>
                <a:latin typeface="Raleway-Thin"/>
                <a:cs typeface="Raleway-Thin"/>
              </a:rPr>
              <a:t>for </a:t>
            </a:r>
            <a:r>
              <a:rPr sz="1100" spc="-275" dirty="0">
                <a:solidFill>
                  <a:srgbClr val="231F20"/>
                </a:solidFill>
                <a:latin typeface="Raleway-Thin"/>
                <a:cs typeface="Raleway-Thin"/>
              </a:rPr>
              <a:t> </a:t>
            </a:r>
            <a:r>
              <a:rPr sz="1100" spc="-5" dirty="0">
                <a:solidFill>
                  <a:srgbClr val="231F20"/>
                </a:solidFill>
                <a:latin typeface="Raleway-Thin"/>
                <a:cs typeface="Raleway-Thin"/>
              </a:rPr>
              <a:t>entry</a:t>
            </a:r>
            <a:r>
              <a:rPr sz="1100" spc="-35" dirty="0">
                <a:solidFill>
                  <a:srgbClr val="231F20"/>
                </a:solidFill>
                <a:latin typeface="Raleway-Thin"/>
                <a:cs typeface="Raleway-Thin"/>
              </a:rPr>
              <a:t> </a:t>
            </a:r>
            <a:r>
              <a:rPr sz="1100" spc="-10" dirty="0">
                <a:solidFill>
                  <a:srgbClr val="231F20"/>
                </a:solidFill>
                <a:latin typeface="Raleway-Thin"/>
                <a:cs typeface="Raleway-Thin"/>
              </a:rPr>
              <a:t>to</a:t>
            </a:r>
            <a:r>
              <a:rPr sz="1100" dirty="0">
                <a:solidFill>
                  <a:srgbClr val="231F20"/>
                </a:solidFill>
                <a:latin typeface="Raleway-Thin"/>
                <a:cs typeface="Raleway-Thin"/>
              </a:rPr>
              <a:t> </a:t>
            </a:r>
            <a:r>
              <a:rPr sz="1100" spc="-5" dirty="0">
                <a:solidFill>
                  <a:srgbClr val="231F20"/>
                </a:solidFill>
                <a:latin typeface="Raleway-Thin"/>
                <a:cs typeface="Raleway-Thin"/>
              </a:rPr>
              <a:t>prestigious</a:t>
            </a:r>
            <a:r>
              <a:rPr sz="1100" dirty="0">
                <a:solidFill>
                  <a:srgbClr val="231F20"/>
                </a:solidFill>
                <a:latin typeface="Raleway-Thin"/>
                <a:cs typeface="Raleway-Thin"/>
              </a:rPr>
              <a:t> schools</a:t>
            </a:r>
            <a:endParaRPr sz="1100">
              <a:latin typeface="Raleway-Thin"/>
              <a:cs typeface="Raleway-Thin"/>
            </a:endParaRPr>
          </a:p>
          <a:p>
            <a:pPr marL="547370">
              <a:lnSpc>
                <a:spcPct val="100000"/>
              </a:lnSpc>
              <a:spcBef>
                <a:spcPts val="1120"/>
              </a:spcBef>
            </a:pPr>
            <a:r>
              <a:rPr sz="1400" i="1" spc="55" dirty="0">
                <a:solidFill>
                  <a:srgbClr val="231F20"/>
                </a:solidFill>
                <a:latin typeface="Oswald"/>
                <a:cs typeface="Oswald"/>
              </a:rPr>
              <a:t>PROFESSIONAL</a:t>
            </a:r>
            <a:r>
              <a:rPr sz="1400" i="1" spc="120" dirty="0">
                <a:solidFill>
                  <a:srgbClr val="231F20"/>
                </a:solidFill>
                <a:latin typeface="Oswald"/>
                <a:cs typeface="Oswald"/>
              </a:rPr>
              <a:t> </a:t>
            </a:r>
            <a:r>
              <a:rPr sz="1400" i="1" spc="65" dirty="0">
                <a:solidFill>
                  <a:srgbClr val="231F20"/>
                </a:solidFill>
                <a:latin typeface="Oswald"/>
                <a:cs typeface="Oswald"/>
              </a:rPr>
              <a:t>EXPERIENCE</a:t>
            </a:r>
            <a:endParaRPr sz="1400">
              <a:latin typeface="Oswald"/>
              <a:cs typeface="Oswald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69390" y="8615429"/>
            <a:ext cx="6428105" cy="1647825"/>
            <a:chOff x="469390" y="8615429"/>
            <a:chExt cx="6428105" cy="1647825"/>
          </a:xfrm>
        </p:grpSpPr>
        <p:sp>
          <p:nvSpPr>
            <p:cNvPr id="18" name="object 18"/>
            <p:cNvSpPr/>
            <p:nvPr/>
          </p:nvSpPr>
          <p:spPr>
            <a:xfrm>
              <a:off x="469379" y="8615438"/>
              <a:ext cx="3775075" cy="328930"/>
            </a:xfrm>
            <a:custGeom>
              <a:avLst/>
              <a:gdLst/>
              <a:ahLst/>
              <a:cxnLst/>
              <a:rect l="l" t="t" r="r" b="b"/>
              <a:pathLst>
                <a:path w="3775075" h="328929">
                  <a:moveTo>
                    <a:pt x="335737" y="166903"/>
                  </a:moveTo>
                  <a:lnTo>
                    <a:pt x="329742" y="123863"/>
                  </a:lnTo>
                  <a:lnTo>
                    <a:pt x="312826" y="85178"/>
                  </a:lnTo>
                  <a:lnTo>
                    <a:pt x="286575" y="52412"/>
                  </a:lnTo>
                  <a:lnTo>
                    <a:pt x="252603" y="27101"/>
                  </a:lnTo>
                  <a:lnTo>
                    <a:pt x="212496" y="10782"/>
                  </a:lnTo>
                  <a:lnTo>
                    <a:pt x="167868" y="4991"/>
                  </a:lnTo>
                  <a:lnTo>
                    <a:pt x="123253" y="10782"/>
                  </a:lnTo>
                  <a:lnTo>
                    <a:pt x="83146" y="27101"/>
                  </a:lnTo>
                  <a:lnTo>
                    <a:pt x="49174" y="52412"/>
                  </a:lnTo>
                  <a:lnTo>
                    <a:pt x="22923" y="85178"/>
                  </a:lnTo>
                  <a:lnTo>
                    <a:pt x="6007" y="123863"/>
                  </a:lnTo>
                  <a:lnTo>
                    <a:pt x="0" y="166903"/>
                  </a:lnTo>
                  <a:lnTo>
                    <a:pt x="6007" y="209943"/>
                  </a:lnTo>
                  <a:lnTo>
                    <a:pt x="22923" y="248627"/>
                  </a:lnTo>
                  <a:lnTo>
                    <a:pt x="49174" y="281393"/>
                  </a:lnTo>
                  <a:lnTo>
                    <a:pt x="83146" y="306705"/>
                  </a:lnTo>
                  <a:lnTo>
                    <a:pt x="123253" y="323037"/>
                  </a:lnTo>
                  <a:lnTo>
                    <a:pt x="167868" y="328815"/>
                  </a:lnTo>
                  <a:lnTo>
                    <a:pt x="212496" y="323037"/>
                  </a:lnTo>
                  <a:lnTo>
                    <a:pt x="252603" y="306705"/>
                  </a:lnTo>
                  <a:lnTo>
                    <a:pt x="286575" y="281393"/>
                  </a:lnTo>
                  <a:lnTo>
                    <a:pt x="312826" y="248627"/>
                  </a:lnTo>
                  <a:lnTo>
                    <a:pt x="329742" y="209943"/>
                  </a:lnTo>
                  <a:lnTo>
                    <a:pt x="335737" y="166903"/>
                  </a:lnTo>
                  <a:close/>
                </a:path>
                <a:path w="3775075" h="328929">
                  <a:moveTo>
                    <a:pt x="3774668" y="161912"/>
                  </a:moveTo>
                  <a:lnTo>
                    <a:pt x="3768674" y="118872"/>
                  </a:lnTo>
                  <a:lnTo>
                    <a:pt x="3751745" y="80187"/>
                  </a:lnTo>
                  <a:lnTo>
                    <a:pt x="3725507" y="47421"/>
                  </a:lnTo>
                  <a:lnTo>
                    <a:pt x="3691521" y="22098"/>
                  </a:lnTo>
                  <a:lnTo>
                    <a:pt x="3651427" y="5778"/>
                  </a:lnTo>
                  <a:lnTo>
                    <a:pt x="3606800" y="0"/>
                  </a:lnTo>
                  <a:lnTo>
                    <a:pt x="3562172" y="5778"/>
                  </a:lnTo>
                  <a:lnTo>
                    <a:pt x="3522078" y="22098"/>
                  </a:lnTo>
                  <a:lnTo>
                    <a:pt x="3488105" y="47421"/>
                  </a:lnTo>
                  <a:lnTo>
                    <a:pt x="3461855" y="80187"/>
                  </a:lnTo>
                  <a:lnTo>
                    <a:pt x="3444925" y="118872"/>
                  </a:lnTo>
                  <a:lnTo>
                    <a:pt x="3438931" y="161912"/>
                  </a:lnTo>
                  <a:lnTo>
                    <a:pt x="3444925" y="204952"/>
                  </a:lnTo>
                  <a:lnTo>
                    <a:pt x="3461855" y="243624"/>
                  </a:lnTo>
                  <a:lnTo>
                    <a:pt x="3488105" y="276402"/>
                  </a:lnTo>
                  <a:lnTo>
                    <a:pt x="3522078" y="301713"/>
                  </a:lnTo>
                  <a:lnTo>
                    <a:pt x="3562172" y="318033"/>
                  </a:lnTo>
                  <a:lnTo>
                    <a:pt x="3606800" y="323824"/>
                  </a:lnTo>
                  <a:lnTo>
                    <a:pt x="3651427" y="318033"/>
                  </a:lnTo>
                  <a:lnTo>
                    <a:pt x="3691521" y="301713"/>
                  </a:lnTo>
                  <a:lnTo>
                    <a:pt x="3725507" y="276402"/>
                  </a:lnTo>
                  <a:lnTo>
                    <a:pt x="3751745" y="243624"/>
                  </a:lnTo>
                  <a:lnTo>
                    <a:pt x="3768674" y="204952"/>
                  </a:lnTo>
                  <a:lnTo>
                    <a:pt x="3774668" y="1619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774179" y="9095750"/>
              <a:ext cx="123189" cy="0"/>
            </a:xfrm>
            <a:custGeom>
              <a:avLst/>
              <a:gdLst/>
              <a:ahLst/>
              <a:cxnLst/>
              <a:rect l="l" t="t" r="r" b="b"/>
              <a:pathLst>
                <a:path w="123190">
                  <a:moveTo>
                    <a:pt x="0" y="0"/>
                  </a:moveTo>
                  <a:lnTo>
                    <a:pt x="122885" y="0"/>
                  </a:lnTo>
                </a:path>
              </a:pathLst>
            </a:custGeom>
            <a:ln w="63500">
              <a:solidFill>
                <a:srgbClr val="99E8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774179" y="9784699"/>
              <a:ext cx="123189" cy="0"/>
            </a:xfrm>
            <a:custGeom>
              <a:avLst/>
              <a:gdLst/>
              <a:ahLst/>
              <a:cxnLst/>
              <a:rect l="l" t="t" r="r" b="b"/>
              <a:pathLst>
                <a:path w="123190">
                  <a:moveTo>
                    <a:pt x="0" y="0"/>
                  </a:moveTo>
                  <a:lnTo>
                    <a:pt x="122885" y="0"/>
                  </a:lnTo>
                </a:path>
              </a:pathLst>
            </a:custGeom>
            <a:ln w="63500">
              <a:solidFill>
                <a:srgbClr val="99E8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383788" y="9552198"/>
              <a:ext cx="123189" cy="0"/>
            </a:xfrm>
            <a:custGeom>
              <a:avLst/>
              <a:gdLst/>
              <a:ahLst/>
              <a:cxnLst/>
              <a:rect l="l" t="t" r="r" b="b"/>
              <a:pathLst>
                <a:path w="123189">
                  <a:moveTo>
                    <a:pt x="0" y="0"/>
                  </a:moveTo>
                  <a:lnTo>
                    <a:pt x="122885" y="0"/>
                  </a:lnTo>
                </a:path>
              </a:pathLst>
            </a:custGeom>
            <a:ln w="63500">
              <a:solidFill>
                <a:srgbClr val="99E8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877532" y="9293649"/>
              <a:ext cx="0" cy="63500"/>
            </a:xfrm>
            <a:custGeom>
              <a:avLst/>
              <a:gdLst/>
              <a:ahLst/>
              <a:cxnLst/>
              <a:rect l="l" t="t" r="r" b="b"/>
              <a:pathLst>
                <a:path h="63500">
                  <a:moveTo>
                    <a:pt x="0" y="0"/>
                  </a:moveTo>
                  <a:lnTo>
                    <a:pt x="0" y="63499"/>
                  </a:lnTo>
                </a:path>
              </a:pathLst>
            </a:custGeom>
            <a:ln w="39065">
              <a:solidFill>
                <a:srgbClr val="99E8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487140" y="9061149"/>
              <a:ext cx="0" cy="63500"/>
            </a:xfrm>
            <a:custGeom>
              <a:avLst/>
              <a:gdLst/>
              <a:ahLst/>
              <a:cxnLst/>
              <a:rect l="l" t="t" r="r" b="b"/>
              <a:pathLst>
                <a:path h="63500">
                  <a:moveTo>
                    <a:pt x="0" y="0"/>
                  </a:moveTo>
                  <a:lnTo>
                    <a:pt x="0" y="63500"/>
                  </a:lnTo>
                </a:path>
              </a:pathLst>
            </a:custGeom>
            <a:ln w="39065">
              <a:solidFill>
                <a:srgbClr val="99E8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819900" y="9988950"/>
              <a:ext cx="77470" cy="0"/>
            </a:xfrm>
            <a:custGeom>
              <a:avLst/>
              <a:gdLst/>
              <a:ahLst/>
              <a:cxnLst/>
              <a:rect l="l" t="t" r="r" b="b"/>
              <a:pathLst>
                <a:path w="77470">
                  <a:moveTo>
                    <a:pt x="0" y="0"/>
                  </a:moveTo>
                  <a:lnTo>
                    <a:pt x="77165" y="0"/>
                  </a:lnTo>
                </a:path>
              </a:pathLst>
            </a:custGeom>
            <a:ln w="63500">
              <a:solidFill>
                <a:srgbClr val="99E8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639559" y="9555049"/>
              <a:ext cx="257810" cy="0"/>
            </a:xfrm>
            <a:custGeom>
              <a:avLst/>
              <a:gdLst/>
              <a:ahLst/>
              <a:cxnLst/>
              <a:rect l="l" t="t" r="r" b="b"/>
              <a:pathLst>
                <a:path w="257809">
                  <a:moveTo>
                    <a:pt x="0" y="0"/>
                  </a:moveTo>
                  <a:lnTo>
                    <a:pt x="257505" y="0"/>
                  </a:lnTo>
                </a:path>
              </a:pathLst>
            </a:custGeom>
            <a:ln w="63500">
              <a:solidFill>
                <a:srgbClr val="99E8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49167" y="9322549"/>
              <a:ext cx="257810" cy="0"/>
            </a:xfrm>
            <a:custGeom>
              <a:avLst/>
              <a:gdLst/>
              <a:ahLst/>
              <a:cxnLst/>
              <a:rect l="l" t="t" r="r" b="b"/>
              <a:pathLst>
                <a:path w="257810">
                  <a:moveTo>
                    <a:pt x="0" y="0"/>
                  </a:moveTo>
                  <a:lnTo>
                    <a:pt x="257505" y="0"/>
                  </a:lnTo>
                </a:path>
              </a:pathLst>
            </a:custGeom>
            <a:ln w="63500">
              <a:solidFill>
                <a:srgbClr val="99E8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249167" y="9781850"/>
              <a:ext cx="257810" cy="0"/>
            </a:xfrm>
            <a:custGeom>
              <a:avLst/>
              <a:gdLst/>
              <a:ahLst/>
              <a:cxnLst/>
              <a:rect l="l" t="t" r="r" b="b"/>
              <a:pathLst>
                <a:path w="257810">
                  <a:moveTo>
                    <a:pt x="0" y="0"/>
                  </a:moveTo>
                  <a:lnTo>
                    <a:pt x="257505" y="0"/>
                  </a:lnTo>
                </a:path>
              </a:pathLst>
            </a:custGeom>
            <a:ln w="63500">
              <a:solidFill>
                <a:srgbClr val="99E8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819900" y="10231300"/>
              <a:ext cx="77470" cy="0"/>
            </a:xfrm>
            <a:custGeom>
              <a:avLst/>
              <a:gdLst/>
              <a:ahLst/>
              <a:cxnLst/>
              <a:rect l="l" t="t" r="r" b="b"/>
              <a:pathLst>
                <a:path w="77470">
                  <a:moveTo>
                    <a:pt x="0" y="0"/>
                  </a:moveTo>
                  <a:lnTo>
                    <a:pt x="77165" y="0"/>
                  </a:lnTo>
                </a:path>
              </a:pathLst>
            </a:custGeom>
            <a:ln w="63500">
              <a:solidFill>
                <a:srgbClr val="99E8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722620" y="9095750"/>
              <a:ext cx="1051560" cy="0"/>
            </a:xfrm>
            <a:custGeom>
              <a:avLst/>
              <a:gdLst/>
              <a:ahLst/>
              <a:cxnLst/>
              <a:rect l="l" t="t" r="r" b="b"/>
              <a:pathLst>
                <a:path w="1051559">
                  <a:moveTo>
                    <a:pt x="0" y="0"/>
                  </a:moveTo>
                  <a:lnTo>
                    <a:pt x="1051560" y="0"/>
                  </a:lnTo>
                </a:path>
              </a:pathLst>
            </a:custGeom>
            <a:ln w="63500">
              <a:solidFill>
                <a:srgbClr val="E7C8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722620" y="9784699"/>
              <a:ext cx="1051560" cy="0"/>
            </a:xfrm>
            <a:custGeom>
              <a:avLst/>
              <a:gdLst/>
              <a:ahLst/>
              <a:cxnLst/>
              <a:rect l="l" t="t" r="r" b="b"/>
              <a:pathLst>
                <a:path w="1051559">
                  <a:moveTo>
                    <a:pt x="0" y="0"/>
                  </a:moveTo>
                  <a:lnTo>
                    <a:pt x="1051560" y="0"/>
                  </a:lnTo>
                </a:path>
              </a:pathLst>
            </a:custGeom>
            <a:ln w="63500">
              <a:solidFill>
                <a:srgbClr val="E7C8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332227" y="9552198"/>
              <a:ext cx="1051560" cy="0"/>
            </a:xfrm>
            <a:custGeom>
              <a:avLst/>
              <a:gdLst/>
              <a:ahLst/>
              <a:cxnLst/>
              <a:rect l="l" t="t" r="r" b="b"/>
              <a:pathLst>
                <a:path w="1051560">
                  <a:moveTo>
                    <a:pt x="0" y="0"/>
                  </a:moveTo>
                  <a:lnTo>
                    <a:pt x="1051560" y="0"/>
                  </a:lnTo>
                </a:path>
              </a:pathLst>
            </a:custGeom>
            <a:ln w="63500">
              <a:solidFill>
                <a:srgbClr val="E7C8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722620" y="9325399"/>
              <a:ext cx="1135380" cy="0"/>
            </a:xfrm>
            <a:custGeom>
              <a:avLst/>
              <a:gdLst/>
              <a:ahLst/>
              <a:cxnLst/>
              <a:rect l="l" t="t" r="r" b="b"/>
              <a:pathLst>
                <a:path w="1135379">
                  <a:moveTo>
                    <a:pt x="0" y="0"/>
                  </a:moveTo>
                  <a:lnTo>
                    <a:pt x="1135380" y="0"/>
                  </a:lnTo>
                </a:path>
              </a:pathLst>
            </a:custGeom>
            <a:ln w="63500">
              <a:solidFill>
                <a:srgbClr val="E7C8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332227" y="9092899"/>
              <a:ext cx="1135380" cy="0"/>
            </a:xfrm>
            <a:custGeom>
              <a:avLst/>
              <a:gdLst/>
              <a:ahLst/>
              <a:cxnLst/>
              <a:rect l="l" t="t" r="r" b="b"/>
              <a:pathLst>
                <a:path w="1135379">
                  <a:moveTo>
                    <a:pt x="0" y="0"/>
                  </a:moveTo>
                  <a:lnTo>
                    <a:pt x="1135380" y="0"/>
                  </a:lnTo>
                </a:path>
              </a:pathLst>
            </a:custGeom>
            <a:ln w="63500">
              <a:solidFill>
                <a:srgbClr val="E7C8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722620" y="9988950"/>
              <a:ext cx="1097280" cy="0"/>
            </a:xfrm>
            <a:custGeom>
              <a:avLst/>
              <a:gdLst/>
              <a:ahLst/>
              <a:cxnLst/>
              <a:rect l="l" t="t" r="r" b="b"/>
              <a:pathLst>
                <a:path w="1097279">
                  <a:moveTo>
                    <a:pt x="0" y="0"/>
                  </a:moveTo>
                  <a:lnTo>
                    <a:pt x="1097280" y="0"/>
                  </a:lnTo>
                </a:path>
              </a:pathLst>
            </a:custGeom>
            <a:ln w="63500">
              <a:solidFill>
                <a:srgbClr val="E7C8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722620" y="9555049"/>
              <a:ext cx="916940" cy="0"/>
            </a:xfrm>
            <a:custGeom>
              <a:avLst/>
              <a:gdLst/>
              <a:ahLst/>
              <a:cxnLst/>
              <a:rect l="l" t="t" r="r" b="b"/>
              <a:pathLst>
                <a:path w="916940">
                  <a:moveTo>
                    <a:pt x="0" y="0"/>
                  </a:moveTo>
                  <a:lnTo>
                    <a:pt x="916940" y="0"/>
                  </a:lnTo>
                </a:path>
              </a:pathLst>
            </a:custGeom>
            <a:ln w="63500">
              <a:solidFill>
                <a:srgbClr val="E7C8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332227" y="9322549"/>
              <a:ext cx="916940" cy="0"/>
            </a:xfrm>
            <a:custGeom>
              <a:avLst/>
              <a:gdLst/>
              <a:ahLst/>
              <a:cxnLst/>
              <a:rect l="l" t="t" r="r" b="b"/>
              <a:pathLst>
                <a:path w="916939">
                  <a:moveTo>
                    <a:pt x="0" y="0"/>
                  </a:moveTo>
                  <a:lnTo>
                    <a:pt x="916940" y="0"/>
                  </a:lnTo>
                </a:path>
              </a:pathLst>
            </a:custGeom>
            <a:ln w="63500">
              <a:solidFill>
                <a:srgbClr val="E7C8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32227" y="9781850"/>
              <a:ext cx="916940" cy="0"/>
            </a:xfrm>
            <a:custGeom>
              <a:avLst/>
              <a:gdLst/>
              <a:ahLst/>
              <a:cxnLst/>
              <a:rect l="l" t="t" r="r" b="b"/>
              <a:pathLst>
                <a:path w="916939">
                  <a:moveTo>
                    <a:pt x="0" y="0"/>
                  </a:moveTo>
                  <a:lnTo>
                    <a:pt x="916940" y="0"/>
                  </a:lnTo>
                </a:path>
              </a:pathLst>
            </a:custGeom>
            <a:ln w="63500">
              <a:solidFill>
                <a:srgbClr val="E7C8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722620" y="10231300"/>
              <a:ext cx="1097280" cy="0"/>
            </a:xfrm>
            <a:custGeom>
              <a:avLst/>
              <a:gdLst/>
              <a:ahLst/>
              <a:cxnLst/>
              <a:rect l="l" t="t" r="r" b="b"/>
              <a:pathLst>
                <a:path w="1097279">
                  <a:moveTo>
                    <a:pt x="0" y="0"/>
                  </a:moveTo>
                  <a:lnTo>
                    <a:pt x="1097280" y="0"/>
                  </a:lnTo>
                </a:path>
              </a:pathLst>
            </a:custGeom>
            <a:ln w="63500">
              <a:solidFill>
                <a:srgbClr val="E7C8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6059" y="8673218"/>
              <a:ext cx="122402" cy="21823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14988" y="8668223"/>
              <a:ext cx="122402" cy="218236"/>
            </a:xfrm>
            <a:prstGeom prst="rect">
              <a:avLst/>
            </a:prstGeom>
          </p:spPr>
        </p:pic>
      </p:grpSp>
      <p:grpSp>
        <p:nvGrpSpPr>
          <p:cNvPr id="41" name="object 41"/>
          <p:cNvGrpSpPr/>
          <p:nvPr/>
        </p:nvGrpSpPr>
        <p:grpSpPr>
          <a:xfrm>
            <a:off x="561699" y="644940"/>
            <a:ext cx="6335395" cy="7276465"/>
            <a:chOff x="561699" y="644940"/>
            <a:chExt cx="6335395" cy="7276465"/>
          </a:xfrm>
        </p:grpSpPr>
        <p:sp>
          <p:nvSpPr>
            <p:cNvPr id="42" name="object 42"/>
            <p:cNvSpPr/>
            <p:nvPr/>
          </p:nvSpPr>
          <p:spPr>
            <a:xfrm>
              <a:off x="6774179" y="7430072"/>
              <a:ext cx="123189" cy="0"/>
            </a:xfrm>
            <a:custGeom>
              <a:avLst/>
              <a:gdLst/>
              <a:ahLst/>
              <a:cxnLst/>
              <a:rect l="l" t="t" r="r" b="b"/>
              <a:pathLst>
                <a:path w="123190">
                  <a:moveTo>
                    <a:pt x="0" y="0"/>
                  </a:moveTo>
                  <a:lnTo>
                    <a:pt x="122885" y="0"/>
                  </a:lnTo>
                </a:path>
              </a:pathLst>
            </a:custGeom>
            <a:ln w="63500">
              <a:solidFill>
                <a:srgbClr val="99E8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877532" y="7627973"/>
              <a:ext cx="0" cy="63500"/>
            </a:xfrm>
            <a:custGeom>
              <a:avLst/>
              <a:gdLst/>
              <a:ahLst/>
              <a:cxnLst/>
              <a:rect l="l" t="t" r="r" b="b"/>
              <a:pathLst>
                <a:path h="63500">
                  <a:moveTo>
                    <a:pt x="0" y="0"/>
                  </a:moveTo>
                  <a:lnTo>
                    <a:pt x="0" y="63500"/>
                  </a:lnTo>
                </a:path>
              </a:pathLst>
            </a:custGeom>
            <a:ln w="39065">
              <a:solidFill>
                <a:srgbClr val="99E8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639559" y="7889373"/>
              <a:ext cx="257810" cy="0"/>
            </a:xfrm>
            <a:custGeom>
              <a:avLst/>
              <a:gdLst/>
              <a:ahLst/>
              <a:cxnLst/>
              <a:rect l="l" t="t" r="r" b="b"/>
              <a:pathLst>
                <a:path w="257809">
                  <a:moveTo>
                    <a:pt x="0" y="0"/>
                  </a:moveTo>
                  <a:lnTo>
                    <a:pt x="257505" y="0"/>
                  </a:lnTo>
                </a:path>
              </a:pathLst>
            </a:custGeom>
            <a:ln w="63500">
              <a:solidFill>
                <a:srgbClr val="99E8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722620" y="7430072"/>
              <a:ext cx="1051560" cy="0"/>
            </a:xfrm>
            <a:custGeom>
              <a:avLst/>
              <a:gdLst/>
              <a:ahLst/>
              <a:cxnLst/>
              <a:rect l="l" t="t" r="r" b="b"/>
              <a:pathLst>
                <a:path w="1051559">
                  <a:moveTo>
                    <a:pt x="0" y="0"/>
                  </a:moveTo>
                  <a:lnTo>
                    <a:pt x="1051560" y="0"/>
                  </a:lnTo>
                </a:path>
              </a:pathLst>
            </a:custGeom>
            <a:ln w="63500">
              <a:solidFill>
                <a:srgbClr val="E7C8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722620" y="7659723"/>
              <a:ext cx="1135380" cy="0"/>
            </a:xfrm>
            <a:custGeom>
              <a:avLst/>
              <a:gdLst/>
              <a:ahLst/>
              <a:cxnLst/>
              <a:rect l="l" t="t" r="r" b="b"/>
              <a:pathLst>
                <a:path w="1135379">
                  <a:moveTo>
                    <a:pt x="0" y="0"/>
                  </a:moveTo>
                  <a:lnTo>
                    <a:pt x="1135380" y="0"/>
                  </a:lnTo>
                </a:path>
              </a:pathLst>
            </a:custGeom>
            <a:ln w="63500">
              <a:solidFill>
                <a:srgbClr val="E7C8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722620" y="7889373"/>
              <a:ext cx="916940" cy="0"/>
            </a:xfrm>
            <a:custGeom>
              <a:avLst/>
              <a:gdLst/>
              <a:ahLst/>
              <a:cxnLst/>
              <a:rect l="l" t="t" r="r" b="b"/>
              <a:pathLst>
                <a:path w="916940">
                  <a:moveTo>
                    <a:pt x="0" y="0"/>
                  </a:moveTo>
                  <a:lnTo>
                    <a:pt x="916940" y="0"/>
                  </a:lnTo>
                </a:path>
              </a:pathLst>
            </a:custGeom>
            <a:ln w="63500">
              <a:solidFill>
                <a:srgbClr val="E7C8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1962" y="3516677"/>
              <a:ext cx="122402" cy="218236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6406" y="4637619"/>
              <a:ext cx="122402" cy="218236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10742" y="3013993"/>
              <a:ext cx="122402" cy="218236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1699" y="7074747"/>
              <a:ext cx="122402" cy="218236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13508" y="7056909"/>
              <a:ext cx="122402" cy="218236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15650" y="644940"/>
              <a:ext cx="122402" cy="218236"/>
            </a:xfrm>
            <a:prstGeom prst="rect">
              <a:avLst/>
            </a:prstGeom>
          </p:spPr>
        </p:pic>
      </p:grpSp>
      <p:grpSp>
        <p:nvGrpSpPr>
          <p:cNvPr id="54" name="object 54"/>
          <p:cNvGrpSpPr/>
          <p:nvPr/>
        </p:nvGrpSpPr>
        <p:grpSpPr>
          <a:xfrm>
            <a:off x="5722620" y="8087272"/>
            <a:ext cx="1174750" cy="63500"/>
            <a:chOff x="5722620" y="8087272"/>
            <a:chExt cx="1174750" cy="63500"/>
          </a:xfrm>
        </p:grpSpPr>
        <p:sp>
          <p:nvSpPr>
            <p:cNvPr id="55" name="object 55"/>
            <p:cNvSpPr/>
            <p:nvPr/>
          </p:nvSpPr>
          <p:spPr>
            <a:xfrm>
              <a:off x="6774180" y="8119022"/>
              <a:ext cx="123189" cy="0"/>
            </a:xfrm>
            <a:custGeom>
              <a:avLst/>
              <a:gdLst/>
              <a:ahLst/>
              <a:cxnLst/>
              <a:rect l="l" t="t" r="r" b="b"/>
              <a:pathLst>
                <a:path w="123190">
                  <a:moveTo>
                    <a:pt x="0" y="0"/>
                  </a:moveTo>
                  <a:lnTo>
                    <a:pt x="122885" y="0"/>
                  </a:lnTo>
                </a:path>
              </a:pathLst>
            </a:custGeom>
            <a:ln w="63500">
              <a:solidFill>
                <a:srgbClr val="99E8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722620" y="8119022"/>
              <a:ext cx="1051560" cy="0"/>
            </a:xfrm>
            <a:custGeom>
              <a:avLst/>
              <a:gdLst/>
              <a:ahLst/>
              <a:cxnLst/>
              <a:rect l="l" t="t" r="r" b="b"/>
              <a:pathLst>
                <a:path w="1051559">
                  <a:moveTo>
                    <a:pt x="0" y="0"/>
                  </a:moveTo>
                  <a:lnTo>
                    <a:pt x="1051560" y="0"/>
                  </a:lnTo>
                </a:path>
              </a:pathLst>
            </a:custGeom>
            <a:ln w="63500">
              <a:solidFill>
                <a:srgbClr val="E7C8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7" name="object 57"/>
          <p:cNvGrpSpPr/>
          <p:nvPr/>
        </p:nvGrpSpPr>
        <p:grpSpPr>
          <a:xfrm>
            <a:off x="5722620" y="8304222"/>
            <a:ext cx="1174750" cy="63500"/>
            <a:chOff x="5722620" y="8304222"/>
            <a:chExt cx="1174750" cy="63500"/>
          </a:xfrm>
        </p:grpSpPr>
        <p:sp>
          <p:nvSpPr>
            <p:cNvPr id="58" name="object 58"/>
            <p:cNvSpPr/>
            <p:nvPr/>
          </p:nvSpPr>
          <p:spPr>
            <a:xfrm>
              <a:off x="6819900" y="8335972"/>
              <a:ext cx="77470" cy="0"/>
            </a:xfrm>
            <a:custGeom>
              <a:avLst/>
              <a:gdLst/>
              <a:ahLst/>
              <a:cxnLst/>
              <a:rect l="l" t="t" r="r" b="b"/>
              <a:pathLst>
                <a:path w="77470">
                  <a:moveTo>
                    <a:pt x="0" y="0"/>
                  </a:moveTo>
                  <a:lnTo>
                    <a:pt x="77165" y="0"/>
                  </a:lnTo>
                </a:path>
              </a:pathLst>
            </a:custGeom>
            <a:ln w="63500">
              <a:solidFill>
                <a:srgbClr val="99E8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722620" y="8335972"/>
              <a:ext cx="1097280" cy="0"/>
            </a:xfrm>
            <a:custGeom>
              <a:avLst/>
              <a:gdLst/>
              <a:ahLst/>
              <a:cxnLst/>
              <a:rect l="l" t="t" r="r" b="b"/>
              <a:pathLst>
                <a:path w="1097279">
                  <a:moveTo>
                    <a:pt x="0" y="0"/>
                  </a:moveTo>
                  <a:lnTo>
                    <a:pt x="1097280" y="0"/>
                  </a:lnTo>
                </a:path>
              </a:pathLst>
            </a:custGeom>
            <a:ln w="63500">
              <a:solidFill>
                <a:srgbClr val="E7C8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31F2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150</Words>
  <Application>Microsoft Office PowerPoint</Application>
  <PresentationFormat>Personnalisé</PresentationFormat>
  <Paragraphs>34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Calibri</vt:lpstr>
      <vt:lpstr>Oswald</vt:lpstr>
      <vt:lpstr>Raleway-ExtraLight</vt:lpstr>
      <vt:lpstr>Raleway-SemiBold</vt:lpstr>
      <vt:lpstr>Raleway-Thin</vt:lpstr>
      <vt:lpstr>Office Theme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Estelle</dc:creator>
  <cp:lastModifiedBy>Estelle</cp:lastModifiedBy>
  <cp:revision>2</cp:revision>
  <dcterms:created xsi:type="dcterms:W3CDTF">2021-06-21T08:51:03Z</dcterms:created>
  <dcterms:modified xsi:type="dcterms:W3CDTF">2021-10-22T13:25:10Z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2021-06-21T00:00:00Z</vt:filetime>
  </property>
  <property fmtid="{D5CDD505-2E9C-101B-9397-08002B2CF9AE}" pid="3" name="Creator">
    <vt:lpwstr>Adobe InDesign 16.1 (Macintosh)</vt:lpwstr>
  </property>
  <property fmtid="{D5CDD505-2E9C-101B-9397-08002B2CF9AE}" pid="4" name="LastSaved">
    <vt:filetime>2021-06-21T00:00:00Z</vt:filetime>
  </property>
</Properties>
</file>