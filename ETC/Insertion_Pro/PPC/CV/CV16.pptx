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2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8477" autoAdjust="0"/>
    <p:restoredTop sz="96149" autoAdjust="0"/>
  </p:normalViewPr>
  <p:slideViewPr>
    <p:cSldViewPr>
      <p:cViewPr varScale="1">
        <p:scale>
          <a:sx n="54" d="100"/>
          <a:sy n="54" d="100"/>
        </p:scale>
        <p:origin x="30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D975A-6B9F-4E48-8ADA-2195F83B8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563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F5786-D68E-4784-BBF3-F781909E2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63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57595-1165-4CB3-ADBC-2A654D3FE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20E6C-340E-4A62-9248-12F7DBF7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7A3C4-D17A-4505-B0BB-89DEDC66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83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B8900-0DAC-4725-A8AE-394AFF8D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0B213-12A1-4EAD-9399-9D5455A2E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96CDE-CFEF-4B77-B59C-9EDD21837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66D35-5715-4A95-ABE7-332F2C05E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B68E5-2FC3-4B62-B3E7-22144D3A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1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1AD9E-1985-4EBC-8705-438A77E7F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55E4A-5730-4EEB-8C9D-C0EE5E607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574" y="7156164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F01EE-FF65-496C-A9C8-9C4AA3AF3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43F14-D9EA-4168-9596-01C8B7EA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1E596-D6A0-48A5-B64C-C6924A30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70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D7F46-FA6B-4A3B-8024-BF76712CA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27103-71BD-4630-BB99-49E148242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0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7AFA-35F4-47D1-81E8-4FB0EF2D1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5478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94BB2-11CE-41F9-8FB9-80BCEA1F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4D9D9-5685-4EDD-98EE-B67A11CE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AD904-03C8-4446-A98A-61CCB11F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21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B4A46-1645-452F-803E-F292F5DDB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569326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50122-2737-4216-A8AB-A653BF241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494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FEBE2-1E75-4FB0-9726-40F492E3A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94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C751DC-EB5F-41B7-AA0A-A1EB72F10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09624-15CA-4C34-A090-A36938C80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14EE73-B3F9-49EE-8C62-0B9410DCB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2EF691-9776-4ACA-932B-5F9C42B8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BE69D-335D-40ED-BEBD-2B1C7EC1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39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66B4-F92D-402F-BA94-C0648B18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A973A3-63E5-472F-8485-9F386AF1F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5E473-D9AB-4CE9-862A-3E51490D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546C7-6B17-43CD-9A1B-B26EA7D2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5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DADD5-4154-42FC-99A4-E4BD93AAC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3AC13-78D5-4412-AD4E-66818ACD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E4AE1-A917-4C7B-804A-4BCBAA7C5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90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29A44-E7BE-4A99-BFC7-569D18CEE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22621-EF61-4E9C-85F5-6290D67D2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C45D2-9F10-4A11-9541-D320343EF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A03F6-10B4-471E-AE24-11E1C213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2FE34-3EDD-4849-9977-2D8564D59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40A80-B8FA-4130-A8A3-73B700D3B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75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DD54-9650-4A67-B9EC-81578EFEC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7C6B3-3978-4665-B102-693AA97D2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05F1A-1343-48F1-84C8-1B76C6072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78A79-CB71-430C-A3CB-F34D20D6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60E8C-C3FC-4912-B882-3D42AB84B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05772-62B9-472D-BF82-04710174D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95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D7C1-4D85-415C-A00D-09C0731D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14B46-6EBE-4C66-BEA0-B64FFA58D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EE025-97D9-47F9-859B-66D9028A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5CA74-ED4B-4ADA-BF44-2F20EEC12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84BF2-80CE-4146-A6A7-D2CA99A3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1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1DDC-271D-4854-9DF8-1AFDF3F04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D4A89-A793-485F-9244-B2DBBB87B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509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D335C-5545-4B5D-8FA8-A4A0EB52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7C098-AB70-4D74-870C-79FB6837E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8722B-98F1-44D0-B975-3A895B89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0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BF666-34CA-4A67-98A0-0ED82E3EA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E23B5-F132-4DD9-93DB-8549A8660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F663A-EA96-4A27-8E67-8FBAADA48B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325B9-81AA-417D-9F54-3946FBAFA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F0DB3-61F5-4782-822F-E1E12BD65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41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2938" y="269007"/>
            <a:ext cx="4232911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indent="12700">
              <a:lnSpc>
                <a:spcPct val="100000"/>
              </a:lnSpc>
              <a:spcBef>
                <a:spcPts val="100"/>
              </a:spcBef>
            </a:pPr>
            <a:r>
              <a:rPr sz="1100" b="1" kern="0" spc="-2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Ingénieure d’Affaires - Key Account Manager +12 ans d’expérience</a:t>
            </a:r>
            <a:endParaRPr sz="1100" kern="0" spc="-2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89958" y="2243926"/>
            <a:ext cx="913712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kern="0" spc="100" dirty="0">
                <a:solidFill>
                  <a:srgbClr val="D2232A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Trebuchet MS"/>
              </a:rPr>
              <a:t>FORMATION</a:t>
            </a:r>
            <a:endParaRPr sz="1000" kern="0" spc="100" dirty="0">
              <a:latin typeface="Bebas Neue" panose="020B0606020202050201" pitchFamily="34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9958" y="3839785"/>
            <a:ext cx="1280800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kern="0" spc="100" dirty="0">
                <a:solidFill>
                  <a:srgbClr val="D2232A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Trebuchet MS"/>
              </a:rPr>
              <a:t>CERTIFICATIONS</a:t>
            </a:r>
            <a:endParaRPr sz="1000" kern="0" spc="100" dirty="0">
              <a:latin typeface="Bebas Neue" panose="020B0606020202050201" pitchFamily="34" charset="0"/>
              <a:ea typeface="Roboto Light" panose="02000000000000000000" pitchFamily="2" charset="0"/>
              <a:cs typeface="Robot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489959" y="624231"/>
            <a:ext cx="337947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Bebas Neue" panose="020B0606020202050201" pitchFamily="34" charset="0"/>
                <a:ea typeface="Roboto Light" panose="02000000000000000000" pitchFamily="2" charset="0"/>
              </a:rPr>
              <a:t>MARINE DUPONT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3489958" y="5184712"/>
            <a:ext cx="2683427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spc="100" dirty="0">
                <a:solidFill>
                  <a:srgbClr val="D2232A"/>
                </a:solidFill>
                <a:latin typeface="Bebas Neue" panose="020B0606020202050201" pitchFamily="34" charset="0"/>
                <a:ea typeface="Roboto Light" panose="02000000000000000000" pitchFamily="2" charset="0"/>
              </a:rPr>
              <a:t>EXPÉRIENCES PROFESSIONNELLES</a:t>
            </a:r>
            <a:endParaRPr sz="1000" spc="100" dirty="0">
              <a:solidFill>
                <a:srgbClr val="D2232A"/>
              </a:solidFill>
              <a:latin typeface="Bebas Neue" panose="020B0606020202050201" pitchFamily="34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9958" y="8202810"/>
            <a:ext cx="3364229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58775">
              <a:lnSpc>
                <a:spcPct val="100000"/>
              </a:lnSpc>
              <a:spcBef>
                <a:spcPts val="100"/>
              </a:spcBef>
            </a:pPr>
            <a:r>
              <a:rPr sz="1000" b="1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08/2008-08/2010: Responsable Commerciale Ouest  ENTREPRISE XXX | PARIS</a:t>
            </a:r>
            <a:endParaRPr sz="1000" b="1" kern="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R="5080">
              <a:lnSpc>
                <a:spcPct val="100000"/>
              </a:lnSpc>
            </a:pPr>
            <a:r>
              <a:rPr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Gérer le portefeuille client et assurer la prospection  </a:t>
            </a:r>
            <a:r>
              <a:rPr sz="1000" b="1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Réussite : </a:t>
            </a:r>
            <a:r>
              <a:rPr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Atteinte des objectifs avec 500 k€ de CA de vente  en ligne, forte croissance sur la vente de consommables et  d’instruments</a:t>
            </a:r>
            <a:endParaRPr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9958" y="9306029"/>
            <a:ext cx="28244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2735">
              <a:lnSpc>
                <a:spcPct val="100000"/>
              </a:lnSpc>
              <a:spcBef>
                <a:spcPts val="100"/>
              </a:spcBef>
            </a:pPr>
            <a:r>
              <a:rPr sz="1000" b="1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09/2004-04/2008: Responsable Export EU /  Produits Vétérinaires</a:t>
            </a:r>
            <a:endParaRPr sz="1000" b="1" kern="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</a:pPr>
            <a:r>
              <a:rPr sz="1000" b="1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ENTREPRISE XXX | LONDRES</a:t>
            </a:r>
            <a:endParaRPr sz="1000" b="1" kern="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R="5080">
              <a:lnSpc>
                <a:spcPct val="100000"/>
              </a:lnSpc>
            </a:pPr>
            <a:r>
              <a:rPr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Gérer le portefeuille client existant (Royaume-Uni)  Prospecter de nouveaux marchés (Italie et Irlande)</a:t>
            </a:r>
            <a:endParaRPr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5900" y="2401532"/>
            <a:ext cx="2929255" cy="8290559"/>
          </a:xfrm>
          <a:custGeom>
            <a:avLst/>
            <a:gdLst/>
            <a:ahLst/>
            <a:cxnLst/>
            <a:rect l="l" t="t" r="r" b="b"/>
            <a:pathLst>
              <a:path w="2929255" h="8290559">
                <a:moveTo>
                  <a:pt x="2928848" y="0"/>
                </a:moveTo>
                <a:lnTo>
                  <a:pt x="0" y="0"/>
                </a:lnTo>
                <a:lnTo>
                  <a:pt x="0" y="8290471"/>
                </a:lnTo>
                <a:lnTo>
                  <a:pt x="2928848" y="8290471"/>
                </a:lnTo>
                <a:lnTo>
                  <a:pt x="2928848" y="0"/>
                </a:lnTo>
                <a:close/>
              </a:path>
            </a:pathLst>
          </a:custGeom>
          <a:solidFill>
            <a:srgbClr val="4A4F5A"/>
          </a:solidFill>
        </p:spPr>
        <p:txBody>
          <a:bodyPr wrap="square" lIns="0" tIns="0" rIns="0" bIns="0" rtlCol="0"/>
          <a:lstStyle/>
          <a:p>
            <a:endParaRPr kern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46" y="0"/>
            <a:ext cx="2935202" cy="314255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0" y="0"/>
            <a:ext cx="7331709" cy="10692130"/>
          </a:xfrm>
          <a:custGeom>
            <a:avLst/>
            <a:gdLst/>
            <a:ahLst/>
            <a:cxnLst/>
            <a:rect l="l" t="t" r="r" b="b"/>
            <a:pathLst>
              <a:path w="7331709" h="10692130">
                <a:moveTo>
                  <a:pt x="244068" y="0"/>
                </a:moveTo>
                <a:lnTo>
                  <a:pt x="0" y="0"/>
                </a:lnTo>
                <a:lnTo>
                  <a:pt x="0" y="10692003"/>
                </a:lnTo>
                <a:lnTo>
                  <a:pt x="244068" y="10692003"/>
                </a:lnTo>
                <a:lnTo>
                  <a:pt x="244068" y="0"/>
                </a:lnTo>
                <a:close/>
              </a:path>
              <a:path w="7331709" h="10692130">
                <a:moveTo>
                  <a:pt x="7331392" y="558114"/>
                </a:moveTo>
                <a:lnTo>
                  <a:pt x="2748750" y="558114"/>
                </a:lnTo>
                <a:lnTo>
                  <a:pt x="2748750" y="1698320"/>
                </a:lnTo>
                <a:lnTo>
                  <a:pt x="3049803" y="1477022"/>
                </a:lnTo>
                <a:lnTo>
                  <a:pt x="7331392" y="1477022"/>
                </a:lnTo>
                <a:lnTo>
                  <a:pt x="7331392" y="558114"/>
                </a:lnTo>
                <a:close/>
              </a:path>
            </a:pathLst>
          </a:custGeom>
          <a:solidFill>
            <a:srgbClr val="D2232A"/>
          </a:solidFill>
        </p:spPr>
        <p:txBody>
          <a:bodyPr wrap="square" lIns="0" tIns="0" rIns="0" bIns="0" rtlCol="0"/>
          <a:lstStyle/>
          <a:p>
            <a:endParaRPr kern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68977" y="7007574"/>
            <a:ext cx="604332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800" kern="0" spc="100" dirty="0">
                <a:solidFill>
                  <a:srgbClr val="FFFFFF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Trebuchet MS"/>
              </a:rPr>
              <a:t>ATOUTS</a:t>
            </a:r>
            <a:endParaRPr sz="1200" kern="0" spc="100" dirty="0">
              <a:latin typeface="Bebas Neue" panose="020B0606020202050201" pitchFamily="34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19564" y="9184195"/>
            <a:ext cx="753745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800" kern="0" spc="100" dirty="0">
                <a:solidFill>
                  <a:srgbClr val="FFFFFF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Trebuchet MS"/>
              </a:rPr>
              <a:t>INTÉRÊTS</a:t>
            </a:r>
            <a:endParaRPr sz="1200" kern="0" spc="100" dirty="0">
              <a:latin typeface="Bebas Neue" panose="020B0606020202050201" pitchFamily="34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56767" y="5428010"/>
            <a:ext cx="716542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sz="1800" kern="0" spc="100" dirty="0">
                <a:solidFill>
                  <a:srgbClr val="FFFFFF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Trebuchet MS"/>
              </a:rPr>
              <a:t>CONTACT</a:t>
            </a:r>
            <a:endParaRPr sz="1000" kern="0" spc="100" dirty="0">
              <a:latin typeface="Bebas Neue" panose="020B0606020202050201" pitchFamily="34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42020" y="3386393"/>
            <a:ext cx="731289" cy="289823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kern="0" spc="100" dirty="0">
                <a:solidFill>
                  <a:srgbClr val="FFFFFF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Trebuchet MS"/>
              </a:rPr>
              <a:t>OBJECTIF</a:t>
            </a:r>
            <a:endParaRPr sz="1000" kern="0" spc="100" dirty="0">
              <a:latin typeface="Bebas Neue" panose="020B0606020202050201" pitchFamily="34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65679" y="5912624"/>
            <a:ext cx="52705" cy="600075"/>
          </a:xfrm>
          <a:custGeom>
            <a:avLst/>
            <a:gdLst/>
            <a:ahLst/>
            <a:cxnLst/>
            <a:rect l="l" t="t" r="r" b="b"/>
            <a:pathLst>
              <a:path w="52705" h="600075">
                <a:moveTo>
                  <a:pt x="52120" y="548538"/>
                </a:moveTo>
                <a:lnTo>
                  <a:pt x="0" y="548538"/>
                </a:lnTo>
                <a:lnTo>
                  <a:pt x="0" y="599744"/>
                </a:lnTo>
                <a:lnTo>
                  <a:pt x="52120" y="599744"/>
                </a:lnTo>
                <a:lnTo>
                  <a:pt x="52120" y="548538"/>
                </a:lnTo>
                <a:close/>
              </a:path>
              <a:path w="52705" h="600075">
                <a:moveTo>
                  <a:pt x="52120" y="366572"/>
                </a:moveTo>
                <a:lnTo>
                  <a:pt x="0" y="366572"/>
                </a:lnTo>
                <a:lnTo>
                  <a:pt x="0" y="417779"/>
                </a:lnTo>
                <a:lnTo>
                  <a:pt x="52120" y="417779"/>
                </a:lnTo>
                <a:lnTo>
                  <a:pt x="52120" y="366572"/>
                </a:lnTo>
                <a:close/>
              </a:path>
              <a:path w="52705" h="600075">
                <a:moveTo>
                  <a:pt x="52120" y="181965"/>
                </a:moveTo>
                <a:lnTo>
                  <a:pt x="0" y="181965"/>
                </a:lnTo>
                <a:lnTo>
                  <a:pt x="0" y="233172"/>
                </a:lnTo>
                <a:lnTo>
                  <a:pt x="52120" y="233172"/>
                </a:lnTo>
                <a:lnTo>
                  <a:pt x="52120" y="181965"/>
                </a:lnTo>
                <a:close/>
              </a:path>
              <a:path w="52705" h="600075">
                <a:moveTo>
                  <a:pt x="52120" y="0"/>
                </a:moveTo>
                <a:lnTo>
                  <a:pt x="0" y="0"/>
                </a:lnTo>
                <a:lnTo>
                  <a:pt x="0" y="51206"/>
                </a:lnTo>
                <a:lnTo>
                  <a:pt x="52120" y="51206"/>
                </a:lnTo>
                <a:lnTo>
                  <a:pt x="521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kern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74625" y="1527129"/>
            <a:ext cx="305752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i="1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Dynamique, Organisée, Goût de la performance</a:t>
            </a:r>
            <a:endParaRPr sz="1200" kern="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FEFE31EE-0295-4058-9E77-89972AA3DEE3}"/>
              </a:ext>
            </a:extLst>
          </p:cNvPr>
          <p:cNvSpPr txBox="1"/>
          <p:nvPr/>
        </p:nvSpPr>
        <p:spPr>
          <a:xfrm>
            <a:off x="3489958" y="2651432"/>
            <a:ext cx="2683426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15"/>
              </a:spcBef>
            </a:pPr>
            <a:r>
              <a:rPr sz="1000" b="1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2008: </a:t>
            </a:r>
            <a:r>
              <a:rPr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ECOLE XXX</a:t>
            </a:r>
            <a:endParaRPr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>
              <a:lnSpc>
                <a:spcPct val="100000"/>
              </a:lnSpc>
            </a:pPr>
            <a:r>
              <a:rPr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Master en Marketing et Gestion des Entreprises</a:t>
            </a:r>
            <a:endParaRPr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>
              <a:lnSpc>
                <a:spcPct val="100000"/>
              </a:lnSpc>
            </a:pPr>
            <a:r>
              <a:rPr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Stage de fin d’études </a:t>
            </a:r>
            <a:r>
              <a:rPr sz="1000" kern="0" dirty="0" err="1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en</a:t>
            </a:r>
            <a:r>
              <a:rPr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 Chine</a:t>
            </a:r>
            <a:endParaRPr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62CE645B-5D28-4614-A1BD-695D941FF01E}"/>
              </a:ext>
            </a:extLst>
          </p:cNvPr>
          <p:cNvSpPr txBox="1"/>
          <p:nvPr/>
        </p:nvSpPr>
        <p:spPr>
          <a:xfrm>
            <a:off x="3489958" y="3257579"/>
            <a:ext cx="31267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000" b="1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2005: </a:t>
            </a:r>
            <a:r>
              <a:rPr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ECOLE XXX</a:t>
            </a:r>
            <a:endParaRPr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>
              <a:lnSpc>
                <a:spcPct val="100000"/>
              </a:lnSpc>
            </a:pPr>
            <a:r>
              <a:rPr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Brevet de Technicien Supérieur Commerce International</a:t>
            </a:r>
            <a:endParaRPr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21" name="object 5">
            <a:extLst>
              <a:ext uri="{FF2B5EF4-FFF2-40B4-BE49-F238E27FC236}">
                <a16:creationId xmlns:a16="http://schemas.microsoft.com/office/drawing/2014/main" id="{36334068-9C56-49F5-9255-37FB21AF2935}"/>
              </a:ext>
            </a:extLst>
          </p:cNvPr>
          <p:cNvSpPr txBox="1">
            <a:spLocks/>
          </p:cNvSpPr>
          <p:nvPr/>
        </p:nvSpPr>
        <p:spPr>
          <a:xfrm>
            <a:off x="3489958" y="5602775"/>
            <a:ext cx="3709033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800" b="0" i="0">
                <a:solidFill>
                  <a:srgbClr val="D2232A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5080">
              <a:spcBef>
                <a:spcPts val="1125"/>
              </a:spcBef>
            </a:pPr>
            <a:r>
              <a:rPr lang="fr-FR" sz="1000" b="1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01/2015-Présent: Ingénieure d’Affaires France / Europe du Sud  ENTREPRISE XXX DIVISION IBIS BIOSCIENCES | PARIS</a:t>
            </a:r>
            <a:endParaRPr lang="fr-FR" sz="1000" b="1" kern="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R="291465"/>
            <a:r>
              <a:rPr lang="fr-FR"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Lancer une nouvelle plateforme (</a:t>
            </a:r>
            <a:r>
              <a:rPr lang="fr-FR" sz="1000" kern="0" dirty="0" err="1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instruments&amp;réactifs</a:t>
            </a:r>
            <a:r>
              <a:rPr lang="fr-FR"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)  associant PCR &amp; </a:t>
            </a:r>
            <a:r>
              <a:rPr lang="fr-FR" sz="1000" kern="0" dirty="0" err="1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Spectométrie</a:t>
            </a:r>
            <a:r>
              <a:rPr lang="fr-FR"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 de masse à destination des  laboratoires de  bactériologie, virologie &amp; mycologie</a:t>
            </a:r>
            <a:endParaRPr lang="fr-FR"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marR="174625"/>
            <a:r>
              <a:rPr lang="fr-FR" sz="1000" b="1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Réussite : </a:t>
            </a:r>
            <a:r>
              <a:rPr lang="fr-FR"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Installation de 4 plateformes (1 FR, 1 BEL et 2 ITA),  construction d’un modèle économie, mise en place d’une  nouvelle stratégie marketing</a:t>
            </a:r>
            <a:endParaRPr lang="fr-FR"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60FC0377-23D8-4D38-8553-7691EED6FA73}"/>
              </a:ext>
            </a:extLst>
          </p:cNvPr>
          <p:cNvSpPr txBox="1">
            <a:spLocks/>
          </p:cNvSpPr>
          <p:nvPr/>
        </p:nvSpPr>
        <p:spPr>
          <a:xfrm>
            <a:off x="3489958" y="6961451"/>
            <a:ext cx="3709033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1800" b="0" i="0">
                <a:solidFill>
                  <a:srgbClr val="D2232A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1155700">
              <a:spcBef>
                <a:spcPts val="1100"/>
              </a:spcBef>
            </a:pPr>
            <a:r>
              <a:rPr lang="fr-FR" sz="1000" b="1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08/2010-01/2015: Responsable Régionale  ENTREPRISE XXX | PARIS</a:t>
            </a:r>
            <a:endParaRPr lang="fr-FR" sz="1000" b="1" kern="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R="211454"/>
            <a:r>
              <a:rPr lang="fr-FR"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Développer les ventes (Instruments &amp; </a:t>
            </a:r>
            <a:r>
              <a:rPr lang="fr-FR" sz="1000" kern="0" dirty="0" err="1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Réactfs</a:t>
            </a:r>
            <a:r>
              <a:rPr lang="fr-FR"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 PCR) pour une  clientèle de biologistes publiques et privées</a:t>
            </a:r>
            <a:endParaRPr lang="fr-FR"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marR="195580"/>
            <a:r>
              <a:rPr lang="fr-FR" sz="1000" b="1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Réussite : </a:t>
            </a:r>
            <a:r>
              <a:rPr lang="fr-FR" sz="1000" kern="0" dirty="0">
                <a:solidFill>
                  <a:srgbClr val="231F2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Évolution de 100 k€ de vente en 2010 et 900 k€ en  2014, 21 nouveaux clients en portefeuille, augmentation du  nombre de tests différents utilisés par compte</a:t>
            </a:r>
            <a:endParaRPr lang="fr-FR"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23" name="object 4">
            <a:extLst>
              <a:ext uri="{FF2B5EF4-FFF2-40B4-BE49-F238E27FC236}">
                <a16:creationId xmlns:a16="http://schemas.microsoft.com/office/drawing/2014/main" id="{30E0AC4C-6C74-4BDD-B9EE-7B0AE636215B}"/>
              </a:ext>
            </a:extLst>
          </p:cNvPr>
          <p:cNvSpPr txBox="1"/>
          <p:nvPr/>
        </p:nvSpPr>
        <p:spPr>
          <a:xfrm>
            <a:off x="3489958" y="4235430"/>
            <a:ext cx="346011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15"/>
              </a:spcBef>
            </a:pPr>
            <a:r>
              <a:rPr sz="1000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Certification SalesForce.com</a:t>
            </a:r>
            <a:endParaRPr sz="1000" kern="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1000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Strategic Selling : Miller Heiman Alumni</a:t>
            </a:r>
            <a:endParaRPr sz="1000" kern="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1000" kern="0" dirty="0">
                <a:solidFill>
                  <a:srgbClr val="231F20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Certification Ethics &amp; Compliance : The Legal Knowledge Co.</a:t>
            </a:r>
            <a:endParaRPr sz="1000" kern="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24" name="object 13">
            <a:extLst>
              <a:ext uri="{FF2B5EF4-FFF2-40B4-BE49-F238E27FC236}">
                <a16:creationId xmlns:a16="http://schemas.microsoft.com/office/drawing/2014/main" id="{1E16765B-EE06-4497-B446-C26DFC38B7C6}"/>
              </a:ext>
            </a:extLst>
          </p:cNvPr>
          <p:cNvSpPr txBox="1"/>
          <p:nvPr/>
        </p:nvSpPr>
        <p:spPr>
          <a:xfrm>
            <a:off x="1556014" y="7374341"/>
            <a:ext cx="1217295" cy="1441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875" algn="r">
              <a:spcAft>
                <a:spcPts val="500"/>
              </a:spcAft>
            </a:pPr>
            <a:r>
              <a:rPr sz="1200" kern="0" dirty="0" err="1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Anglais</a:t>
            </a:r>
            <a:endParaRPr lang="en-GB" sz="1200" kern="0" dirty="0">
              <a:solidFill>
                <a:srgbClr val="FFFFFF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marR="15875" algn="r">
              <a:spcAft>
                <a:spcPts val="500"/>
              </a:spcAft>
            </a:pPr>
            <a:r>
              <a:rPr sz="1200" kern="0" dirty="0" err="1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Italien</a:t>
            </a:r>
            <a:r>
              <a:rPr sz="12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 </a:t>
            </a:r>
            <a:endParaRPr lang="en-GB" sz="1200" kern="0" dirty="0">
              <a:solidFill>
                <a:srgbClr val="FFFFFF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marR="15875" algn="r">
              <a:spcAft>
                <a:spcPts val="500"/>
              </a:spcAft>
            </a:pPr>
            <a:r>
              <a:rPr sz="1200" kern="0" dirty="0" err="1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Espagnol</a:t>
            </a:r>
            <a:r>
              <a:rPr sz="12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  </a:t>
            </a:r>
            <a:endParaRPr lang="en-GB" sz="1200" kern="0" dirty="0">
              <a:solidFill>
                <a:srgbClr val="FFFFFF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marR="15875" algn="r">
              <a:spcAft>
                <a:spcPts val="500"/>
              </a:spcAft>
            </a:pPr>
            <a:r>
              <a:rPr sz="12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Pack Office</a:t>
            </a:r>
            <a:endParaRPr sz="12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algn="r">
              <a:spcAft>
                <a:spcPts val="500"/>
              </a:spcAft>
            </a:pPr>
            <a:r>
              <a:rPr sz="12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CRM ACT! (SAGE)</a:t>
            </a:r>
            <a:endParaRPr sz="12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algn="r">
              <a:spcAft>
                <a:spcPts val="500"/>
              </a:spcAft>
            </a:pPr>
            <a:r>
              <a:rPr sz="12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SalesForce.com</a:t>
            </a:r>
            <a:endParaRPr sz="12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0753DA2C-70EA-4A3F-A0EE-54557D241EED}"/>
              </a:ext>
            </a:extLst>
          </p:cNvPr>
          <p:cNvSpPr txBox="1"/>
          <p:nvPr/>
        </p:nvSpPr>
        <p:spPr>
          <a:xfrm>
            <a:off x="2019564" y="9538157"/>
            <a:ext cx="753745" cy="6950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875" algn="r">
              <a:spcAft>
                <a:spcPts val="500"/>
              </a:spcAft>
            </a:pPr>
            <a:r>
              <a:rPr sz="12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Fitness  </a:t>
            </a:r>
            <a:endParaRPr lang="en-GB" sz="1200" kern="0" dirty="0">
              <a:solidFill>
                <a:srgbClr val="FFFFFF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marR="15875" algn="r">
              <a:spcAft>
                <a:spcPts val="500"/>
              </a:spcAft>
            </a:pPr>
            <a:r>
              <a:rPr sz="12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Voyages  </a:t>
            </a:r>
            <a:endParaRPr lang="en-GB" sz="1200" kern="0" dirty="0">
              <a:solidFill>
                <a:srgbClr val="FFFFFF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marR="15875" algn="r">
              <a:spcAft>
                <a:spcPts val="500"/>
              </a:spcAft>
            </a:pPr>
            <a:r>
              <a:rPr sz="12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Théâtre</a:t>
            </a:r>
            <a:endParaRPr sz="12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94E2BF28-3C89-4AC0-A3FE-62CDB3F0DC3C}"/>
              </a:ext>
            </a:extLst>
          </p:cNvPr>
          <p:cNvSpPr txBox="1"/>
          <p:nvPr/>
        </p:nvSpPr>
        <p:spPr>
          <a:xfrm>
            <a:off x="987925" y="5853309"/>
            <a:ext cx="1784985" cy="69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58445" algn="r">
              <a:lnSpc>
                <a:spcPct val="100000"/>
              </a:lnSpc>
              <a:spcBef>
                <a:spcPts val="1215"/>
              </a:spcBef>
            </a:pPr>
            <a:r>
              <a:rPr sz="10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+336 74 11 36 35</a:t>
            </a:r>
            <a:endParaRPr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marR="256540" algn="r">
              <a:lnSpc>
                <a:spcPct val="116700"/>
              </a:lnSpc>
            </a:pPr>
            <a:r>
              <a:rPr sz="10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marine.dupont@gmail.com  Basée à Paris (75) France  France &amp; International</a:t>
            </a:r>
            <a:endParaRPr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27" name="object 16">
            <a:extLst>
              <a:ext uri="{FF2B5EF4-FFF2-40B4-BE49-F238E27FC236}">
                <a16:creationId xmlns:a16="http://schemas.microsoft.com/office/drawing/2014/main" id="{7DD5BCE0-AD63-4AA7-8995-E4C1EED4203D}"/>
              </a:ext>
            </a:extLst>
          </p:cNvPr>
          <p:cNvSpPr txBox="1"/>
          <p:nvPr/>
        </p:nvSpPr>
        <p:spPr>
          <a:xfrm>
            <a:off x="479689" y="3749845"/>
            <a:ext cx="229362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5240" algn="r">
              <a:lnSpc>
                <a:spcPct val="100000"/>
              </a:lnSpc>
              <a:spcBef>
                <a:spcPts val="815"/>
              </a:spcBef>
            </a:pPr>
            <a:r>
              <a:rPr sz="1000" kern="0" dirty="0" err="1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Responsable</a:t>
            </a:r>
            <a:r>
              <a:rPr sz="10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 commerciale expérimentée  et technicienne qualifiée, mes  différentes expériences dans le secteur  de la santé m’ont appris à faire preuve  d’une grande rigueur. Je suis à la  recherche d’un nouveau défi et saurai  valoriser mes compétences et faire  preuve d’innovation pour conquérir de</a:t>
            </a:r>
            <a:endParaRPr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  <a:p>
            <a:pPr marR="16510" algn="r">
              <a:lnSpc>
                <a:spcPct val="100000"/>
              </a:lnSpc>
            </a:pPr>
            <a:r>
              <a:rPr sz="1000" kern="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t"/>
              </a:rPr>
              <a:t>nouveaux marchés.</a:t>
            </a:r>
            <a:endParaRPr sz="1000" kern="0" dirty="0">
              <a:latin typeface="Roboto Light" panose="02000000000000000000" pitchFamily="2" charset="0"/>
              <a:ea typeface="Roboto Light" panose="02000000000000000000" pitchFamily="2" charset="0"/>
              <a:cs typeface="Roboto Lt"/>
            </a:endParaRPr>
          </a:p>
        </p:txBody>
      </p:sp>
      <p:sp>
        <p:nvSpPr>
          <p:cNvPr id="28" name="object 3">
            <a:extLst>
              <a:ext uri="{FF2B5EF4-FFF2-40B4-BE49-F238E27FC236}">
                <a16:creationId xmlns:a16="http://schemas.microsoft.com/office/drawing/2014/main" id="{A8E89FBC-3B86-4DE8-B80A-36103F4628E8}"/>
              </a:ext>
            </a:extLst>
          </p:cNvPr>
          <p:cNvSpPr txBox="1"/>
          <p:nvPr/>
        </p:nvSpPr>
        <p:spPr>
          <a:xfrm>
            <a:off x="3462132" y="664554"/>
            <a:ext cx="356489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z="4800" kern="0" spc="300" dirty="0">
                <a:solidFill>
                  <a:schemeClr val="bg1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Trebuchet MS"/>
              </a:rPr>
              <a:t>MARINE DUPONT</a:t>
            </a:r>
            <a:endParaRPr sz="4800" kern="0" spc="300" dirty="0">
              <a:solidFill>
                <a:schemeClr val="bg1"/>
              </a:solidFill>
              <a:latin typeface="Bebas Neue" panose="020B0606020202050201" pitchFamily="34" charset="0"/>
              <a:ea typeface="Roboto Light" panose="02000000000000000000" pitchFamily="2" charset="0"/>
              <a:cs typeface="Roboto 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351</Words>
  <Application>Microsoft Office PowerPoint</Application>
  <PresentationFormat>Personnalisé</PresentationFormat>
  <Paragraphs>43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10" baseType="lpstr">
      <vt:lpstr>Arial</vt:lpstr>
      <vt:lpstr>Bebas Neue</vt:lpstr>
      <vt:lpstr>Calibri</vt:lpstr>
      <vt:lpstr>Calibri Light</vt:lpstr>
      <vt:lpstr>Roboto</vt:lpstr>
      <vt:lpstr>Roboto Light</vt:lpstr>
      <vt:lpstr>Roboto Lt</vt:lpstr>
      <vt:lpstr>Trebuchet MS</vt:lpstr>
      <vt:lpstr>Office Theme</vt:lpstr>
      <vt:lpstr>MARINE DUPONT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MARINE DUPONT</dc:title>
  <dc:creator>Estelle</dc:creator>
  <cp:lastModifiedBy>Estelle</cp:lastModifiedBy>
  <cp:revision>43</cp:revision>
  <dcterms:created xsi:type="dcterms:W3CDTF">2021-06-12T13:10:06Z</dcterms:created>
  <dcterms:modified xsi:type="dcterms:W3CDTF">2021-10-22T13:35:21Z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2021-06-12T00:00:00Z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2021-06-12T00:00:00Z</vt:filetime>
  </property>
</Properties>
</file>