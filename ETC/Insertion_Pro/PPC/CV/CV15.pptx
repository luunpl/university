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518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FA4C-87FB-4D73-BBB4-8293043E3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66441-A549-4858-951C-6814FB26C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9DDE6-FEA1-4A4A-AD45-21D1875C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957CC-846A-44F1-B728-FE80E95F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58E88-639C-4F20-9B16-84208288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1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F6F6-F30F-4466-91AD-F6FDFC0D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1AD2-677F-4E14-B1FB-EBE59C6C3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1F98F-E14A-417D-AC32-DE9655B0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AF65D-1DF2-4939-92FD-4C8896BC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D698D-707F-4B43-8B68-15B7A99B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6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3779-4543-4859-A59C-B652D6CF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979C8-356E-44C2-9C46-F37878BC4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200D7-AA9C-4577-908C-182B228A3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E395-C4AA-4A46-BEFD-CB54CDEE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2009B-2391-4A57-805D-DDA15FC6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7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648F-0C22-472E-8B01-63F59488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A1CB-1555-49CE-8219-FF4C76350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871A7-9E0F-4079-851C-B0382CC3A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8E69D-CB4A-428F-B614-7FD6DEE4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9E716-16B9-406C-B1DC-5BCC5A05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1D83A-FC50-4A27-94E5-04E87EAA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BBC4-FC3D-4C77-8ECB-5DFB2039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984EA-F96D-474D-A025-26494CE84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69844-00D9-4503-925C-3EBEC239E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97BB8-B541-469B-8004-3B4AE9E11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5BC14-81F6-410D-AB4E-AAC82221A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926CF-539A-4B2A-A1B9-F1201F21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7E588E-A40E-404E-92AE-8FE9A084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4DCDB7-4E2F-4ECE-BFA2-F7F027BB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5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9C88-6BAA-4210-B22B-D95FAAFE9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1B58E-5166-4BF9-AACE-EDD5C5AA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68E10-58C8-4423-91C9-12CD9D2E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02C7-5CCF-4242-975C-8DB024C2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8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006BED-C816-4E27-B811-F9D5983CC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8BCD9E-1AD9-4FEF-B729-EDC56331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D45B-B06C-48DA-9A32-0572B77B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3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0D7D-4153-4D4F-81F3-36EE57BEE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FC96C-2981-4BD5-B0B0-1380B89B7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2A6DD-EA36-4E14-B9C4-59F779AD2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01B2-48FE-4D0B-B13E-1940E36F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62786-E336-45C1-9A3A-F0C0E82B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AFF8F-5EB7-413F-AD10-D6ED8DBC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3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1554-1992-4B3C-B126-530D4523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74581-04A1-4CCB-A95C-75B7BE0E5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7629A-1924-4D92-BA67-8B4B84BC6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87295-14CB-4B9E-B4A9-E648E581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CD138-319A-491B-83AF-D77BCAFC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5D87C-DEBF-4BD1-829F-BB10A4FB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0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FB51-4C64-4D46-8F08-64043F35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5D3D1-2897-46C9-B787-C151F7615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F0D0D-347B-414B-B0C4-ACC8932F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8CE41-3A61-4BF4-9330-E3C22646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5FC08-CAF2-4AA1-B3C4-0A7EF480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45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7E260-17A7-410C-BDE6-C0F6929EE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E65E4-4E98-4933-B13D-0382FA887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2E50E-3905-40E8-8EA1-2A5AF6CF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76BBE-3096-4E24-9CF3-B57669E2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9599-21BB-4182-AF1D-6FD1FCE5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1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E5105D-7B36-433F-B862-613419B7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103FF-CD50-4848-A4A6-018EA412D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F5B45-4650-4651-8C92-6D66BAC49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C9443-71B4-4CB0-9A3A-35FD3FC4A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18AD-0E22-4AF8-88D7-AE26134F4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8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8500" y="827153"/>
            <a:ext cx="408241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2058988" algn="l"/>
              </a:tabLst>
            </a:pPr>
            <a:r>
              <a:rPr sz="4500" spc="100" dirty="0">
                <a:latin typeface="Seattle Sans" panose="00000400000000000000" pitchFamily="2" charset="0"/>
              </a:rPr>
              <a:t>A D R I E N</a:t>
            </a:r>
            <a:r>
              <a:rPr lang="en-GB" sz="4500" spc="100" dirty="0">
                <a:latin typeface="Seattle Sans" panose="00000400000000000000" pitchFamily="2" charset="0"/>
              </a:rPr>
              <a:t>   </a:t>
            </a:r>
            <a:r>
              <a:rPr sz="4500" spc="100" dirty="0">
                <a:latin typeface="Seattle Sans" panose="00000400000000000000" pitchFamily="2" charset="0"/>
              </a:rPr>
              <a:t>M E R C I E 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7050" y="435357"/>
            <a:ext cx="3801029" cy="346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20"/>
              </a:lnSpc>
              <a:spcBef>
                <a:spcPts val="100"/>
              </a:spcBef>
            </a:pPr>
            <a:r>
              <a:rPr sz="1200" b="1" kern="0" dirty="0">
                <a:latin typeface="Raleway" panose="020B0503030101060003" pitchFamily="34" charset="0"/>
                <a:cs typeface="Trebuchet MS"/>
              </a:rPr>
              <a:t>INGÉNIEUR D’AFFAIRES - KEY ACCOUNT MANAGER</a:t>
            </a:r>
            <a:endParaRPr sz="1200" kern="0" dirty="0">
              <a:latin typeface="Raleway" panose="020B0503030101060003" pitchFamily="34" charset="0"/>
              <a:cs typeface="Trebuchet MS"/>
            </a:endParaRPr>
          </a:p>
          <a:p>
            <a:pPr algn="ctr">
              <a:lnSpc>
                <a:spcPts val="1320"/>
              </a:lnSpc>
            </a:pPr>
            <a:r>
              <a:rPr sz="1200" b="1" kern="0" dirty="0">
                <a:latin typeface="Raleway" panose="020B0503030101060003" pitchFamily="34" charset="0"/>
                <a:cs typeface="Trebuchet MS"/>
              </a:rPr>
              <a:t>+12 ANS D’EXPÉRIENCE</a:t>
            </a:r>
            <a:endParaRPr sz="1200" kern="0" dirty="0">
              <a:latin typeface="Raleway" panose="020B0503030101060003" pitchFamily="34" charset="0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"/>
            <a:ext cx="7560309" cy="10692130"/>
            <a:chOff x="0" y="2"/>
            <a:chExt cx="7560309" cy="10692130"/>
          </a:xfrm>
        </p:grpSpPr>
        <p:sp>
          <p:nvSpPr>
            <p:cNvPr id="5" name="object 5"/>
            <p:cNvSpPr/>
            <p:nvPr/>
          </p:nvSpPr>
          <p:spPr>
            <a:xfrm>
              <a:off x="0" y="2"/>
              <a:ext cx="7560309" cy="10692130"/>
            </a:xfrm>
            <a:custGeom>
              <a:avLst/>
              <a:gdLst/>
              <a:ahLst/>
              <a:cxnLst/>
              <a:rect l="l" t="t" r="r" b="b"/>
              <a:pathLst>
                <a:path w="7560309" h="10692130">
                  <a:moveTo>
                    <a:pt x="0" y="0"/>
                  </a:moveTo>
                  <a:lnTo>
                    <a:pt x="0" y="10692003"/>
                  </a:lnTo>
                  <a:lnTo>
                    <a:pt x="7560005" y="10692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094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kern="0">
                <a:latin typeface="Raleway Light" panose="020B0403030101060003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251620" y="2"/>
              <a:ext cx="1308735" cy="1626870"/>
            </a:xfrm>
            <a:custGeom>
              <a:avLst/>
              <a:gdLst/>
              <a:ahLst/>
              <a:cxnLst/>
              <a:rect l="l" t="t" r="r" b="b"/>
              <a:pathLst>
                <a:path w="1308734" h="1626870">
                  <a:moveTo>
                    <a:pt x="1308379" y="0"/>
                  </a:moveTo>
                  <a:lnTo>
                    <a:pt x="0" y="0"/>
                  </a:lnTo>
                  <a:lnTo>
                    <a:pt x="1308379" y="1626425"/>
                  </a:lnTo>
                  <a:lnTo>
                    <a:pt x="1308379" y="0"/>
                  </a:lnTo>
                  <a:close/>
                </a:path>
              </a:pathLst>
            </a:custGeom>
            <a:solidFill>
              <a:srgbClr val="EEF0A7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kern="0">
                <a:latin typeface="Raleway Light" panose="020B0403030101060003" pitchFamily="34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8327" y="1496671"/>
            <a:ext cx="63214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2870" algn="ctr">
              <a:lnSpc>
                <a:spcPct val="100000"/>
              </a:lnSpc>
              <a:spcBef>
                <a:spcPts val="100"/>
              </a:spcBef>
            </a:pPr>
            <a:r>
              <a:rPr sz="1200" i="1" kern="0" dirty="0">
                <a:latin typeface="Raleway Light" panose="020B0403030101060003" pitchFamily="34" charset="0"/>
                <a:cs typeface="Trebuchet MS"/>
              </a:rPr>
              <a:t>DYNAMIQUE, ORGANISÉ, GOÛT DE LA PERFORMANCE</a:t>
            </a:r>
            <a:endParaRPr sz="1000" kern="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4209" y="2716321"/>
            <a:ext cx="5665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Responsable commercial expérimenté et technicien qualifié, mes différentes expériences dans le  secteur de la santé m’ont appris à faire preuve d’une grande rigueur. Je suis à la recherche d’un  nouveau défi et saurai valoriser mes compétences et faire preuve d’innovation pour conquérir de  nouveaux marchés.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14522" y="4210476"/>
            <a:ext cx="323786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Ingénieur d’Affaires France / Europe du Sud  ENTREPRISE XXX DIVISION IBIS BIOSCIENCES | PARIS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01/2015-Présent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4522" y="4820076"/>
            <a:ext cx="38900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2069">
              <a:lnSpc>
                <a:spcPct val="100000"/>
              </a:lnSpc>
              <a:spcBef>
                <a:spcPts val="100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» Lancer une nouvelle plateforme (instruments&amp;réactifs) associant  PCR &amp; Spectométrie de masse à destination des laboratoires de  bactériologie, virologie &amp; mycologie</a:t>
            </a:r>
          </a:p>
          <a:p>
            <a:pPr marR="5080">
              <a:lnSpc>
                <a:spcPct val="100000"/>
              </a:lnSpc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Réussite : </a:t>
            </a:r>
            <a:r>
              <a:rPr sz="1000" kern="0" dirty="0">
                <a:latin typeface="Raleway Light" panose="020B0403030101060003" pitchFamily="34" charset="0"/>
                <a:cs typeface="Trebuchet MS"/>
              </a:rPr>
              <a:t>Installation de 4 plateformes (1 FR, 1 BEL et 2 ITA),  construction d’un modèle économie, mise en place d’une nouvelle  stratégie marketing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14522" y="8901094"/>
            <a:ext cx="28536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Responsable Export EU / Produits Vétérinaires  ENTREPRISE XXX | PARIS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09/2004-04/2008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4522" y="9510694"/>
            <a:ext cx="30245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-12700">
              <a:lnSpc>
                <a:spcPct val="100000"/>
              </a:lnSpc>
              <a:spcBef>
                <a:spcPts val="100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» Gérer le portefeuille client existant (Royaume-Uni)</a:t>
            </a:r>
          </a:p>
          <a:p>
            <a:pPr marL="12700" indent="-12700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» Prospecter de nouveaux marchés (Italie et Irlande)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14522" y="5872271"/>
            <a:ext cx="152019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Responsable Régional  ENTREPRISE XXX | PARIS  08/2010-01/2015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14522" y="6481871"/>
            <a:ext cx="36271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» Développer les ventes (Instruments &amp; Réactfs PCR) pour une  clientèle de biologistes publiques et privées</a:t>
            </a:r>
          </a:p>
          <a:p>
            <a:pPr marR="27940">
              <a:lnSpc>
                <a:spcPct val="100000"/>
              </a:lnSpc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Réussite : </a:t>
            </a:r>
            <a:r>
              <a:rPr sz="1000" kern="0" dirty="0">
                <a:latin typeface="Raleway Light" panose="020B0403030101060003" pitchFamily="34" charset="0"/>
                <a:cs typeface="Trebuchet MS"/>
              </a:rPr>
              <a:t>Évolution de 100 k€ de vente en 2010 et 900 k€ en  2014, 21 nouveaux clients en portefeuille, augmentation du  nombre de tests différents utilisés par compte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214522" y="7460026"/>
            <a:ext cx="1973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Responsable Commercial Ouest  ENTREPRISE XXX | PARIS  08/2008-08/2010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14522" y="8069626"/>
            <a:ext cx="35375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» Gérer le portefeuille client et assurer la prospection  </a:t>
            </a:r>
            <a:r>
              <a:rPr sz="1000" b="1" kern="0" dirty="0">
                <a:latin typeface="Raleway" panose="020B0503030101060003" pitchFamily="34" charset="0"/>
                <a:cs typeface="Trebuchet MS"/>
              </a:rPr>
              <a:t>Réussite : </a:t>
            </a:r>
            <a:r>
              <a:rPr sz="1000" kern="0" dirty="0">
                <a:latin typeface="Raleway Light" panose="020B0403030101060003" pitchFamily="34" charset="0"/>
                <a:cs typeface="Trebuchet MS"/>
              </a:rPr>
              <a:t>Atteinte des objectifs avec 500 k€ de CA de vente  en ligne, forte croissance sur la vente de consommables et  d’instruments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14522" y="3790692"/>
            <a:ext cx="2773510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kern="0" spc="300" dirty="0">
                <a:latin typeface="Seattle Sans" panose="00000400000000000000" pitchFamily="2" charset="0"/>
                <a:cs typeface="Trebuchet MS"/>
              </a:rPr>
              <a:t>EXPÉRIENCES PROFESSIONNELLES 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79872" y="3790692"/>
            <a:ext cx="892872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400" kern="0" spc="300" dirty="0">
                <a:latin typeface="Seattle Sans" panose="00000400000000000000" pitchFamily="2" charset="0"/>
                <a:cs typeface="Trebuchet MS"/>
              </a:rPr>
              <a:t>FORMATION</a:t>
            </a:r>
            <a:endParaRPr sz="1000" kern="0" spc="300" dirty="0">
              <a:latin typeface="Seattle Sans" panose="00000400000000000000" pitchFamily="2" charset="0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5290" y="4955923"/>
            <a:ext cx="193745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2008 : ECOLE XXX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  <a:p>
            <a:pPr marR="5715" algn="r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Brevet de Technicien Supérieur</a:t>
            </a:r>
          </a:p>
          <a:p>
            <a:pPr marR="5080" algn="r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Commerce International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63603" y="7245614"/>
            <a:ext cx="609141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400" kern="0" spc="300" dirty="0">
                <a:latin typeface="Seattle Sans" panose="00000400000000000000" pitchFamily="2" charset="0"/>
                <a:cs typeface="Trebuchet MS"/>
              </a:rPr>
              <a:t>ATOUTS</a:t>
            </a:r>
            <a:endParaRPr sz="1000" kern="0" spc="300" dirty="0">
              <a:latin typeface="Seattle Sans" panose="00000400000000000000" pitchFamily="2" charset="0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92082" y="8930447"/>
            <a:ext cx="780662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400" kern="0" spc="300" dirty="0">
                <a:latin typeface="Seattle Sans" panose="00000400000000000000" pitchFamily="2" charset="0"/>
                <a:cs typeface="Trebuchet MS"/>
              </a:rPr>
              <a:t>INTÉRÊTS</a:t>
            </a:r>
            <a:endParaRPr sz="1000" kern="0" spc="300" dirty="0">
              <a:latin typeface="Seattle Sans" panose="00000400000000000000" pitchFamily="2" charset="0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1795" y="5720445"/>
            <a:ext cx="1360949" cy="228268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400" kern="0" spc="300" dirty="0">
                <a:latin typeface="Seattle Sans" panose="00000400000000000000" pitchFamily="2" charset="0"/>
                <a:cs typeface="Trebuchet MS"/>
              </a:rPr>
              <a:t>CERTIFICATIONS</a:t>
            </a:r>
            <a:endParaRPr sz="1000" kern="0" spc="300" dirty="0">
              <a:latin typeface="Seattle Sans" panose="00000400000000000000" pitchFamily="2" charset="0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8192" y="2613723"/>
            <a:ext cx="6126480" cy="783590"/>
          </a:xfrm>
          <a:custGeom>
            <a:avLst/>
            <a:gdLst/>
            <a:ahLst/>
            <a:cxnLst/>
            <a:rect l="l" t="t" r="r" b="b"/>
            <a:pathLst>
              <a:path w="6126480" h="783589">
                <a:moveTo>
                  <a:pt x="0" y="783526"/>
                </a:moveTo>
                <a:lnTo>
                  <a:pt x="6125959" y="783526"/>
                </a:lnTo>
                <a:lnTo>
                  <a:pt x="6125959" y="0"/>
                </a:lnTo>
                <a:lnTo>
                  <a:pt x="0" y="0"/>
                </a:lnTo>
                <a:lnTo>
                  <a:pt x="0" y="78352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kern="0">
              <a:latin typeface="Raleway Light" panose="020B0403030101060003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98902" y="2446274"/>
            <a:ext cx="2362200" cy="2321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400" kern="0" spc="300" dirty="0">
                <a:latin typeface="Seattle Sans" panose="00000400000000000000" pitchFamily="2" charset="0"/>
                <a:cs typeface="Trebuchet MS"/>
              </a:rPr>
              <a:t>OBJECTIF </a:t>
            </a: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AB0F979A-1DE9-4380-ACD7-70F870A61E15}"/>
              </a:ext>
            </a:extLst>
          </p:cNvPr>
          <p:cNvSpPr txBox="1"/>
          <p:nvPr/>
        </p:nvSpPr>
        <p:spPr>
          <a:xfrm>
            <a:off x="638327" y="1810861"/>
            <a:ext cx="63214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1106170" algn="l"/>
                <a:tab pos="1293495" algn="l"/>
                <a:tab pos="3107055" algn="l"/>
                <a:tab pos="3293745" algn="l"/>
              </a:tabLst>
            </a:pPr>
            <a:r>
              <a:rPr sz="1000" b="1" kern="0" dirty="0">
                <a:solidFill>
                  <a:srgbClr val="E78C89"/>
                </a:solidFill>
                <a:latin typeface="Raleway" panose="020B0503030101060003" pitchFamily="34" charset="0"/>
                <a:cs typeface="Trebuchet MS"/>
              </a:rPr>
              <a:t>+336 74 11 36 35	|	adrien.mercier@gmail.com	|	Basé à Paris (75) France  |   France &amp; International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9AAC824D-92E8-4A69-B839-082C03EA55FF}"/>
              </a:ext>
            </a:extLst>
          </p:cNvPr>
          <p:cNvSpPr txBox="1"/>
          <p:nvPr/>
        </p:nvSpPr>
        <p:spPr>
          <a:xfrm>
            <a:off x="661369" y="4198496"/>
            <a:ext cx="21113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495"/>
              </a:spcBef>
            </a:pPr>
            <a:r>
              <a:rPr sz="1000" b="1" kern="0" dirty="0">
                <a:latin typeface="Raleway" panose="020B0503030101060003" pitchFamily="34" charset="0"/>
                <a:cs typeface="Trebuchet MS"/>
              </a:rPr>
              <a:t>2005 : ECOLE XXX</a:t>
            </a:r>
            <a:endParaRPr sz="1000" kern="0" dirty="0">
              <a:latin typeface="Raleway" panose="020B0503030101060003" pitchFamily="34" charset="0"/>
              <a:cs typeface="Trebuchet MS"/>
            </a:endParaRPr>
          </a:p>
          <a:p>
            <a:pPr marR="40640" algn="r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Master en Marketing et Gestion des</a:t>
            </a:r>
          </a:p>
          <a:p>
            <a:pPr marR="40640" algn="r">
              <a:lnSpc>
                <a:spcPct val="100000"/>
              </a:lnSpc>
            </a:pPr>
            <a:r>
              <a:rPr sz="1000" kern="0" dirty="0" err="1">
                <a:latin typeface="Raleway Light" panose="020B0403030101060003" pitchFamily="34" charset="0"/>
                <a:cs typeface="Trebuchet MS"/>
              </a:rPr>
              <a:t>Entreprises</a:t>
            </a:r>
            <a:r>
              <a:rPr sz="1000" kern="0" dirty="0">
                <a:latin typeface="Raleway Light" panose="020B0403030101060003" pitchFamily="34" charset="0"/>
                <a:cs typeface="Trebuchet MS"/>
              </a:rPr>
              <a:t>  </a:t>
            </a:r>
            <a:endParaRPr lang="en-GB" sz="1000" kern="0" dirty="0">
              <a:latin typeface="Raleway Light" panose="020B0403030101060003" pitchFamily="34" charset="0"/>
              <a:cs typeface="Trebuchet MS"/>
            </a:endParaRPr>
          </a:p>
          <a:p>
            <a:pPr marR="40640" algn="r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Stage de fin d’études en Chine</a:t>
            </a: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148C3278-91BA-42B0-9DCD-E04DA0EF29D5}"/>
              </a:ext>
            </a:extLst>
          </p:cNvPr>
          <p:cNvSpPr txBox="1"/>
          <p:nvPr/>
        </p:nvSpPr>
        <p:spPr>
          <a:xfrm>
            <a:off x="710899" y="6076952"/>
            <a:ext cx="2061845" cy="872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465" algn="r">
              <a:lnSpc>
                <a:spcPct val="125000"/>
              </a:lnSpc>
              <a:spcBef>
                <a:spcPts val="1105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Certification SalesForce.com  Strategic Selling : Miller</a:t>
            </a:r>
          </a:p>
          <a:p>
            <a:pPr marR="40640" algn="r">
              <a:lnSpc>
                <a:spcPts val="11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Heiman Alumni</a:t>
            </a:r>
          </a:p>
          <a:p>
            <a:pPr marR="40640" algn="r">
              <a:lnSpc>
                <a:spcPts val="1100"/>
              </a:lnSpc>
              <a:spcBef>
                <a:spcPts val="420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Certification Ethics &amp; Compliance :  The Legal Knowledge Co.</a:t>
            </a: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AA97F10F-3DF5-4570-B6F5-A8061E44B390}"/>
              </a:ext>
            </a:extLst>
          </p:cNvPr>
          <p:cNvSpPr txBox="1"/>
          <p:nvPr/>
        </p:nvSpPr>
        <p:spPr>
          <a:xfrm>
            <a:off x="1699594" y="7662394"/>
            <a:ext cx="107315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465" algn="r">
              <a:lnSpc>
                <a:spcPct val="100000"/>
              </a:lnSpc>
            </a:pPr>
            <a:r>
              <a:rPr sz="1000" kern="0" dirty="0" err="1">
                <a:latin typeface="Raleway Light" panose="020B0403030101060003" pitchFamily="34" charset="0"/>
                <a:cs typeface="Trebuchet MS"/>
              </a:rPr>
              <a:t>Anglais</a:t>
            </a:r>
            <a:endParaRPr lang="en-GB" sz="1000" kern="0" dirty="0">
              <a:latin typeface="Raleway Light" panose="020B0403030101060003" pitchFamily="34" charset="0"/>
              <a:cs typeface="Trebuchet MS"/>
            </a:endParaRPr>
          </a:p>
          <a:p>
            <a:pPr marR="37465" algn="r">
              <a:lnSpc>
                <a:spcPct val="100000"/>
              </a:lnSpc>
            </a:pPr>
            <a:r>
              <a:rPr sz="1000" kern="0" dirty="0" err="1">
                <a:latin typeface="Raleway Light" panose="020B0403030101060003" pitchFamily="34" charset="0"/>
                <a:cs typeface="Trebuchet MS"/>
              </a:rPr>
              <a:t>Italien</a:t>
            </a:r>
            <a:r>
              <a:rPr sz="1000" kern="0" dirty="0">
                <a:latin typeface="Raleway Light" panose="020B0403030101060003" pitchFamily="34" charset="0"/>
                <a:cs typeface="Trebuchet MS"/>
              </a:rPr>
              <a:t>  </a:t>
            </a:r>
            <a:endParaRPr lang="en-GB" sz="1000" kern="0" dirty="0">
              <a:latin typeface="Raleway Light" panose="020B0403030101060003" pitchFamily="34" charset="0"/>
              <a:cs typeface="Trebuchet MS"/>
            </a:endParaRPr>
          </a:p>
          <a:p>
            <a:pPr marR="37465" algn="r">
              <a:lnSpc>
                <a:spcPct val="100000"/>
              </a:lnSpc>
            </a:pPr>
            <a:r>
              <a:rPr sz="1000" kern="0" dirty="0" err="1">
                <a:latin typeface="Raleway Light" panose="020B0403030101060003" pitchFamily="34" charset="0"/>
                <a:cs typeface="Trebuchet MS"/>
              </a:rPr>
              <a:t>Espagnol</a:t>
            </a:r>
            <a:endParaRPr lang="en-GB" sz="1000" kern="0" dirty="0">
              <a:latin typeface="Raleway Light" panose="020B0403030101060003" pitchFamily="34" charset="0"/>
              <a:cs typeface="Trebuchet MS"/>
            </a:endParaRPr>
          </a:p>
          <a:p>
            <a:pPr marR="37465" algn="r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Pack Office</a:t>
            </a:r>
          </a:p>
          <a:p>
            <a:pPr algn="r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CRM ACT! (SAGE)</a:t>
            </a:r>
          </a:p>
          <a:p>
            <a:pPr marR="40640" algn="r">
              <a:lnSpc>
                <a:spcPct val="100000"/>
              </a:lnSpc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SalesForce.com</a:t>
            </a: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F1ADCC90-A9F6-4E75-AA25-51E959A7168C}"/>
              </a:ext>
            </a:extLst>
          </p:cNvPr>
          <p:cNvSpPr txBox="1"/>
          <p:nvPr/>
        </p:nvSpPr>
        <p:spPr>
          <a:xfrm>
            <a:off x="1887130" y="9322525"/>
            <a:ext cx="88561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005" algn="r">
              <a:lnSpc>
                <a:spcPct val="100000"/>
              </a:lnSpc>
              <a:spcBef>
                <a:spcPts val="1405"/>
              </a:spcBef>
            </a:pPr>
            <a:r>
              <a:rPr sz="1000" kern="0" dirty="0">
                <a:latin typeface="Raleway Light" panose="020B0403030101060003" pitchFamily="34" charset="0"/>
                <a:cs typeface="Trebuchet MS"/>
              </a:rPr>
              <a:t>Fitness  Voyages  Théâtre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349</Words>
  <Application>Microsoft Office PowerPoint</Application>
  <PresentationFormat>Personnalisé</PresentationFormat>
  <Paragraphs>42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Raleway</vt:lpstr>
      <vt:lpstr>Raleway Light</vt:lpstr>
      <vt:lpstr>Seattle Sans</vt:lpstr>
      <vt:lpstr>Trebuchet MS</vt:lpstr>
      <vt:lpstr>Office Theme</vt:lpstr>
      <vt:lpstr>A D R I E N   M E R C I E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 R I E N M E R C I E R</dc:title>
  <dc:creator>Estelle</dc:creator>
  <cp:lastModifiedBy>Estelle</cp:lastModifiedBy>
  <cp:revision>25</cp:revision>
  <dcterms:created xsi:type="dcterms:W3CDTF">2021-06-12T13:10:01Z</dcterms:created>
  <dcterms:modified xsi:type="dcterms:W3CDTF">2021-10-22T13:32:52Z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2021-06-12T00:00:00Z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2021-06-12T00:00:00Z</vt:filetime>
  </property>
</Properties>
</file>