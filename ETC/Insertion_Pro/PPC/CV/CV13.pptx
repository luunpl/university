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23C"/>
    <a:srgbClr val="365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873" autoAdjust="0"/>
    <p:restoredTop sz="94907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3897-E542-427B-94E0-7257A2BA4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8F735-1E7E-488B-9892-C27D13FDC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CC686-C097-4D61-B8A0-25A0ED57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E23CA-40DD-4449-9FB8-68A37DF0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3B3C-9E0D-4FFA-9D96-067D4B8D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8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2549-5237-492D-88A5-BAED28D5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22121-4C6D-428E-AEB4-AD79CEF26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427E3-FF61-4575-A079-E45E3293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8BEE6-95D4-4C12-ADA6-3ED4FA4A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A279-9980-439F-87B7-15924820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9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4986-BE0E-45EE-A349-FE593578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C94D-6ACF-45C9-9FB6-08A5955F7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C2CF0-8E02-4FB7-8497-C1DCD4A9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77CB-911A-47B3-9BB5-0465BAC5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8406-44AC-4842-BCC9-FD420E2A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0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D4D0-E4A2-4500-9256-E20AA655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95C8C-253E-4B60-BAD4-83A9D13F6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08A11-85E0-4D8B-8AEF-10928C60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304F3-0185-46B4-B681-B223F171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A46C8-7FB8-44ED-9FD9-DB479EA1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6AFE-A5AB-41F1-858B-165A27D0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F9EC-CDE1-476B-B669-031DA82B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7246-2C67-4981-BD01-BA2A5C4C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3CFDF-2935-43A0-BDC8-84E296983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0B8C9-5E2E-417A-9965-B7B1AA217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CE4DD-D9EF-49D8-91AC-E941FBDD0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070C1-2AB3-4C0B-B681-CAE763F3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9CFC5-FCC4-4182-9F5E-F4FAB3AA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C1E12-814F-4372-BFBD-145612C4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8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370A-2E7A-454C-BE64-F41C8CCA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05F91-1CDE-4D15-AE1B-6063353C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B8144-3BFC-4B6A-A712-00B15E14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983A-F33D-49E5-8EDE-D956B557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4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91801-F5E1-44C7-BEE4-61FBC5D3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8CE04-72B0-458C-A82C-EA8DF973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BD5ED-5CA3-4F9D-A6B6-62DEDD58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5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07A3-5DED-4C8F-8E26-416906E2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D174-162F-4B69-A72F-50491A732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8CD35-F748-4EB3-9450-7AF3B69B9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5A3B2-F752-489F-9185-07F4F0B1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FECAA-F0D1-4C3A-997F-A71BC2F8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9B39E-05B0-45E5-BE68-BC343491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4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0B73-8CA9-46B9-B1EE-68981332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2DBBC-6B38-42C0-811B-E26799B68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0E233-CAE9-421C-AC92-984E38E4A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41778-0422-4AA8-A806-827BE206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89F5B-3C32-4DEB-BF54-44B13C78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A3ADF-C802-4F59-9503-9CF89C5C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9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1F5F-8759-4BC3-809B-C7C11206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ADE3B-FC09-4DB3-8083-6EC99738A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DBDD9-9A68-4CD0-926F-A1F045EF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4E5F-77FA-43D2-9850-CCA003E1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B3C14-BA39-4400-889D-0DF37E7B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5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7E420-FCCB-42B2-8E1C-A3096F68F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EDF1E-0E75-4091-8B0B-B1C90270F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40219-38F2-4A73-A14C-600B1AFF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6DC25-01AA-4177-9151-EC9CB2AC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1BD79-726E-47AB-9CE1-34C756D1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7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41091-B1CD-4B95-BD28-69263797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7E00-A3C9-4BF3-AD99-91CCC5E03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88EC4-CCB2-4BA9-A16F-FF7B2050D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98693-C6BA-4143-AAD2-FF4331700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5CAA-BF61-4179-804B-23F0AE29F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3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31D72FA1-A19F-4841-8CB0-0A6213BE34FF}"/>
              </a:ext>
            </a:extLst>
          </p:cNvPr>
          <p:cNvSpPr/>
          <p:nvPr/>
        </p:nvSpPr>
        <p:spPr>
          <a:xfrm>
            <a:off x="0" y="0"/>
            <a:ext cx="7556500" cy="1658338"/>
          </a:xfrm>
          <a:prstGeom prst="rect">
            <a:avLst/>
          </a:prstGeom>
          <a:solidFill>
            <a:srgbClr val="365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2292350" y="4780446"/>
            <a:ext cx="7459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ATOUTS 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8222" y="8776445"/>
            <a:ext cx="87961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INTÉRÊTS 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0350" y="6941033"/>
            <a:ext cx="15079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CERTIFICATIONS 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1350" y="2231800"/>
            <a:ext cx="1112382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 FORMATION 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9289" y="2673212"/>
            <a:ext cx="3438525" cy="9556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solidFill>
                  <a:srgbClr val="706E6F"/>
                </a:solidFill>
                <a:latin typeface="+mj-lt"/>
                <a:cs typeface="Calibri"/>
              </a:rPr>
              <a:t>Responsable commercial expérimenté et technicien qualifié,  mes différentes expériences dans le secteur de la santé  m’ont appris à faire preuve d’une grande rigueur. Je suis</a:t>
            </a:r>
            <a:endParaRPr sz="1100" dirty="0">
              <a:latin typeface="+mj-lt"/>
              <a:cs typeface="Calibri"/>
            </a:endParaRPr>
          </a:p>
          <a:p>
            <a:pPr marR="174625">
              <a:lnSpc>
                <a:spcPts val="1200"/>
              </a:lnSpc>
            </a:pPr>
            <a:r>
              <a:rPr sz="1100" dirty="0">
                <a:solidFill>
                  <a:srgbClr val="706E6F"/>
                </a:solidFill>
                <a:latin typeface="+mj-lt"/>
                <a:cs typeface="Calibri"/>
              </a:rPr>
              <a:t>à la recherche d’un nouveau défi et saurai valoriser mes  compétences et faire preuve d’innovation pour conquérir  de nouveaux marchés.</a:t>
            </a:r>
            <a:endParaRPr sz="1100" dirty="0">
              <a:latin typeface="+mj-lt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9289" y="3755887"/>
            <a:ext cx="35286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Expertise technique // Trilingue // Expérience internationale</a:t>
            </a:r>
            <a:endParaRPr sz="1100" dirty="0"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26355" y="1961209"/>
            <a:ext cx="137845" cy="7797800"/>
            <a:chOff x="3326355" y="1961209"/>
            <a:chExt cx="137845" cy="7797800"/>
          </a:xfrm>
        </p:grpSpPr>
        <p:sp>
          <p:nvSpPr>
            <p:cNvPr id="16" name="object 16"/>
            <p:cNvSpPr/>
            <p:nvPr/>
          </p:nvSpPr>
          <p:spPr>
            <a:xfrm>
              <a:off x="3395278" y="2030568"/>
              <a:ext cx="0" cy="7703184"/>
            </a:xfrm>
            <a:custGeom>
              <a:avLst/>
              <a:gdLst/>
              <a:ahLst/>
              <a:cxnLst/>
              <a:rect l="l" t="t" r="r" b="b"/>
              <a:pathLst>
                <a:path h="7703184">
                  <a:moveTo>
                    <a:pt x="0" y="0"/>
                  </a:moveTo>
                  <a:lnTo>
                    <a:pt x="0" y="7703032"/>
                  </a:lnTo>
                </a:path>
              </a:pathLst>
            </a:custGeom>
            <a:ln w="1270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362858" y="1961209"/>
              <a:ext cx="65405" cy="7797800"/>
            </a:xfrm>
            <a:custGeom>
              <a:avLst/>
              <a:gdLst/>
              <a:ahLst/>
              <a:cxnLst/>
              <a:rect l="l" t="t" r="r" b="b"/>
              <a:pathLst>
                <a:path w="65404" h="7797800">
                  <a:moveTo>
                    <a:pt x="57810" y="7772400"/>
                  </a:moveTo>
                  <a:lnTo>
                    <a:pt x="55816" y="7762507"/>
                  </a:lnTo>
                  <a:lnTo>
                    <a:pt x="50380" y="7754429"/>
                  </a:lnTo>
                  <a:lnTo>
                    <a:pt x="42303" y="7748994"/>
                  </a:lnTo>
                  <a:lnTo>
                    <a:pt x="32410" y="7747000"/>
                  </a:lnTo>
                  <a:lnTo>
                    <a:pt x="22529" y="7748994"/>
                  </a:lnTo>
                  <a:lnTo>
                    <a:pt x="14452" y="7754429"/>
                  </a:lnTo>
                  <a:lnTo>
                    <a:pt x="9004" y="7762507"/>
                  </a:lnTo>
                  <a:lnTo>
                    <a:pt x="7010" y="7772400"/>
                  </a:lnTo>
                  <a:lnTo>
                    <a:pt x="9004" y="7782280"/>
                  </a:lnTo>
                  <a:lnTo>
                    <a:pt x="14452" y="7790358"/>
                  </a:lnTo>
                  <a:lnTo>
                    <a:pt x="22529" y="7795793"/>
                  </a:lnTo>
                  <a:lnTo>
                    <a:pt x="32410" y="7797800"/>
                  </a:lnTo>
                  <a:lnTo>
                    <a:pt x="42303" y="7795793"/>
                  </a:lnTo>
                  <a:lnTo>
                    <a:pt x="50380" y="7790358"/>
                  </a:lnTo>
                  <a:lnTo>
                    <a:pt x="55816" y="7782280"/>
                  </a:lnTo>
                  <a:lnTo>
                    <a:pt x="57810" y="7772400"/>
                  </a:lnTo>
                  <a:close/>
                </a:path>
                <a:path w="65404" h="7797800">
                  <a:moveTo>
                    <a:pt x="64820" y="89052"/>
                  </a:moveTo>
                  <a:lnTo>
                    <a:pt x="32410" y="0"/>
                  </a:lnTo>
                  <a:lnTo>
                    <a:pt x="0" y="89052"/>
                  </a:lnTo>
                  <a:lnTo>
                    <a:pt x="64820" y="89052"/>
                  </a:lnTo>
                  <a:close/>
                </a:path>
              </a:pathLst>
            </a:custGeom>
            <a:solidFill>
              <a:srgbClr val="6D6E71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55" y="2272558"/>
              <a:ext cx="137845" cy="13784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55" y="4819650"/>
              <a:ext cx="137845" cy="1378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55" y="4307527"/>
              <a:ext cx="137845" cy="1378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55" y="6980609"/>
              <a:ext cx="137845" cy="1378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55" y="8828014"/>
              <a:ext cx="137845" cy="13784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729289" y="4737683"/>
            <a:ext cx="347091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INGÉNIEUR D’AFFAIRES FRANCE / EUROPE DU SUD, Paris</a:t>
            </a:r>
            <a:endParaRPr sz="1100" dirty="0">
              <a:cs typeface="Calibri"/>
            </a:endParaRPr>
          </a:p>
          <a:p>
            <a:pPr>
              <a:lnSpc>
                <a:spcPts val="990"/>
              </a:lnSpc>
            </a:pPr>
            <a:r>
              <a:rPr sz="1000" b="1" dirty="0">
                <a:cs typeface="Calibri"/>
              </a:rPr>
              <a:t>Entreprise XXX</a:t>
            </a:r>
            <a:endParaRPr sz="1000" dirty="0">
              <a:cs typeface="Calibri"/>
            </a:endParaRPr>
          </a:p>
          <a:p>
            <a:pPr>
              <a:lnSpc>
                <a:spcPts val="1000"/>
              </a:lnSpc>
            </a:pPr>
            <a:r>
              <a:rPr sz="1000" dirty="0">
                <a:latin typeface="+mj-lt"/>
                <a:cs typeface="Calibri"/>
              </a:rPr>
              <a:t>Division Ibis Biosciences</a:t>
            </a:r>
          </a:p>
          <a:p>
            <a:pPr marR="116205">
              <a:lnSpc>
                <a:spcPts val="1000"/>
              </a:lnSpc>
              <a:spcBef>
                <a:spcPts val="100"/>
              </a:spcBef>
            </a:pPr>
            <a:r>
              <a:rPr sz="1000" dirty="0">
                <a:latin typeface="+mj-lt"/>
                <a:cs typeface="Calibri"/>
              </a:rPr>
              <a:t>Lancer une nouvelle plateforme (instruments&amp;réactifs) associant  PCR &amp; Spectométrie de masse à destination des laboratoires de  bactériologie, virologie &amp; mycologie</a:t>
            </a:r>
          </a:p>
          <a:p>
            <a:pPr marR="32384">
              <a:lnSpc>
                <a:spcPts val="1000"/>
              </a:lnSpc>
            </a:pPr>
            <a:r>
              <a:rPr sz="1000" b="1" i="1" dirty="0">
                <a:solidFill>
                  <a:srgbClr val="F9B23C"/>
                </a:solidFill>
                <a:cs typeface="Calibri"/>
              </a:rPr>
              <a:t>Réussite : </a:t>
            </a:r>
            <a:r>
              <a:rPr sz="1000" dirty="0">
                <a:latin typeface="+mj-lt"/>
                <a:cs typeface="Calibri"/>
              </a:rPr>
              <a:t>Installation de 4 plateformes (1 FR, 1 BEL et 2 ITA),  construction d’un modèle économie, mise en place d’une nouvelle  stratégie marketing</a:t>
            </a:r>
          </a:p>
          <a:p>
            <a:pPr>
              <a:lnSpc>
                <a:spcPts val="1000"/>
              </a:lnSpc>
            </a:pPr>
            <a:r>
              <a:rPr sz="1000" b="1" dirty="0">
                <a:cs typeface="Calibri"/>
              </a:rPr>
              <a:t>01/2015 - Présent</a:t>
            </a:r>
            <a:endParaRPr sz="1000" dirty="0"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29289" y="6261683"/>
            <a:ext cx="3638614" cy="107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RESPONSABLE RÉGIONAL, Paris</a:t>
            </a:r>
            <a:endParaRPr sz="1100" dirty="0">
              <a:cs typeface="Calibri"/>
            </a:endParaRPr>
          </a:p>
          <a:p>
            <a:pPr>
              <a:lnSpc>
                <a:spcPts val="990"/>
              </a:lnSpc>
            </a:pPr>
            <a:r>
              <a:rPr sz="1000" b="1" dirty="0">
                <a:cs typeface="Calibri"/>
              </a:rPr>
              <a:t>Entreprise XXX</a:t>
            </a:r>
            <a:endParaRPr sz="1000" dirty="0">
              <a:cs typeface="Calibri"/>
            </a:endParaRPr>
          </a:p>
          <a:p>
            <a:pPr marR="421640">
              <a:lnSpc>
                <a:spcPts val="1000"/>
              </a:lnSpc>
              <a:spcBef>
                <a:spcPts val="100"/>
              </a:spcBef>
            </a:pPr>
            <a:r>
              <a:rPr sz="1000" dirty="0">
                <a:latin typeface="+mj-lt"/>
                <a:cs typeface="Calibri"/>
              </a:rPr>
              <a:t>Développer les ventes (Instruments &amp; Réactfs PCR) pour une  clientèle de biologistes publiques et privées</a:t>
            </a:r>
          </a:p>
          <a:p>
            <a:pPr marR="5080">
              <a:lnSpc>
                <a:spcPts val="1000"/>
              </a:lnSpc>
            </a:pPr>
            <a:r>
              <a:rPr sz="1000" b="1" i="1" dirty="0">
                <a:solidFill>
                  <a:srgbClr val="F9B23C"/>
                </a:solidFill>
                <a:cs typeface="Calibri"/>
              </a:rPr>
              <a:t>Réussites :  </a:t>
            </a:r>
            <a:r>
              <a:rPr sz="1000" dirty="0">
                <a:latin typeface="+mj-lt"/>
                <a:cs typeface="Calibri"/>
              </a:rPr>
              <a:t>Évolution de 100 k€ de vente en 2010 et 900 k€ en 2014,  21 nouveaux clients en portefeuille, augmentation du nombre de  tests différents utilisés par compte</a:t>
            </a:r>
          </a:p>
          <a:p>
            <a:pPr>
              <a:lnSpc>
                <a:spcPts val="1000"/>
              </a:lnSpc>
            </a:pPr>
            <a:r>
              <a:rPr sz="1000" b="1" dirty="0">
                <a:cs typeface="Calibri"/>
              </a:rPr>
              <a:t>08/2010 - 01/2015</a:t>
            </a:r>
            <a:endParaRPr sz="1000" dirty="0"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29289" y="7531682"/>
            <a:ext cx="317563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RESPONSABLE COMMERCIAL OUEST, Paris</a:t>
            </a:r>
            <a:endParaRPr sz="1100" dirty="0">
              <a:cs typeface="Calibri"/>
            </a:endParaRPr>
          </a:p>
          <a:p>
            <a:pPr>
              <a:lnSpc>
                <a:spcPts val="990"/>
              </a:lnSpc>
            </a:pPr>
            <a:r>
              <a:rPr sz="1000" b="1" dirty="0">
                <a:cs typeface="Calibri"/>
              </a:rPr>
              <a:t>Entreprise XXX</a:t>
            </a:r>
            <a:endParaRPr sz="1000" dirty="0">
              <a:cs typeface="Calibri"/>
            </a:endParaRPr>
          </a:p>
          <a:p>
            <a:pPr marR="5080">
              <a:lnSpc>
                <a:spcPts val="1000"/>
              </a:lnSpc>
              <a:spcBef>
                <a:spcPts val="100"/>
              </a:spcBef>
            </a:pPr>
            <a:r>
              <a:rPr sz="1000" dirty="0">
                <a:latin typeface="+mj-lt"/>
                <a:cs typeface="Calibri"/>
              </a:rPr>
              <a:t>Gérer le portefeuille client et assurer la prospection  Dispenser les formations pratiques et théoriques des équipes  médicales et paramédicales</a:t>
            </a:r>
          </a:p>
          <a:p>
            <a:pPr marR="22860">
              <a:lnSpc>
                <a:spcPts val="1000"/>
              </a:lnSpc>
            </a:pPr>
            <a:r>
              <a:rPr sz="1000" b="1" i="1" dirty="0">
                <a:solidFill>
                  <a:srgbClr val="F9B23C"/>
                </a:solidFill>
                <a:cs typeface="Calibri"/>
              </a:rPr>
              <a:t>Réussites : </a:t>
            </a:r>
            <a:r>
              <a:rPr sz="1000" dirty="0">
                <a:latin typeface="+mj-lt"/>
                <a:cs typeface="Calibri"/>
              </a:rPr>
              <a:t>Atteinte des objectifs avec 500 k€ de CA de vente  en ligne, forte croissance sur la vente de consommables et  d’instruments</a:t>
            </a:r>
          </a:p>
          <a:p>
            <a:pPr>
              <a:lnSpc>
                <a:spcPts val="1000"/>
              </a:lnSpc>
            </a:pPr>
            <a:r>
              <a:rPr sz="1000" b="1" dirty="0">
                <a:cs typeface="Calibri"/>
              </a:rPr>
              <a:t>08/2008 - 08/2010</a:t>
            </a:r>
            <a:endParaRPr sz="1000" dirty="0"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29289" y="8928682"/>
            <a:ext cx="2625725" cy="8255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512445">
              <a:lnSpc>
                <a:spcPct val="75800"/>
              </a:lnSpc>
              <a:spcBef>
                <a:spcPts val="42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RESPONSABLE EXPORT EU /  PRODUITS VÉTÉRINAIRES, Londres</a:t>
            </a:r>
            <a:endParaRPr sz="1100" dirty="0">
              <a:cs typeface="Calibri"/>
            </a:endParaRPr>
          </a:p>
          <a:p>
            <a:pPr>
              <a:lnSpc>
                <a:spcPts val="880"/>
              </a:lnSpc>
            </a:pPr>
            <a:r>
              <a:rPr sz="1000" b="1" dirty="0">
                <a:cs typeface="Calibri"/>
              </a:rPr>
              <a:t>Entreprise XXX</a:t>
            </a:r>
            <a:endParaRPr sz="1000" dirty="0">
              <a:cs typeface="Calibri"/>
            </a:endParaRPr>
          </a:p>
          <a:p>
            <a:pPr marR="5080" algn="just">
              <a:lnSpc>
                <a:spcPts val="1000"/>
              </a:lnSpc>
              <a:spcBef>
                <a:spcPts val="100"/>
              </a:spcBef>
            </a:pPr>
            <a:r>
              <a:rPr sz="1000" dirty="0">
                <a:latin typeface="+mj-lt"/>
                <a:cs typeface="Calibri"/>
              </a:rPr>
              <a:t>Gérer le portefeuille client existant (Royaume-Uni)  Prospecter de nouveaux marchés (Italie et Irlande)  </a:t>
            </a:r>
            <a:r>
              <a:rPr sz="1000" b="1" dirty="0">
                <a:cs typeface="Calibri"/>
              </a:rPr>
              <a:t>09/2004 - 04/2008</a:t>
            </a:r>
            <a:endParaRPr sz="1000" dirty="0"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1867" y="2673212"/>
            <a:ext cx="173545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ECOLE XXX</a:t>
            </a:r>
            <a:endParaRPr sz="1100" dirty="0"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100" dirty="0">
                <a:latin typeface="+mj-lt"/>
                <a:cs typeface="Calibri"/>
              </a:rPr>
              <a:t>Master en Marketing et  Gestion des Entreprises</a:t>
            </a:r>
          </a:p>
          <a:p>
            <a:pPr marR="5715" algn="r">
              <a:lnSpc>
                <a:spcPct val="100000"/>
              </a:lnSpc>
            </a:pPr>
            <a:r>
              <a:rPr sz="1100" dirty="0">
                <a:latin typeface="+mj-lt"/>
                <a:cs typeface="Calibri"/>
              </a:rPr>
              <a:t>Stage de fin d’études en Chine</a:t>
            </a:r>
          </a:p>
          <a:p>
            <a:pPr marR="5080" algn="r">
              <a:lnSpc>
                <a:spcPct val="100000"/>
              </a:lnSpc>
            </a:pPr>
            <a:r>
              <a:rPr sz="1100" b="1" dirty="0">
                <a:cs typeface="Calibri"/>
              </a:rPr>
              <a:t>2008</a:t>
            </a:r>
            <a:endParaRPr sz="1100" dirty="0"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94877" y="3679052"/>
            <a:ext cx="17824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9B23C"/>
                </a:solidFill>
                <a:cs typeface="Calibri"/>
              </a:rPr>
              <a:t>ECOLE XXX</a:t>
            </a:r>
            <a:endParaRPr sz="1100" dirty="0"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100" dirty="0">
                <a:latin typeface="+mj-lt"/>
                <a:cs typeface="Calibri"/>
              </a:rPr>
              <a:t>Brevet de Technicien Supérieur  Commerce International</a:t>
            </a:r>
          </a:p>
          <a:p>
            <a:pPr marR="5080" algn="r">
              <a:lnSpc>
                <a:spcPct val="100000"/>
              </a:lnSpc>
            </a:pPr>
            <a:r>
              <a:rPr sz="1100" b="1" dirty="0">
                <a:cs typeface="Calibri"/>
              </a:rPr>
              <a:t>2005</a:t>
            </a:r>
            <a:endParaRPr sz="1100" dirty="0"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5767" y="5176637"/>
            <a:ext cx="1011555" cy="143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 err="1">
                <a:latin typeface="+mj-lt"/>
                <a:cs typeface="Calibri"/>
              </a:rPr>
              <a:t>Anglais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 err="1">
                <a:latin typeface="+mj-lt"/>
                <a:cs typeface="Calibri"/>
              </a:rPr>
              <a:t>Italien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 err="1">
                <a:latin typeface="+mj-lt"/>
                <a:cs typeface="Calibri"/>
              </a:rPr>
              <a:t>Espagnol</a:t>
            </a:r>
            <a:r>
              <a:rPr sz="1100" dirty="0">
                <a:latin typeface="+mj-lt"/>
                <a:cs typeface="Calibri"/>
              </a:rPr>
              <a:t>  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>
                <a:latin typeface="+mj-lt"/>
                <a:cs typeface="Calibri"/>
              </a:rPr>
              <a:t>Pack Office</a:t>
            </a:r>
          </a:p>
          <a:p>
            <a:pPr algn="r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+mj-lt"/>
                <a:cs typeface="Calibri"/>
              </a:rPr>
              <a:t>CRM ACT! (SAGE)</a:t>
            </a:r>
          </a:p>
          <a:p>
            <a:pPr algn="r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+mj-lt"/>
                <a:cs typeface="Calibri"/>
              </a:rPr>
              <a:t>SalesForce.com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588372" y="9172336"/>
            <a:ext cx="48895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Aft>
                <a:spcPts val="300"/>
              </a:spcAft>
            </a:pPr>
            <a:r>
              <a:rPr sz="1100" dirty="0">
                <a:latin typeface="+mj-lt"/>
                <a:cs typeface="Calibri"/>
              </a:rPr>
              <a:t>Fitness  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spcAft>
                <a:spcPts val="300"/>
              </a:spcAft>
            </a:pPr>
            <a:r>
              <a:rPr sz="1100" dirty="0">
                <a:latin typeface="+mj-lt"/>
                <a:cs typeface="Calibri"/>
              </a:rPr>
              <a:t>Voyages  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spcAft>
                <a:spcPts val="300"/>
              </a:spcAft>
            </a:pPr>
            <a:r>
              <a:rPr sz="1100" dirty="0">
                <a:latin typeface="+mj-lt"/>
                <a:cs typeface="Calibri"/>
              </a:rPr>
              <a:t>Théâtre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15452" y="7336818"/>
            <a:ext cx="2261870" cy="949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>
                <a:latin typeface="+mj-lt"/>
                <a:cs typeface="Calibri"/>
              </a:rPr>
              <a:t>Certification SalesForce.com</a:t>
            </a:r>
            <a:endParaRPr lang="en-GB" sz="1100" dirty="0">
              <a:latin typeface="+mj-lt"/>
              <a:cs typeface="Calibri"/>
            </a:endParaRPr>
          </a:p>
          <a:p>
            <a:pPr marR="5080" algn="r">
              <a:lnSpc>
                <a:spcPct val="136300"/>
              </a:lnSpc>
              <a:spcBef>
                <a:spcPts val="100"/>
              </a:spcBef>
            </a:pPr>
            <a:r>
              <a:rPr sz="1100" dirty="0">
                <a:latin typeface="+mj-lt"/>
                <a:cs typeface="Calibri"/>
              </a:rPr>
              <a:t>Strategic Selling : Miller Heiman Alumni  Certification Ethics &amp; Compliance :</a:t>
            </a: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+mj-lt"/>
                <a:cs typeface="Calibri"/>
              </a:rPr>
              <a:t>The Legal Knowledge Co.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022060" y="573090"/>
            <a:ext cx="2043430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42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+mj-lt"/>
                <a:cs typeface="Calibri"/>
              </a:rPr>
              <a:t>+336 74 11 36 35</a:t>
            </a:r>
            <a:endParaRPr sz="1200" dirty="0">
              <a:latin typeface="+mj-lt"/>
              <a:cs typeface="Calibri"/>
            </a:endParaRPr>
          </a:p>
          <a:p>
            <a:pPr>
              <a:lnSpc>
                <a:spcPts val="1400"/>
              </a:lnSpc>
            </a:pPr>
            <a:r>
              <a:rPr sz="1200" dirty="0">
                <a:solidFill>
                  <a:srgbClr val="FFFFFF"/>
                </a:solidFill>
                <a:latin typeface="+mj-lt"/>
                <a:cs typeface="Calibri"/>
              </a:rPr>
              <a:t>adrien.mercier@gmail.com</a:t>
            </a:r>
            <a:endParaRPr sz="1200" dirty="0">
              <a:latin typeface="+mj-lt"/>
              <a:cs typeface="Calibri"/>
            </a:endParaRPr>
          </a:p>
          <a:p>
            <a:pPr>
              <a:lnSpc>
                <a:spcPts val="1400"/>
              </a:lnSpc>
            </a:pPr>
            <a:r>
              <a:rPr sz="1200" dirty="0">
                <a:solidFill>
                  <a:srgbClr val="FFFFFF"/>
                </a:solidFill>
                <a:latin typeface="+mj-lt"/>
                <a:cs typeface="Calibri"/>
              </a:rPr>
              <a:t>Basé à Paris (75)France</a:t>
            </a:r>
            <a:endParaRPr sz="1200" dirty="0">
              <a:latin typeface="+mj-lt"/>
              <a:cs typeface="Calibri"/>
            </a:endParaRPr>
          </a:p>
          <a:p>
            <a:pPr>
              <a:lnSpc>
                <a:spcPts val="1420"/>
              </a:lnSpc>
            </a:pPr>
            <a:r>
              <a:rPr sz="1200" dirty="0">
                <a:solidFill>
                  <a:srgbClr val="FFFFFF"/>
                </a:solidFill>
                <a:latin typeface="+mj-lt"/>
                <a:cs typeface="Calibri"/>
              </a:rPr>
              <a:t>Mobilité : France &amp; International</a:t>
            </a:r>
            <a:endParaRPr sz="1200" dirty="0">
              <a:latin typeface="+mj-lt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6335" y="822173"/>
            <a:ext cx="241173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50"/>
              </a:lnSpc>
              <a:spcBef>
                <a:spcPts val="100"/>
              </a:spcBef>
            </a:pPr>
            <a:r>
              <a:rPr sz="1000" i="1" dirty="0">
                <a:solidFill>
                  <a:srgbClr val="F9B23C"/>
                </a:solidFill>
                <a:cs typeface="Calibri"/>
              </a:rPr>
              <a:t>Ingénieur d’Affaires - Key Account Manager</a:t>
            </a:r>
            <a:endParaRPr sz="1000" dirty="0">
              <a:cs typeface="Calibri"/>
            </a:endParaRPr>
          </a:p>
          <a:p>
            <a:pPr>
              <a:lnSpc>
                <a:spcPts val="1150"/>
              </a:lnSpc>
            </a:pPr>
            <a:r>
              <a:rPr sz="1000" i="1" dirty="0">
                <a:solidFill>
                  <a:srgbClr val="F9B23C"/>
                </a:solidFill>
                <a:cs typeface="Calibri"/>
              </a:rPr>
              <a:t>+12 ans d’expérience</a:t>
            </a:r>
            <a:endParaRPr sz="1000" dirty="0"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 dirty="0">
              <a:cs typeface="Calibri"/>
            </a:endParaRPr>
          </a:p>
          <a:p>
            <a:pPr>
              <a:lnSpc>
                <a:spcPct val="100000"/>
              </a:lnSpc>
            </a:pPr>
            <a:r>
              <a:rPr sz="1000" i="1" dirty="0">
                <a:solidFill>
                  <a:srgbClr val="F9B23C"/>
                </a:solidFill>
                <a:cs typeface="Calibri"/>
              </a:rPr>
              <a:t>Dynamique, Organisé, Goût de la performance</a:t>
            </a:r>
            <a:endParaRPr sz="1000" dirty="0"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896335" y="365700"/>
            <a:ext cx="234434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chemeClr val="bg1"/>
                </a:solidFill>
                <a:latin typeface="+mj-lt"/>
              </a:rPr>
              <a:t>Adrien Mercier</a:t>
            </a:r>
          </a:p>
        </p:txBody>
      </p:sp>
      <p:sp>
        <p:nvSpPr>
          <p:cNvPr id="35" name="object 35"/>
          <p:cNvSpPr/>
          <p:nvPr/>
        </p:nvSpPr>
        <p:spPr>
          <a:xfrm>
            <a:off x="4839942" y="577372"/>
            <a:ext cx="0" cy="766445"/>
          </a:xfrm>
          <a:custGeom>
            <a:avLst/>
            <a:gdLst/>
            <a:ahLst/>
            <a:cxnLst/>
            <a:rect l="l" t="t" r="r" b="b"/>
            <a:pathLst>
              <a:path h="766444">
                <a:moveTo>
                  <a:pt x="0" y="0"/>
                </a:moveTo>
                <a:lnTo>
                  <a:pt x="0" y="7661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0" name="object 12">
            <a:extLst>
              <a:ext uri="{FF2B5EF4-FFF2-40B4-BE49-F238E27FC236}">
                <a16:creationId xmlns:a16="http://schemas.microsoft.com/office/drawing/2014/main" id="{8EDB44A8-ABA6-4C33-84B1-A33713B8E1A3}"/>
              </a:ext>
            </a:extLst>
          </p:cNvPr>
          <p:cNvSpPr txBox="1"/>
          <p:nvPr/>
        </p:nvSpPr>
        <p:spPr>
          <a:xfrm>
            <a:off x="3778249" y="4228132"/>
            <a:ext cx="358965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576320" algn="l"/>
              </a:tabLst>
            </a:pPr>
            <a:r>
              <a:rPr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EXPÉRIENCES PROFESSIONNELLES	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42" name="object 12">
            <a:extLst>
              <a:ext uri="{FF2B5EF4-FFF2-40B4-BE49-F238E27FC236}">
                <a16:creationId xmlns:a16="http://schemas.microsoft.com/office/drawing/2014/main" id="{0A59A3BA-D0C8-4146-8225-1DA5590A5CF9}"/>
              </a:ext>
            </a:extLst>
          </p:cNvPr>
          <p:cNvSpPr txBox="1"/>
          <p:nvPr/>
        </p:nvSpPr>
        <p:spPr>
          <a:xfrm>
            <a:off x="3778249" y="2230587"/>
            <a:ext cx="68580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576320" algn="l"/>
              </a:tabLst>
            </a:pPr>
            <a:r>
              <a:rPr lang="en-GB" sz="1400" b="1" dirty="0">
                <a:uFill>
                  <a:solidFill>
                    <a:srgbClr val="6D6E71"/>
                  </a:solidFill>
                </a:uFill>
                <a:latin typeface="Raleway" panose="020B0503030101060003" pitchFamily="34" charset="0"/>
                <a:cs typeface="Trebuchet MS"/>
              </a:rPr>
              <a:t>PROFIL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43" name="object 11">
            <a:extLst>
              <a:ext uri="{FF2B5EF4-FFF2-40B4-BE49-F238E27FC236}">
                <a16:creationId xmlns:a16="http://schemas.microsoft.com/office/drawing/2014/main" id="{24CB0526-065B-4042-95AD-F3B464BCCB4C}"/>
              </a:ext>
            </a:extLst>
          </p:cNvPr>
          <p:cNvSpPr/>
          <p:nvPr/>
        </p:nvSpPr>
        <p:spPr>
          <a:xfrm>
            <a:off x="3741989" y="2202294"/>
            <a:ext cx="3564254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4" name="object 11">
            <a:extLst>
              <a:ext uri="{FF2B5EF4-FFF2-40B4-BE49-F238E27FC236}">
                <a16:creationId xmlns:a16="http://schemas.microsoft.com/office/drawing/2014/main" id="{1BB6FE33-FA9E-4E81-8221-4B09090296E1}"/>
              </a:ext>
            </a:extLst>
          </p:cNvPr>
          <p:cNvSpPr/>
          <p:nvPr/>
        </p:nvSpPr>
        <p:spPr>
          <a:xfrm>
            <a:off x="3741989" y="2481694"/>
            <a:ext cx="3564254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7E506BBB-654F-430B-8FEA-7FB2953A785C}"/>
              </a:ext>
            </a:extLst>
          </p:cNvPr>
          <p:cNvSpPr/>
          <p:nvPr/>
        </p:nvSpPr>
        <p:spPr>
          <a:xfrm>
            <a:off x="3741989" y="4202544"/>
            <a:ext cx="3564254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8" name="object 11">
            <a:extLst>
              <a:ext uri="{FF2B5EF4-FFF2-40B4-BE49-F238E27FC236}">
                <a16:creationId xmlns:a16="http://schemas.microsoft.com/office/drawing/2014/main" id="{47DAE2CE-CD09-4733-909D-701CFECCEACE}"/>
              </a:ext>
            </a:extLst>
          </p:cNvPr>
          <p:cNvSpPr/>
          <p:nvPr/>
        </p:nvSpPr>
        <p:spPr>
          <a:xfrm>
            <a:off x="3741989" y="4481944"/>
            <a:ext cx="3564254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1" name="object 11">
            <a:extLst>
              <a:ext uri="{FF2B5EF4-FFF2-40B4-BE49-F238E27FC236}">
                <a16:creationId xmlns:a16="http://schemas.microsoft.com/office/drawing/2014/main" id="{18BD9ED8-0F22-4D23-B0DD-25F90B1B057B}"/>
              </a:ext>
            </a:extLst>
          </p:cNvPr>
          <p:cNvSpPr/>
          <p:nvPr/>
        </p:nvSpPr>
        <p:spPr>
          <a:xfrm>
            <a:off x="228600" y="248169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DDCB3379-7950-43C4-8712-B7FB0B397538}"/>
              </a:ext>
            </a:extLst>
          </p:cNvPr>
          <p:cNvSpPr/>
          <p:nvPr/>
        </p:nvSpPr>
        <p:spPr>
          <a:xfrm>
            <a:off x="228600" y="220864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5" name="object 11">
            <a:extLst>
              <a:ext uri="{FF2B5EF4-FFF2-40B4-BE49-F238E27FC236}">
                <a16:creationId xmlns:a16="http://schemas.microsoft.com/office/drawing/2014/main" id="{AF148C73-EC70-44C8-B849-7E1322720686}"/>
              </a:ext>
            </a:extLst>
          </p:cNvPr>
          <p:cNvSpPr/>
          <p:nvPr/>
        </p:nvSpPr>
        <p:spPr>
          <a:xfrm>
            <a:off x="228600" y="502804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6" name="object 11">
            <a:extLst>
              <a:ext uri="{FF2B5EF4-FFF2-40B4-BE49-F238E27FC236}">
                <a16:creationId xmlns:a16="http://schemas.microsoft.com/office/drawing/2014/main" id="{8C22A174-33C6-4973-A7C5-521942DBBBD1}"/>
              </a:ext>
            </a:extLst>
          </p:cNvPr>
          <p:cNvSpPr/>
          <p:nvPr/>
        </p:nvSpPr>
        <p:spPr>
          <a:xfrm>
            <a:off x="228600" y="475499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9" name="object 11">
            <a:extLst>
              <a:ext uri="{FF2B5EF4-FFF2-40B4-BE49-F238E27FC236}">
                <a16:creationId xmlns:a16="http://schemas.microsoft.com/office/drawing/2014/main" id="{117A3E7C-5B19-4764-B2C7-0B07E45DD5E9}"/>
              </a:ext>
            </a:extLst>
          </p:cNvPr>
          <p:cNvSpPr/>
          <p:nvPr/>
        </p:nvSpPr>
        <p:spPr>
          <a:xfrm>
            <a:off x="228600" y="7190220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0" name="object 11">
            <a:extLst>
              <a:ext uri="{FF2B5EF4-FFF2-40B4-BE49-F238E27FC236}">
                <a16:creationId xmlns:a16="http://schemas.microsoft.com/office/drawing/2014/main" id="{490261AF-2EFD-4C8E-8298-C3FA91BBC4B8}"/>
              </a:ext>
            </a:extLst>
          </p:cNvPr>
          <p:cNvSpPr/>
          <p:nvPr/>
        </p:nvSpPr>
        <p:spPr>
          <a:xfrm>
            <a:off x="228600" y="6917170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3" name="object 11">
            <a:extLst>
              <a:ext uri="{FF2B5EF4-FFF2-40B4-BE49-F238E27FC236}">
                <a16:creationId xmlns:a16="http://schemas.microsoft.com/office/drawing/2014/main" id="{C7FAA04A-D0AE-473B-B7B0-F96599209017}"/>
              </a:ext>
            </a:extLst>
          </p:cNvPr>
          <p:cNvSpPr/>
          <p:nvPr/>
        </p:nvSpPr>
        <p:spPr>
          <a:xfrm>
            <a:off x="228600" y="902378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BC84DB0A-1CB3-4154-8C2B-FCD1766B1157}"/>
              </a:ext>
            </a:extLst>
          </p:cNvPr>
          <p:cNvSpPr/>
          <p:nvPr/>
        </p:nvSpPr>
        <p:spPr>
          <a:xfrm>
            <a:off x="228600" y="8750734"/>
            <a:ext cx="2834640" cy="0"/>
          </a:xfrm>
          <a:custGeom>
            <a:avLst/>
            <a:gdLst/>
            <a:ahLst/>
            <a:cxnLst/>
            <a:rect l="l" t="t" r="r" b="b"/>
            <a:pathLst>
              <a:path w="3564254">
                <a:moveTo>
                  <a:pt x="0" y="0"/>
                </a:moveTo>
                <a:lnTo>
                  <a:pt x="3564013" y="0"/>
                </a:lnTo>
              </a:path>
            </a:pathLst>
          </a:custGeom>
          <a:ln w="12700">
            <a:solidFill>
              <a:srgbClr val="6D6E71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969EE1E-BA7B-4AD2-870C-DBDD00BD355B}"/>
              </a:ext>
            </a:extLst>
          </p:cNvPr>
          <p:cNvSpPr/>
          <p:nvPr/>
        </p:nvSpPr>
        <p:spPr>
          <a:xfrm>
            <a:off x="553662" y="387429"/>
            <a:ext cx="1097280" cy="1095220"/>
          </a:xfrm>
          <a:prstGeom prst="ellipse">
            <a:avLst/>
          </a:prstGeom>
          <a:solidFill>
            <a:srgbClr val="F9B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 descr="A person smiling for the picture&#10;&#10;Description automatically generated with medium confidence">
            <a:extLst>
              <a:ext uri="{FF2B5EF4-FFF2-40B4-BE49-F238E27FC236}">
                <a16:creationId xmlns:a16="http://schemas.microsoft.com/office/drawing/2014/main" id="{CFE27D91-FF4A-493C-A7E2-D27597BE8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8" y="400115"/>
            <a:ext cx="1069848" cy="1069848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3B913DD-D909-45FD-A992-30AD1403C4FB}"/>
              </a:ext>
            </a:extLst>
          </p:cNvPr>
          <p:cNvSpPr/>
          <p:nvPr/>
        </p:nvSpPr>
        <p:spPr>
          <a:xfrm>
            <a:off x="0" y="10204669"/>
            <a:ext cx="7556500" cy="488346"/>
          </a:xfrm>
          <a:prstGeom prst="rect">
            <a:avLst/>
          </a:prstGeom>
          <a:solidFill>
            <a:srgbClr val="3652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369</Words>
  <Application>Microsoft Office PowerPoint</Application>
  <PresentationFormat>Personnalisé</PresentationFormat>
  <Paragraphs>56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Raleway</vt:lpstr>
      <vt:lpstr>Trebuchet MS</vt:lpstr>
      <vt:lpstr>Office Theme</vt:lpstr>
      <vt:lpstr>Adrien Mercier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Adrien Mercier</dc:title>
  <dc:creator>Estelle</dc:creator>
  <cp:lastModifiedBy>Estelle</cp:lastModifiedBy>
  <cp:revision>56</cp:revision>
  <dcterms:created xsi:type="dcterms:W3CDTF">2021-06-10T18:53:09Z</dcterms:created>
  <dcterms:modified xsi:type="dcterms:W3CDTF">2021-10-22T13:29:42Z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2021-06-11T00:00:00Z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2021-06-10T00:00:00Z</vt:filetime>
  </property>
</Properties>
</file>