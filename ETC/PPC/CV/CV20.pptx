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259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B336-A642-4BF9-AC8A-F1D127F09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FF7B0-38F4-48C9-A43D-65C8CC611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BDB4D-DD70-4846-AFEE-938E3CC9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AF8E-252A-4768-B143-36C93895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11165-5B8A-4E18-AD68-626E93C3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1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2B93-0980-4F23-BBD6-C74F8DD6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3CCD-3170-4CF5-87FA-24E45CA75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A3D9F-2E35-43E2-AC9C-9D89C5A7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83EAC-BBD7-4EB4-A9B7-870B3F93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AA985-CB4E-4DA2-BD2A-B0A067F8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1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D44D-1E50-4862-B476-20623A50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856D3-7996-44AE-8A6A-4B5A92DA6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9B1C4-0E89-42E5-A32F-0D63B86B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DE09-49BD-4772-99BA-C958F9C1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4780-B32D-454F-9967-DD0A835D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D6A1-A156-4519-8ADF-2FE63372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2E6E-489C-48F5-A19A-A9626F358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3964D-F6A9-4417-989D-BF34D040A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9D27E-C877-4CC3-A4F0-4EB8BCD8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F1AC0-EDA0-4FDA-A002-FD3B0C84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F42A1-9ECF-4756-AB7E-DBC66590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0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4C51-B59F-41B7-BEB3-E645E5E9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BACF4-F801-4D4B-A330-2DF02CB1E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38593-4CBE-429E-9599-9DA50E9E0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4CF68-A15C-40F3-AE36-F7A2ECEE2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A588F-1C3A-45BE-8E90-C7732A745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B072-092B-41C4-AE39-E9A76266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38176-9954-464C-8766-3E8A9186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32642-6681-44DC-9534-7E3D1C60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B83F-C79A-4AC7-A3A9-D85FACC1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31B52-565C-47C5-88EC-32BA445F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CB36B-E93E-47FD-A894-EFCF1858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5CEED-62FA-466C-B9EE-4EAF9804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7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76519-F3C8-470C-A9B5-0FB65E78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1D228-A2F5-4C44-9189-1490D8AB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8D9A6-2FBE-4826-AF5C-FAC31D4E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0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E5C1-7BE4-429E-ABAC-ABF5FAAD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B3265-AF6E-4581-80A4-64ABEF0DF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33EAA-A1CF-40E0-B8A5-A9DDEB2C8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0BF06-60CF-4166-8BDD-0E22D617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91E7A-2A83-4524-AB45-4E603CFB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161DE-098F-43D8-A6BF-7DA48778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8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C06C-11EC-4DC3-9E18-7EDD4E6C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27E36-3397-431E-B7E7-FEBFE411E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0DC72-948C-4057-8234-4589A6AE1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18EB0-D88A-468D-B640-BB4DAEC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3ACDD-20B2-484D-94F7-1D1B3C88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FF592-8F0C-4C2B-B335-48E33AB1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17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1470-44A5-4E2E-85DA-00E066AAF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CFD4C-2A9D-45E3-B3EC-6B76F7A05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F2072-0CF8-4AF0-B51A-788A83E9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6CAE5-7716-4A0E-B027-55E63947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9C59A-95B4-4B89-B5D1-CF7624A0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14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2C71DE-4AEA-4D7E-B49E-E9B7FF4DA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DFDD4-AB46-4F35-A552-0C7BE51EF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52C7-4E5B-49F5-A7A5-79E396CC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DB4B5-A63E-442E-8564-AAA3BF32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17E97-7536-481C-BA1B-DC0307B3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6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75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465FC-A2F0-488E-8809-07AAA18F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FE215-9162-4700-A335-B4866F228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41EE7-FB6B-4279-B400-9E4027A84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5CD3-3091-437A-A986-5A6EAAD3F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A1D6-A452-4223-9D43-F285F3DE2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7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56689"/>
            <a:ext cx="361759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aleway" panose="020B0503030101060003" pitchFamily="34" charset="0"/>
              </a:rPr>
              <a:t>MARINE DUPONT</a:t>
            </a:r>
          </a:p>
        </p:txBody>
      </p:sp>
      <p:sp>
        <p:nvSpPr>
          <p:cNvPr id="3" name="object 3"/>
          <p:cNvSpPr/>
          <p:nvPr/>
        </p:nvSpPr>
        <p:spPr>
          <a:xfrm>
            <a:off x="-1270" y="2171001"/>
            <a:ext cx="4077970" cy="8528685"/>
          </a:xfrm>
          <a:custGeom>
            <a:avLst/>
            <a:gdLst/>
            <a:ahLst/>
            <a:cxnLst/>
            <a:rect l="l" t="t" r="r" b="b"/>
            <a:pathLst>
              <a:path w="4077970" h="8528685">
                <a:moveTo>
                  <a:pt x="4077957" y="0"/>
                </a:moveTo>
                <a:lnTo>
                  <a:pt x="0" y="0"/>
                </a:lnTo>
                <a:lnTo>
                  <a:pt x="0" y="8528621"/>
                </a:lnTo>
                <a:lnTo>
                  <a:pt x="4077957" y="8528621"/>
                </a:lnTo>
                <a:lnTo>
                  <a:pt x="4077957" y="0"/>
                </a:lnTo>
                <a:close/>
              </a:path>
            </a:pathLst>
          </a:custGeom>
          <a:solidFill>
            <a:srgbClr val="91729E"/>
          </a:solidFill>
        </p:spPr>
        <p:txBody>
          <a:bodyPr wrap="square" lIns="0" tIns="0" rIns="0" bIns="0" rtlCol="0"/>
          <a:lstStyle/>
          <a:p>
            <a:endParaRPr>
              <a:latin typeface="Raleway Light" panose="020B0403030101060003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218" y="1044257"/>
            <a:ext cx="305943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1200"/>
              </a:lnSpc>
              <a:spcBef>
                <a:spcPts val="340"/>
              </a:spcBef>
            </a:pPr>
            <a:r>
              <a:rPr sz="1200" dirty="0">
                <a:latin typeface="Raleway Light" panose="020B0403030101060003" pitchFamily="34" charset="0"/>
                <a:cs typeface="Trebuchet MS"/>
              </a:rPr>
              <a:t>INGÉNIEURE D’AFFAIRES - KEY ACCOUNT  MANAGER +12 ANS D’EXPÉRIENCE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77578" y="7906028"/>
            <a:ext cx="60198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08/2008</a:t>
            </a:r>
          </a:p>
          <a:p>
            <a:pPr>
              <a:lnSpc>
                <a:spcPts val="121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08/2010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77578" y="6488492"/>
            <a:ext cx="5791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08/2010</a:t>
            </a:r>
          </a:p>
          <a:p>
            <a:pPr>
              <a:lnSpc>
                <a:spcPts val="121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01/2015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9259" y="7906028"/>
            <a:ext cx="207010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RESPONSABLE COMMERCIALE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  <a:p>
            <a:pPr>
              <a:lnSpc>
                <a:spcPts val="1100"/>
              </a:lnSpc>
            </a:pPr>
            <a:r>
              <a:rPr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OUEST | Entreprise XXX, Paris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259" y="6488492"/>
            <a:ext cx="184277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RESPONSABLE RÉGIONALE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  <a:p>
            <a:pPr>
              <a:lnSpc>
                <a:spcPts val="1100"/>
              </a:lnSpc>
            </a:pPr>
            <a:r>
              <a:rPr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Entreprise XXX, Paris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259" y="5090975"/>
            <a:ext cx="2420697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lang="fr-FR"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INGÉNIEURE D’AFFAIRES FRANCE /</a:t>
            </a:r>
            <a:endParaRPr lang="fr-FR" sz="1100" dirty="0">
              <a:latin typeface="Raleway SemiBold" panose="020B0703030101060003" pitchFamily="34" charset="0"/>
              <a:cs typeface="Trebuchet MS"/>
            </a:endParaRPr>
          </a:p>
          <a:p>
            <a:pPr>
              <a:lnSpc>
                <a:spcPts val="1100"/>
              </a:lnSpc>
            </a:pPr>
            <a:r>
              <a:rPr lang="fr-FR"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EUROPE DU SUD | Entreprise XXX,</a:t>
            </a:r>
            <a:endParaRPr lang="en-GB" sz="1100" b="1" dirty="0">
              <a:solidFill>
                <a:srgbClr val="FFFFFF"/>
              </a:solidFill>
              <a:latin typeface="Raleway SemiBold" panose="020B0703030101060003" pitchFamily="34" charset="0"/>
              <a:cs typeface="Trebuchet MS"/>
            </a:endParaRPr>
          </a:p>
          <a:p>
            <a:pPr>
              <a:lnSpc>
                <a:spcPts val="1100"/>
              </a:lnSpc>
              <a:spcAft>
                <a:spcPts val="400"/>
              </a:spcAft>
            </a:pPr>
            <a:r>
              <a:rPr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Paris - Division Ibis Biosciences</a:t>
            </a:r>
            <a:endParaRPr sz="11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259" y="6869454"/>
            <a:ext cx="2901950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1100"/>
              </a:lnSpc>
            </a:pPr>
            <a:r>
              <a:rPr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Gérer et développer les gammes Oncologie,  IST, Maladies infectieuses, Génétique  </a:t>
            </a:r>
            <a:r>
              <a:rPr sz="1100" b="1" i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Réussites : </a:t>
            </a:r>
            <a:r>
              <a:rPr sz="1100" i="1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Évolution de 100 k€ de vente en  2010 et 900 k€ en 2014, 21 nouveaux clients en  portefeuille, augmentation du nombre de tests  différents utilisés par compte</a:t>
            </a:r>
            <a:endParaRPr sz="11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259" y="8286990"/>
            <a:ext cx="3049905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Reporting via la CRM « Act! » (Sage)</a:t>
            </a:r>
            <a:endParaRPr sz="1100" dirty="0">
              <a:latin typeface="Raleway Light" panose="020B0403030101060003" pitchFamily="34" charset="0"/>
              <a:cs typeface="Trebuchet MS"/>
            </a:endParaRPr>
          </a:p>
          <a:p>
            <a:pPr marR="5080">
              <a:lnSpc>
                <a:spcPts val="1100"/>
              </a:lnSpc>
            </a:pPr>
            <a:r>
              <a:rPr sz="1100" i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Réussites : </a:t>
            </a:r>
            <a:r>
              <a:rPr sz="1100" i="1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Atteinte des objectifs avec 500 k€ de  CA de vente en ligne, forte croissance sur la vente  de consommables et d’instruments</a:t>
            </a:r>
            <a:endParaRPr sz="11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2300" y="4356178"/>
            <a:ext cx="2120900" cy="347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6100"/>
              </a:lnSpc>
              <a:spcBef>
                <a:spcPts val="100"/>
              </a:spcBef>
            </a:pPr>
            <a:r>
              <a:rPr sz="1100" i="1" dirty="0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Expertise technique  |  Trilingue  |  Expérience internationale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274820" y="2"/>
            <a:ext cx="0" cy="10692130"/>
          </a:xfrm>
          <a:custGeom>
            <a:avLst/>
            <a:gdLst/>
            <a:ahLst/>
            <a:cxnLst/>
            <a:rect l="l" t="t" r="r" b="b"/>
            <a:pathLst>
              <a:path h="10692130">
                <a:moveTo>
                  <a:pt x="0" y="0"/>
                </a:moveTo>
                <a:lnTo>
                  <a:pt x="0" y="10692003"/>
                </a:lnTo>
              </a:path>
            </a:pathLst>
          </a:custGeom>
          <a:ln w="12700">
            <a:solidFill>
              <a:srgbClr val="91729E"/>
            </a:solidFill>
          </a:ln>
        </p:spPr>
        <p:txBody>
          <a:bodyPr wrap="square" lIns="0" tIns="0" rIns="0" bIns="0" rtlCol="0"/>
          <a:lstStyle/>
          <a:p>
            <a:endParaRPr>
              <a:latin typeface="Raleway Light" panose="020B0403030101060003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32300" y="9598269"/>
            <a:ext cx="5746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Voyages</a:t>
            </a:r>
            <a:endParaRPr sz="110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32300" y="9953806"/>
            <a:ext cx="51689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Théâtre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440045" y="6834050"/>
            <a:ext cx="1405255" cy="1660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  <a:spcBef>
                <a:spcPts val="100"/>
              </a:spcBef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</a:t>
            </a:r>
            <a:endParaRPr sz="2400" dirty="0">
              <a:latin typeface="Wingdings" panose="05000000000000000000" pitchFamily="2" charset="2"/>
              <a:cs typeface="Wingdings"/>
            </a:endParaRPr>
          </a:p>
          <a:p>
            <a:pPr>
              <a:lnSpc>
                <a:spcPts val="2000"/>
              </a:lnSpc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Wingdings" panose="05000000000000000000" pitchFamily="2" charset="2"/>
                <a:cs typeface="Wingdings"/>
              </a:rPr>
              <a:t></a:t>
            </a:r>
          </a:p>
          <a:p>
            <a:pPr>
              <a:lnSpc>
                <a:spcPts val="2000"/>
              </a:lnSpc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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Wingdings" panose="05000000000000000000" pitchFamily="2" charset="2"/>
                <a:cs typeface="Wingdings"/>
              </a:rPr>
              <a:t></a:t>
            </a:r>
          </a:p>
          <a:p>
            <a:pPr>
              <a:lnSpc>
                <a:spcPts val="2000"/>
              </a:lnSpc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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Wingdings" panose="05000000000000000000" pitchFamily="2" charset="2"/>
                <a:cs typeface="Wingdings"/>
              </a:rPr>
              <a:t></a:t>
            </a:r>
          </a:p>
          <a:p>
            <a:pPr>
              <a:lnSpc>
                <a:spcPts val="2000"/>
              </a:lnSpc>
              <a:spcAft>
                <a:spcPts val="600"/>
              </a:spcAft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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Wingdings" panose="05000000000000000000" pitchFamily="2" charset="2"/>
                <a:cs typeface="Wingdings"/>
              </a:rPr>
              <a:t></a:t>
            </a:r>
          </a:p>
          <a:p>
            <a:pPr>
              <a:lnSpc>
                <a:spcPts val="2000"/>
              </a:lnSpc>
              <a:spcBef>
                <a:spcPts val="265"/>
              </a:spcBef>
            </a:pPr>
            <a:r>
              <a:rPr sz="2400" dirty="0">
                <a:solidFill>
                  <a:srgbClr val="91729E"/>
                </a:solidFill>
                <a:latin typeface="Wingdings" panose="05000000000000000000" pitchFamily="2" charset="2"/>
                <a:cs typeface="Wingdings"/>
              </a:rPr>
              <a:t></a:t>
            </a:r>
            <a:endParaRPr sz="2400" dirty="0">
              <a:latin typeface="Wingdings" panose="05000000000000000000" pitchFamily="2" charset="2"/>
              <a:cs typeface="Wingding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45000" y="9473679"/>
            <a:ext cx="2400300" cy="57150"/>
            <a:chOff x="4445000" y="9473679"/>
            <a:chExt cx="2400300" cy="57150"/>
          </a:xfrm>
        </p:grpSpPr>
        <p:sp>
          <p:nvSpPr>
            <p:cNvPr id="28" name="object 28"/>
            <p:cNvSpPr/>
            <p:nvPr/>
          </p:nvSpPr>
          <p:spPr>
            <a:xfrm>
              <a:off x="4445000" y="9473679"/>
              <a:ext cx="2400300" cy="56515"/>
            </a:xfrm>
            <a:custGeom>
              <a:avLst/>
              <a:gdLst/>
              <a:ahLst/>
              <a:cxnLst/>
              <a:rect l="l" t="t" r="r" b="b"/>
              <a:pathLst>
                <a:path w="2400300" h="56515">
                  <a:moveTo>
                    <a:pt x="2400300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2400300" y="564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91729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4445000" y="9473755"/>
              <a:ext cx="1905635" cy="56515"/>
            </a:xfrm>
            <a:custGeom>
              <a:avLst/>
              <a:gdLst/>
              <a:ahLst/>
              <a:cxnLst/>
              <a:rect l="l" t="t" r="r" b="b"/>
              <a:pathLst>
                <a:path w="1905635" h="56515">
                  <a:moveTo>
                    <a:pt x="1905457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1905457" y="56451"/>
                  </a:lnTo>
                  <a:lnTo>
                    <a:pt x="1905457" y="0"/>
                  </a:lnTo>
                  <a:close/>
                </a:path>
              </a:pathLst>
            </a:custGeom>
            <a:solidFill>
              <a:srgbClr val="91729E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4445000" y="9829787"/>
            <a:ext cx="2400300" cy="57150"/>
            <a:chOff x="4445000" y="9829787"/>
            <a:chExt cx="2400300" cy="57150"/>
          </a:xfrm>
        </p:grpSpPr>
        <p:sp>
          <p:nvSpPr>
            <p:cNvPr id="31" name="object 31"/>
            <p:cNvSpPr/>
            <p:nvPr/>
          </p:nvSpPr>
          <p:spPr>
            <a:xfrm>
              <a:off x="4445000" y="9829787"/>
              <a:ext cx="2400300" cy="56515"/>
            </a:xfrm>
            <a:custGeom>
              <a:avLst/>
              <a:gdLst/>
              <a:ahLst/>
              <a:cxnLst/>
              <a:rect l="l" t="t" r="r" b="b"/>
              <a:pathLst>
                <a:path w="2400300" h="56515">
                  <a:moveTo>
                    <a:pt x="2400300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2400300" y="564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91729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445000" y="9829863"/>
              <a:ext cx="2278380" cy="56515"/>
            </a:xfrm>
            <a:custGeom>
              <a:avLst/>
              <a:gdLst/>
              <a:ahLst/>
              <a:cxnLst/>
              <a:rect l="l" t="t" r="r" b="b"/>
              <a:pathLst>
                <a:path w="2278379" h="56515">
                  <a:moveTo>
                    <a:pt x="2278024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2278024" y="56451"/>
                  </a:lnTo>
                  <a:lnTo>
                    <a:pt x="2278024" y="0"/>
                  </a:lnTo>
                  <a:close/>
                </a:path>
              </a:pathLst>
            </a:custGeom>
            <a:solidFill>
              <a:srgbClr val="91729E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419600" y="10178275"/>
            <a:ext cx="2400300" cy="57150"/>
            <a:chOff x="4419600" y="10178275"/>
            <a:chExt cx="2400300" cy="57150"/>
          </a:xfrm>
        </p:grpSpPr>
        <p:sp>
          <p:nvSpPr>
            <p:cNvPr id="34" name="object 34"/>
            <p:cNvSpPr/>
            <p:nvPr/>
          </p:nvSpPr>
          <p:spPr>
            <a:xfrm>
              <a:off x="4419600" y="10178275"/>
              <a:ext cx="2400300" cy="56515"/>
            </a:xfrm>
            <a:custGeom>
              <a:avLst/>
              <a:gdLst/>
              <a:ahLst/>
              <a:cxnLst/>
              <a:rect l="l" t="t" r="r" b="b"/>
              <a:pathLst>
                <a:path w="2400300" h="56515">
                  <a:moveTo>
                    <a:pt x="2400300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2400300" y="56451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91729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19726" y="10178351"/>
              <a:ext cx="2278380" cy="56515"/>
            </a:xfrm>
            <a:custGeom>
              <a:avLst/>
              <a:gdLst/>
              <a:ahLst/>
              <a:cxnLst/>
              <a:rect l="l" t="t" r="r" b="b"/>
              <a:pathLst>
                <a:path w="2278379" h="56515">
                  <a:moveTo>
                    <a:pt x="2278024" y="0"/>
                  </a:moveTo>
                  <a:lnTo>
                    <a:pt x="0" y="0"/>
                  </a:lnTo>
                  <a:lnTo>
                    <a:pt x="0" y="56451"/>
                  </a:lnTo>
                  <a:lnTo>
                    <a:pt x="2278024" y="56451"/>
                  </a:lnTo>
                  <a:lnTo>
                    <a:pt x="2278024" y="0"/>
                  </a:lnTo>
                  <a:close/>
                </a:path>
              </a:pathLst>
            </a:custGeom>
            <a:solidFill>
              <a:srgbClr val="91729E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aleway Light" panose="020B0403030101060003" pitchFamily="34" charset="0"/>
              </a:endParaRPr>
            </a:p>
          </p:txBody>
        </p:sp>
      </p:grpSp>
      <p:sp>
        <p:nvSpPr>
          <p:cNvPr id="36" name="object 5">
            <a:extLst>
              <a:ext uri="{FF2B5EF4-FFF2-40B4-BE49-F238E27FC236}">
                <a16:creationId xmlns:a16="http://schemas.microsoft.com/office/drawing/2014/main" id="{83EFB0BD-0336-4D7D-B5E3-F96303DC321D}"/>
              </a:ext>
            </a:extLst>
          </p:cNvPr>
          <p:cNvSpPr txBox="1"/>
          <p:nvPr/>
        </p:nvSpPr>
        <p:spPr>
          <a:xfrm>
            <a:off x="490219" y="1656659"/>
            <a:ext cx="300228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91490">
              <a:lnSpc>
                <a:spcPts val="1200"/>
              </a:lnSpc>
              <a:spcBef>
                <a:spcPts val="1200"/>
              </a:spcBef>
            </a:pPr>
            <a:r>
              <a:rPr sz="1200" i="1" dirty="0">
                <a:latin typeface="Raleway Light" panose="020B0403030101060003" pitchFamily="34" charset="0"/>
                <a:cs typeface="Trebuchet MS"/>
              </a:rPr>
              <a:t>DYNAMIQUE, ORGANISÉE, GOÛT DE  LA PERFORMANCE</a:t>
            </a:r>
            <a:endParaRPr sz="12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38" name="object 4">
            <a:extLst>
              <a:ext uri="{FF2B5EF4-FFF2-40B4-BE49-F238E27FC236}">
                <a16:creationId xmlns:a16="http://schemas.microsoft.com/office/drawing/2014/main" id="{7F94DD27-361A-4722-A198-A4A8F2F82705}"/>
              </a:ext>
            </a:extLst>
          </p:cNvPr>
          <p:cNvSpPr txBox="1"/>
          <p:nvPr/>
        </p:nvSpPr>
        <p:spPr>
          <a:xfrm>
            <a:off x="4432300" y="541424"/>
            <a:ext cx="86241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Contact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9564A786-2D25-4580-A6E9-9A94F10ABB6A}"/>
              </a:ext>
            </a:extLst>
          </p:cNvPr>
          <p:cNvSpPr txBox="1"/>
          <p:nvPr/>
        </p:nvSpPr>
        <p:spPr>
          <a:xfrm>
            <a:off x="4432300" y="936535"/>
            <a:ext cx="204914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latin typeface="Raleway" panose="020B0503030101060003" pitchFamily="34" charset="0"/>
                <a:cs typeface="Trebuchet MS"/>
              </a:rPr>
              <a:t>+336 74 11 36 35</a:t>
            </a:r>
          </a:p>
          <a:p>
            <a:pPr marR="5080">
              <a:spcAft>
                <a:spcPts val="400"/>
              </a:spcAft>
            </a:pPr>
            <a:r>
              <a:rPr sz="1100" dirty="0">
                <a:latin typeface="Raleway" panose="020B0503030101060003" pitchFamily="34" charset="0"/>
                <a:cs typeface="Trebuchet MS"/>
              </a:rPr>
              <a:t>marine.dupont@gmail.com  </a:t>
            </a:r>
            <a:endParaRPr lang="en-GB" sz="1100" dirty="0">
              <a:latin typeface="Raleway" panose="020B0503030101060003" pitchFamily="34" charset="0"/>
              <a:cs typeface="Trebuchet MS"/>
            </a:endParaRPr>
          </a:p>
          <a:p>
            <a:pPr marR="5080">
              <a:spcAft>
                <a:spcPts val="400"/>
              </a:spcAft>
            </a:pPr>
            <a:r>
              <a:rPr sz="1100" dirty="0" err="1">
                <a:latin typeface="Raleway" panose="020B0503030101060003" pitchFamily="34" charset="0"/>
                <a:cs typeface="Trebuchet MS"/>
              </a:rPr>
              <a:t>Basée</a:t>
            </a:r>
            <a:r>
              <a:rPr sz="1100" dirty="0">
                <a:latin typeface="Raleway" panose="020B0503030101060003" pitchFamily="34" charset="0"/>
                <a:cs typeface="Trebuchet MS"/>
              </a:rPr>
              <a:t> à Paris (75) France  </a:t>
            </a:r>
            <a:endParaRPr lang="en-GB" sz="1100" dirty="0">
              <a:latin typeface="Raleway" panose="020B0503030101060003" pitchFamily="34" charset="0"/>
              <a:cs typeface="Trebuchet MS"/>
            </a:endParaRPr>
          </a:p>
          <a:p>
            <a:pPr marR="5080">
              <a:spcAft>
                <a:spcPts val="400"/>
              </a:spcAft>
            </a:pPr>
            <a:r>
              <a:rPr sz="1100" dirty="0" err="1">
                <a:latin typeface="Raleway" panose="020B0503030101060003" pitchFamily="34" charset="0"/>
                <a:cs typeface="Trebuchet MS"/>
              </a:rPr>
              <a:t>Mobilité</a:t>
            </a:r>
            <a:r>
              <a:rPr sz="1100" dirty="0">
                <a:latin typeface="Raleway" panose="020B0503030101060003" pitchFamily="34" charset="0"/>
                <a:cs typeface="Trebuchet MS"/>
              </a:rPr>
              <a:t> : France &amp; International</a:t>
            </a:r>
          </a:p>
        </p:txBody>
      </p:sp>
      <p:sp>
        <p:nvSpPr>
          <p:cNvPr id="41" name="object 6">
            <a:extLst>
              <a:ext uri="{FF2B5EF4-FFF2-40B4-BE49-F238E27FC236}">
                <a16:creationId xmlns:a16="http://schemas.microsoft.com/office/drawing/2014/main" id="{3F5881C9-AACE-40FC-ADC4-0B098E0E294C}"/>
              </a:ext>
            </a:extLst>
          </p:cNvPr>
          <p:cNvSpPr txBox="1"/>
          <p:nvPr/>
        </p:nvSpPr>
        <p:spPr>
          <a:xfrm>
            <a:off x="4432300" y="2073194"/>
            <a:ext cx="57708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75"/>
              </a:spcBef>
            </a:pPr>
            <a:r>
              <a:rPr sz="1800" dirty="0" err="1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Profil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9D187799-9064-422E-B1A1-BA0C96A6B963}"/>
              </a:ext>
            </a:extLst>
          </p:cNvPr>
          <p:cNvSpPr txBox="1"/>
          <p:nvPr/>
        </p:nvSpPr>
        <p:spPr>
          <a:xfrm>
            <a:off x="4432300" y="2413583"/>
            <a:ext cx="2560955" cy="1603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6100"/>
              </a:lnSpc>
              <a:spcBef>
                <a:spcPts val="580"/>
              </a:spcBef>
            </a:pPr>
            <a:r>
              <a:rPr sz="1100" dirty="0" err="1">
                <a:latin typeface="Raleway Light" panose="020B0403030101060003" pitchFamily="34" charset="0"/>
                <a:cs typeface="Trebuchet MS"/>
              </a:rPr>
              <a:t>Responsable</a:t>
            </a:r>
            <a:r>
              <a:rPr sz="1100" dirty="0">
                <a:latin typeface="Raleway Light" panose="020B0403030101060003" pitchFamily="34" charset="0"/>
                <a:cs typeface="Trebuchet MS"/>
              </a:rPr>
              <a:t> commerciale  expérimentée et technicienne qualifiée,  mes différentes expériences dans le  secteur de la santé m’ont appris à faire  prevue d’une grande rigueur. Je suis à  la recherche d’un nouveau défi et saurai  valoriser mes compétences et faire  preuve d’innovation pour conquérir de  nouveaux marchés.</a:t>
            </a:r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D6E19E06-CE02-4998-BF02-D180D3C8F6B6}"/>
              </a:ext>
            </a:extLst>
          </p:cNvPr>
          <p:cNvSpPr txBox="1"/>
          <p:nvPr/>
        </p:nvSpPr>
        <p:spPr>
          <a:xfrm>
            <a:off x="4432300" y="5052559"/>
            <a:ext cx="1450718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Certifications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45" name="object 7">
            <a:extLst>
              <a:ext uri="{FF2B5EF4-FFF2-40B4-BE49-F238E27FC236}">
                <a16:creationId xmlns:a16="http://schemas.microsoft.com/office/drawing/2014/main" id="{C8BA3D69-D93C-4030-9801-D225A0A58AFE}"/>
              </a:ext>
            </a:extLst>
          </p:cNvPr>
          <p:cNvSpPr txBox="1"/>
          <p:nvPr/>
        </p:nvSpPr>
        <p:spPr>
          <a:xfrm>
            <a:off x="4432300" y="5411427"/>
            <a:ext cx="2518410" cy="710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Certification SalesForce.com</a:t>
            </a:r>
          </a:p>
          <a:p>
            <a:pPr marR="5080">
              <a:lnSpc>
                <a:spcPct val="106100"/>
              </a:lnSpc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Strategic Selling : Miller Heiman Alumni  Certification Ethics &amp; Compliance :</a:t>
            </a:r>
          </a:p>
          <a:p>
            <a:pPr>
              <a:lnSpc>
                <a:spcPct val="100000"/>
              </a:lnSpc>
              <a:spcBef>
                <a:spcPts val="8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The Legal Knowledge Co.</a:t>
            </a:r>
          </a:p>
        </p:txBody>
      </p:sp>
      <p:sp>
        <p:nvSpPr>
          <p:cNvPr id="47" name="object 8">
            <a:extLst>
              <a:ext uri="{FF2B5EF4-FFF2-40B4-BE49-F238E27FC236}">
                <a16:creationId xmlns:a16="http://schemas.microsoft.com/office/drawing/2014/main" id="{00191B54-D183-4D30-8634-58B89911AE58}"/>
              </a:ext>
            </a:extLst>
          </p:cNvPr>
          <p:cNvSpPr txBox="1"/>
          <p:nvPr/>
        </p:nvSpPr>
        <p:spPr>
          <a:xfrm>
            <a:off x="4432300" y="6470650"/>
            <a:ext cx="719749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75"/>
              </a:spcBef>
            </a:pPr>
            <a:r>
              <a:rPr sz="1800" dirty="0" err="1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Atouts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FCB2E48B-05BD-44A6-98BE-DFB21FE15A9B}"/>
              </a:ext>
            </a:extLst>
          </p:cNvPr>
          <p:cNvSpPr txBox="1"/>
          <p:nvPr/>
        </p:nvSpPr>
        <p:spPr>
          <a:xfrm>
            <a:off x="4432300" y="6765530"/>
            <a:ext cx="755650" cy="1795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7940">
              <a:lnSpc>
                <a:spcPts val="2000"/>
              </a:lnSpc>
              <a:spcBef>
                <a:spcPts val="160"/>
              </a:spcBef>
            </a:pPr>
            <a:r>
              <a:rPr sz="1100" dirty="0" err="1">
                <a:latin typeface="Raleway Light" panose="020B0403030101060003" pitchFamily="34" charset="0"/>
                <a:cs typeface="Trebuchet MS"/>
              </a:rPr>
              <a:t>Anglais</a:t>
            </a:r>
            <a:r>
              <a:rPr sz="1100" dirty="0">
                <a:latin typeface="Raleway Light" panose="020B0403030101060003" pitchFamily="34" charset="0"/>
                <a:cs typeface="Trebuchet MS"/>
              </a:rPr>
              <a:t>  Italien  Espagnol  Pack Office  CRM ACT!</a:t>
            </a:r>
          </a:p>
          <a:p>
            <a:pPr>
              <a:lnSpc>
                <a:spcPts val="919"/>
              </a:lnSpc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(SAGE)</a:t>
            </a:r>
          </a:p>
          <a:p>
            <a:pPr>
              <a:lnSpc>
                <a:spcPts val="1210"/>
              </a:lnSpc>
              <a:spcBef>
                <a:spcPts val="68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SalesForce.</a:t>
            </a:r>
          </a:p>
          <a:p>
            <a:pPr>
              <a:lnSpc>
                <a:spcPts val="1210"/>
              </a:lnSpc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com</a:t>
            </a:r>
          </a:p>
        </p:txBody>
      </p:sp>
      <p:sp>
        <p:nvSpPr>
          <p:cNvPr id="50" name="object 9">
            <a:extLst>
              <a:ext uri="{FF2B5EF4-FFF2-40B4-BE49-F238E27FC236}">
                <a16:creationId xmlns:a16="http://schemas.microsoft.com/office/drawing/2014/main" id="{BC50D723-4DA6-4F45-BB1E-E0A66E3C55E7}"/>
              </a:ext>
            </a:extLst>
          </p:cNvPr>
          <p:cNvSpPr txBox="1"/>
          <p:nvPr/>
        </p:nvSpPr>
        <p:spPr>
          <a:xfrm>
            <a:off x="4432300" y="8882140"/>
            <a:ext cx="84638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</a:pPr>
            <a:r>
              <a:rPr sz="1800" dirty="0" err="1">
                <a:solidFill>
                  <a:srgbClr val="91729E"/>
                </a:solidFill>
                <a:latin typeface="Raleway SemiBold" panose="020B0703030101060003" pitchFamily="34" charset="0"/>
                <a:cs typeface="Trebuchet MS"/>
              </a:rPr>
              <a:t>Intérêts</a:t>
            </a:r>
            <a:endParaRPr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51" name="object 9">
            <a:extLst>
              <a:ext uri="{FF2B5EF4-FFF2-40B4-BE49-F238E27FC236}">
                <a16:creationId xmlns:a16="http://schemas.microsoft.com/office/drawing/2014/main" id="{00689514-C180-48BC-AFE7-38C455A4B394}"/>
              </a:ext>
            </a:extLst>
          </p:cNvPr>
          <p:cNvSpPr txBox="1"/>
          <p:nvPr/>
        </p:nvSpPr>
        <p:spPr>
          <a:xfrm>
            <a:off x="4432300" y="9254291"/>
            <a:ext cx="85216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1100" dirty="0">
                <a:latin typeface="Raleway Light" panose="020B0403030101060003" pitchFamily="34" charset="0"/>
                <a:cs typeface="Trebuchet MS"/>
              </a:rPr>
              <a:t>Fitness</a:t>
            </a: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7118CD2D-B203-49EF-9879-D7C7DE937744}"/>
              </a:ext>
            </a:extLst>
          </p:cNvPr>
          <p:cNvSpPr txBox="1"/>
          <p:nvPr/>
        </p:nvSpPr>
        <p:spPr>
          <a:xfrm>
            <a:off x="3177578" y="9130356"/>
            <a:ext cx="60198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4765" algn="r">
              <a:lnSpc>
                <a:spcPts val="1095"/>
              </a:lnSpc>
            </a:pPr>
            <a:r>
              <a:rPr lang="en-US" sz="1100" dirty="0">
                <a:latin typeface="Raleway" panose="020B0503030101060003" pitchFamily="34" charset="0"/>
                <a:cs typeface="Trebuchet MS"/>
              </a:rPr>
              <a:t>09/2004</a:t>
            </a:r>
          </a:p>
          <a:p>
            <a:pPr marR="24130" algn="r">
              <a:lnSpc>
                <a:spcPts val="1160"/>
              </a:lnSpc>
            </a:pPr>
            <a:r>
              <a:rPr lang="en-US" sz="1100" dirty="0">
                <a:latin typeface="Raleway" panose="020B0503030101060003" pitchFamily="34" charset="0"/>
                <a:cs typeface="Trebuchet MS"/>
              </a:rPr>
              <a:t>04/2008</a:t>
            </a:r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8F2890F0-525B-4402-AF64-23EE45379311}"/>
              </a:ext>
            </a:extLst>
          </p:cNvPr>
          <p:cNvSpPr txBox="1"/>
          <p:nvPr/>
        </p:nvSpPr>
        <p:spPr>
          <a:xfrm>
            <a:off x="429259" y="9130356"/>
            <a:ext cx="207010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lang="en-US"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RESPONSABLE EXPORT EU /</a:t>
            </a:r>
          </a:p>
          <a:p>
            <a:pPr>
              <a:lnSpc>
                <a:spcPts val="1100"/>
              </a:lnSpc>
            </a:pPr>
            <a:r>
              <a:rPr lang="en-US"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PRODUITS VÉTÉRINAIRES  |</a:t>
            </a:r>
          </a:p>
          <a:p>
            <a:pPr>
              <a:lnSpc>
                <a:spcPts val="1100"/>
              </a:lnSpc>
            </a:pPr>
            <a:r>
              <a:rPr lang="en-US" sz="1100" b="1" dirty="0" err="1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Entreprise</a:t>
            </a:r>
            <a:r>
              <a:rPr lang="en-US" sz="1100" b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 XXX, </a:t>
            </a:r>
            <a:r>
              <a:rPr lang="en-US" sz="1100" b="1" dirty="0" err="1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Londres</a:t>
            </a:r>
            <a:endParaRPr lang="en-US" sz="1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57" name="object 17">
            <a:extLst>
              <a:ext uri="{FF2B5EF4-FFF2-40B4-BE49-F238E27FC236}">
                <a16:creationId xmlns:a16="http://schemas.microsoft.com/office/drawing/2014/main" id="{17843EEB-ACAD-4A0D-B9AE-20CB385705F1}"/>
              </a:ext>
            </a:extLst>
          </p:cNvPr>
          <p:cNvSpPr txBox="1"/>
          <p:nvPr/>
        </p:nvSpPr>
        <p:spPr>
          <a:xfrm>
            <a:off x="410209" y="9644083"/>
            <a:ext cx="3049905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Gérer le portefeuille client existant</a:t>
            </a:r>
          </a:p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(</a:t>
            </a:r>
            <a:r>
              <a:rPr lang="en-US" sz="1100" dirty="0" err="1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Royaume</a:t>
            </a:r>
            <a:r>
              <a:rPr lang="en-US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-Uni)</a:t>
            </a:r>
            <a:endParaRPr lang="en-US" sz="11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ts val="1100"/>
              </a:lnSpc>
            </a:pPr>
            <a:r>
              <a:rPr lang="en-US" sz="1100" dirty="0" err="1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Prospecter</a:t>
            </a:r>
            <a:r>
              <a:rPr lang="en-US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 de nouveaux </a:t>
            </a:r>
            <a:r>
              <a:rPr lang="en-US" sz="1100" dirty="0" err="1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marchés</a:t>
            </a:r>
            <a:endParaRPr lang="en-US" sz="11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(Italie et </a:t>
            </a:r>
            <a:r>
              <a:rPr lang="en-US" sz="1100" dirty="0" err="1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Irlande</a:t>
            </a:r>
            <a:r>
              <a:rPr lang="en-US"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)</a:t>
            </a:r>
            <a:endParaRPr lang="en-US" sz="11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59" name="object 21">
            <a:extLst>
              <a:ext uri="{FF2B5EF4-FFF2-40B4-BE49-F238E27FC236}">
                <a16:creationId xmlns:a16="http://schemas.microsoft.com/office/drawing/2014/main" id="{F3EAA6AE-2E92-4753-9713-932E130CF6A5}"/>
              </a:ext>
            </a:extLst>
          </p:cNvPr>
          <p:cNvSpPr txBox="1"/>
          <p:nvPr/>
        </p:nvSpPr>
        <p:spPr>
          <a:xfrm>
            <a:off x="410209" y="2439641"/>
            <a:ext cx="1078821" cy="26930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50"/>
              </a:lnSpc>
            </a:pPr>
            <a:r>
              <a:rPr lang="en-US" sz="1800" dirty="0">
                <a:latin typeface="Raleway Light" panose="020B0403030101060003" pitchFamily="34" charset="0"/>
                <a:cs typeface="Trebuchet MS"/>
              </a:rPr>
              <a:t>Formation</a:t>
            </a:r>
          </a:p>
        </p:txBody>
      </p:sp>
      <p:sp>
        <p:nvSpPr>
          <p:cNvPr id="60" name="object 15">
            <a:extLst>
              <a:ext uri="{FF2B5EF4-FFF2-40B4-BE49-F238E27FC236}">
                <a16:creationId xmlns:a16="http://schemas.microsoft.com/office/drawing/2014/main" id="{06090EE4-4784-4B77-8D32-B3CF053D1109}"/>
              </a:ext>
            </a:extLst>
          </p:cNvPr>
          <p:cNvSpPr txBox="1"/>
          <p:nvPr/>
        </p:nvSpPr>
        <p:spPr>
          <a:xfrm>
            <a:off x="400684" y="2812950"/>
            <a:ext cx="231076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ECOLE XXX</a:t>
            </a:r>
          </a:p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</a:rPr>
              <a:t>Master en Marketing et Gestion des</a:t>
            </a:r>
          </a:p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</a:rPr>
              <a:t>Entreprises + Stage de fin d’études</a:t>
            </a:r>
          </a:p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</a:rPr>
              <a:t>en Chine</a:t>
            </a:r>
            <a:endParaRPr lang="fr-FR" sz="1100" dirty="0">
              <a:latin typeface="Raleway Light" panose="020B0403030101060003" pitchFamily="34" charset="0"/>
            </a:endParaRPr>
          </a:p>
        </p:txBody>
      </p:sp>
      <p:sp>
        <p:nvSpPr>
          <p:cNvPr id="61" name="object 10">
            <a:extLst>
              <a:ext uri="{FF2B5EF4-FFF2-40B4-BE49-F238E27FC236}">
                <a16:creationId xmlns:a16="http://schemas.microsoft.com/office/drawing/2014/main" id="{3D830957-ECC4-43E9-906B-760C94FA570C}"/>
              </a:ext>
            </a:extLst>
          </p:cNvPr>
          <p:cNvSpPr txBox="1"/>
          <p:nvPr/>
        </p:nvSpPr>
        <p:spPr>
          <a:xfrm>
            <a:off x="3177578" y="5090975"/>
            <a:ext cx="5791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lang="en-US" sz="1100" dirty="0">
                <a:latin typeface="Raleway" panose="020B0503030101060003" pitchFamily="34" charset="0"/>
                <a:cs typeface="Trebuchet MS"/>
              </a:rPr>
              <a:t>01/2015</a:t>
            </a:r>
          </a:p>
          <a:p>
            <a:pPr>
              <a:lnSpc>
                <a:spcPts val="1145"/>
              </a:lnSpc>
            </a:pPr>
            <a:r>
              <a:rPr lang="en-US" sz="1100" dirty="0" err="1">
                <a:latin typeface="Raleway" panose="020B0503030101060003" pitchFamily="34" charset="0"/>
                <a:cs typeface="Trebuchet MS"/>
              </a:rPr>
              <a:t>Présent</a:t>
            </a:r>
            <a:endParaRPr lang="en-US" sz="11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62" name="object 10">
            <a:extLst>
              <a:ext uri="{FF2B5EF4-FFF2-40B4-BE49-F238E27FC236}">
                <a16:creationId xmlns:a16="http://schemas.microsoft.com/office/drawing/2014/main" id="{B7A29BD0-0C66-4754-A3BD-8491390D775F}"/>
              </a:ext>
            </a:extLst>
          </p:cNvPr>
          <p:cNvSpPr txBox="1"/>
          <p:nvPr/>
        </p:nvSpPr>
        <p:spPr>
          <a:xfrm>
            <a:off x="3177578" y="3556000"/>
            <a:ext cx="34159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lang="en-US" sz="1100" dirty="0">
                <a:latin typeface="Raleway" panose="020B0503030101060003" pitchFamily="34" charset="0"/>
                <a:cs typeface="Trebuchet MS"/>
              </a:rPr>
              <a:t>2005</a:t>
            </a:r>
          </a:p>
        </p:txBody>
      </p:sp>
      <p:sp>
        <p:nvSpPr>
          <p:cNvPr id="63" name="object 10">
            <a:extLst>
              <a:ext uri="{FF2B5EF4-FFF2-40B4-BE49-F238E27FC236}">
                <a16:creationId xmlns:a16="http://schemas.microsoft.com/office/drawing/2014/main" id="{3326B9BF-D9B7-4801-8AF5-03FACD898165}"/>
              </a:ext>
            </a:extLst>
          </p:cNvPr>
          <p:cNvSpPr txBox="1"/>
          <p:nvPr/>
        </p:nvSpPr>
        <p:spPr>
          <a:xfrm>
            <a:off x="3177578" y="2812950"/>
            <a:ext cx="34159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lang="en-US" sz="1100" dirty="0">
                <a:latin typeface="Raleway" panose="020B0503030101060003" pitchFamily="34" charset="0"/>
                <a:cs typeface="Trebuchet MS"/>
              </a:rPr>
              <a:t>2008</a:t>
            </a:r>
          </a:p>
        </p:txBody>
      </p:sp>
      <p:sp>
        <p:nvSpPr>
          <p:cNvPr id="65" name="object 21">
            <a:extLst>
              <a:ext uri="{FF2B5EF4-FFF2-40B4-BE49-F238E27FC236}">
                <a16:creationId xmlns:a16="http://schemas.microsoft.com/office/drawing/2014/main" id="{0FCEB2E1-8F74-40C0-9F9A-F20A6E549BB3}"/>
              </a:ext>
            </a:extLst>
          </p:cNvPr>
          <p:cNvSpPr txBox="1"/>
          <p:nvPr/>
        </p:nvSpPr>
        <p:spPr>
          <a:xfrm>
            <a:off x="429259" y="4416220"/>
            <a:ext cx="1736053" cy="46166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800" dirty="0" err="1">
                <a:latin typeface="Raleway Light" panose="020B0403030101060003" pitchFamily="34" charset="0"/>
                <a:cs typeface="Trebuchet MS"/>
              </a:rPr>
              <a:t>Expériences</a:t>
            </a:r>
            <a:endParaRPr lang="en-GB" sz="18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ts val="1800"/>
              </a:lnSpc>
            </a:pPr>
            <a:r>
              <a:rPr sz="1800" dirty="0" err="1">
                <a:latin typeface="Raleway Light" panose="020B0403030101060003" pitchFamily="34" charset="0"/>
                <a:cs typeface="Trebuchet MS"/>
              </a:rPr>
              <a:t>Professionnelles</a:t>
            </a:r>
            <a:endParaRPr sz="18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67" name="object 15">
            <a:extLst>
              <a:ext uri="{FF2B5EF4-FFF2-40B4-BE49-F238E27FC236}">
                <a16:creationId xmlns:a16="http://schemas.microsoft.com/office/drawing/2014/main" id="{17A3CAB9-141E-498D-80D0-B5D26DA76FF9}"/>
              </a:ext>
            </a:extLst>
          </p:cNvPr>
          <p:cNvSpPr txBox="1"/>
          <p:nvPr/>
        </p:nvSpPr>
        <p:spPr>
          <a:xfrm>
            <a:off x="400684" y="3556000"/>
            <a:ext cx="2070100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SemiBold" panose="020B0703030101060003" pitchFamily="34" charset="0"/>
              </a:rPr>
              <a:t>ECOLE XXX</a:t>
            </a:r>
          </a:p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</a:rPr>
              <a:t>Brevet de Technicien Supérieur</a:t>
            </a:r>
          </a:p>
          <a:p>
            <a:pPr>
              <a:lnSpc>
                <a:spcPts val="1200"/>
              </a:lnSpc>
            </a:pPr>
            <a:r>
              <a:rPr lang="fr-FR" sz="1100" dirty="0">
                <a:solidFill>
                  <a:srgbClr val="FFFFFF"/>
                </a:solidFill>
                <a:latin typeface="Raleway Light" panose="020B0403030101060003" pitchFamily="34" charset="0"/>
              </a:rPr>
              <a:t>Commerce International</a:t>
            </a:r>
            <a:endParaRPr lang="fr-FR" sz="1100" dirty="0">
              <a:latin typeface="Raleway Light" panose="020B0403030101060003" pitchFamily="34" charset="0"/>
            </a:endParaRPr>
          </a:p>
        </p:txBody>
      </p:sp>
      <p:sp>
        <p:nvSpPr>
          <p:cNvPr id="68" name="object 15">
            <a:extLst>
              <a:ext uri="{FF2B5EF4-FFF2-40B4-BE49-F238E27FC236}">
                <a16:creationId xmlns:a16="http://schemas.microsoft.com/office/drawing/2014/main" id="{FE310120-8E80-4C68-A008-1A221072A7B0}"/>
              </a:ext>
            </a:extLst>
          </p:cNvPr>
          <p:cNvSpPr txBox="1"/>
          <p:nvPr/>
        </p:nvSpPr>
        <p:spPr>
          <a:xfrm>
            <a:off x="429259" y="5562215"/>
            <a:ext cx="3120390" cy="705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1100"/>
              </a:lnSpc>
            </a:pPr>
            <a:r>
              <a:rPr sz="1100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Assurer les présentations aux KOL français,  belges italiens (biologistes et réanimateurs)  </a:t>
            </a:r>
            <a:r>
              <a:rPr sz="1100" b="1" i="1" dirty="0">
                <a:solidFill>
                  <a:srgbClr val="FFFFFF"/>
                </a:solidFill>
                <a:latin typeface="Raleway SemiBold" panose="020B0703030101060003" pitchFamily="34" charset="0"/>
                <a:cs typeface="Trebuchet MS"/>
              </a:rPr>
              <a:t>Réussite : </a:t>
            </a:r>
            <a:r>
              <a:rPr sz="1100" i="1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Installation de 4 plateformes (1 FR, 1  BEL et 2 ITA), construction d’un modèle économie,  mise en place d’une nouvelle stratégie marketing</a:t>
            </a:r>
            <a:endParaRPr sz="1100" dirty="0">
              <a:latin typeface="Raleway Light" panose="020B0403030101060003" pitchFamily="34" charset="0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359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Raleway</vt:lpstr>
      <vt:lpstr>Raleway Light</vt:lpstr>
      <vt:lpstr>Raleway SemiBold</vt:lpstr>
      <vt:lpstr>Trebuchet MS</vt:lpstr>
      <vt:lpstr>Wingdings</vt:lpstr>
      <vt:lpstr>Office Theme</vt:lpstr>
      <vt:lpstr>MARINE DUPONT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DUPONT</dc:title>
  <dc:creator>Estelle</dc:creator>
  <cp:lastModifiedBy>Estelle</cp:lastModifiedBy>
  <cp:revision>51</cp:revision>
  <dcterms:created xsi:type="dcterms:W3CDTF">2021-06-14T10:45:34Z</dcterms:created>
  <dcterms:modified xsi:type="dcterms:W3CDTF">2021-10-22T13:41:11Z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2021-06-14T00:00:00Z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2021-06-14T00:00:00Z</vt:filetime>
  </property>
</Properties>
</file>